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76" r:id="rId3"/>
    <p:sldId id="277" r:id="rId4"/>
    <p:sldId id="260" r:id="rId5"/>
    <p:sldId id="264" r:id="rId6"/>
    <p:sldId id="265" r:id="rId7"/>
    <p:sldId id="267" r:id="rId8"/>
    <p:sldId id="268" r:id="rId9"/>
    <p:sldId id="269" r:id="rId10"/>
    <p:sldId id="261" r:id="rId11"/>
    <p:sldId id="262" r:id="rId12"/>
    <p:sldId id="278" r:id="rId13"/>
    <p:sldId id="271" r:id="rId14"/>
    <p:sldId id="272" r:id="rId15"/>
    <p:sldId id="273" r:id="rId16"/>
    <p:sldId id="289" r:id="rId17"/>
    <p:sldId id="279" r:id="rId18"/>
    <p:sldId id="282" r:id="rId19"/>
    <p:sldId id="274" r:id="rId20"/>
    <p:sldId id="281" r:id="rId21"/>
    <p:sldId id="283" r:id="rId22"/>
    <p:sldId id="284" r:id="rId23"/>
    <p:sldId id="285" r:id="rId24"/>
    <p:sldId id="286" r:id="rId25"/>
    <p:sldId id="287" r:id="rId26"/>
    <p:sldId id="288" r:id="rId27"/>
    <p:sldId id="291" r:id="rId28"/>
    <p:sldId id="290" r:id="rId29"/>
    <p:sldId id="292" r:id="rId30"/>
    <p:sldId id="293" r:id="rId31"/>
    <p:sldId id="298" r:id="rId32"/>
    <p:sldId id="294" r:id="rId33"/>
    <p:sldId id="295" r:id="rId34"/>
    <p:sldId id="296" r:id="rId35"/>
    <p:sldId id="297" r:id="rId36"/>
    <p:sldId id="301" r:id="rId37"/>
    <p:sldId id="302" r:id="rId38"/>
    <p:sldId id="303" r:id="rId39"/>
    <p:sldId id="304" r:id="rId40"/>
    <p:sldId id="305" r:id="rId41"/>
    <p:sldId id="306" r:id="rId42"/>
    <p:sldId id="307" r:id="rId43"/>
    <p:sldId id="308" r:id="rId44"/>
    <p:sldId id="299" r:id="rId45"/>
    <p:sldId id="257" r:id="rId46"/>
    <p:sldId id="263" r:id="rId47"/>
    <p:sldId id="270" r:id="rId48"/>
    <p:sldId id="300" r:id="rId49"/>
    <p:sldId id="275" r:id="rId50"/>
    <p:sldId id="258" r:id="rId51"/>
    <p:sldId id="25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768" autoAdjust="0"/>
  </p:normalViewPr>
  <p:slideViewPr>
    <p:cSldViewPr snapToGrid="0">
      <p:cViewPr varScale="1">
        <p:scale>
          <a:sx n="98" d="100"/>
          <a:sy n="98" d="100"/>
        </p:scale>
        <p:origin x="9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43DF9B-0017-4E11-8FD9-2FA5615E55F6}" type="datetimeFigureOut">
              <a:rPr lang="en-GB" smtClean="0"/>
              <a:t>11/01/2023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0425D-BC8A-4859-9C51-50EE13BF5D4C}" type="slidenum">
              <a:rPr lang="en-GB" smtClean="0"/>
              <a:t>‹#›</a:t>
            </a:fld>
            <a:endParaRPr lang="en-GB"/>
          </a:p>
        </p:txBody>
      </p:sp>
    </p:spTree>
    <p:extLst>
      <p:ext uri="{BB962C8B-B14F-4D97-AF65-F5344CB8AC3E}">
        <p14:creationId xmlns:p14="http://schemas.microsoft.com/office/powerpoint/2010/main" val="712869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name is Ricardo Sousa. I am here to present my PhD thesis proposal, named </a:t>
            </a:r>
            <a:r>
              <a:rPr lang="en-GB" dirty="0" err="1"/>
              <a:t>RicoSLAM</a:t>
            </a:r>
            <a:r>
              <a:rPr lang="en-GB" dirty="0"/>
              <a:t>: Long-Term Localization and Mapping in Dynamic Environments.</a:t>
            </a:r>
          </a:p>
          <a:p>
            <a:r>
              <a:rPr lang="en-GB" dirty="0"/>
              <a:t>This proposal has as supervisors Professor António Paulo Moreira from FEUP and INESC TEC and </a:t>
            </a:r>
            <a:r>
              <a:rPr lang="en-GB" dirty="0" err="1"/>
              <a:t>Héber</a:t>
            </a:r>
            <a:r>
              <a:rPr lang="en-GB" dirty="0"/>
              <a:t> Miguel </a:t>
            </a:r>
            <a:r>
              <a:rPr lang="en-GB" dirty="0" err="1"/>
              <a:t>Sobreira</a:t>
            </a:r>
            <a:r>
              <a:rPr lang="en-GB" dirty="0"/>
              <a:t> from INESC TEC.</a:t>
            </a:r>
          </a:p>
        </p:txBody>
      </p:sp>
      <p:sp>
        <p:nvSpPr>
          <p:cNvPr id="4" name="Slide Number Placeholder 3"/>
          <p:cNvSpPr>
            <a:spLocks noGrp="1"/>
          </p:cNvSpPr>
          <p:nvPr>
            <p:ph type="sldNum" sz="quarter" idx="5"/>
          </p:nvPr>
        </p:nvSpPr>
        <p:spPr/>
        <p:txBody>
          <a:bodyPr/>
          <a:lstStyle/>
          <a:p>
            <a:fld id="{D780425D-BC8A-4859-9C51-50EE13BF5D4C}" type="slidenum">
              <a:rPr lang="en-GB" smtClean="0"/>
              <a:t>1</a:t>
            </a:fld>
            <a:endParaRPr lang="en-GB"/>
          </a:p>
        </p:txBody>
      </p:sp>
    </p:spTree>
    <p:extLst>
      <p:ext uri="{BB962C8B-B14F-4D97-AF65-F5344CB8AC3E}">
        <p14:creationId xmlns:p14="http://schemas.microsoft.com/office/powerpoint/2010/main" val="4006259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presentation follows the structure of the Thesis Research Plan document.</a:t>
            </a:r>
          </a:p>
        </p:txBody>
      </p:sp>
      <p:sp>
        <p:nvSpPr>
          <p:cNvPr id="4" name="Slide Number Placeholder 3"/>
          <p:cNvSpPr>
            <a:spLocks noGrp="1"/>
          </p:cNvSpPr>
          <p:nvPr>
            <p:ph type="sldNum" sz="quarter" idx="5"/>
          </p:nvPr>
        </p:nvSpPr>
        <p:spPr/>
        <p:txBody>
          <a:bodyPr/>
          <a:lstStyle/>
          <a:p>
            <a:fld id="{D780425D-BC8A-4859-9C51-50EE13BF5D4C}" type="slidenum">
              <a:rPr lang="en-GB" smtClean="0"/>
              <a:t>2</a:t>
            </a:fld>
            <a:endParaRPr lang="en-GB"/>
          </a:p>
        </p:txBody>
      </p:sp>
    </p:spTree>
    <p:extLst>
      <p:ext uri="{BB962C8B-B14F-4D97-AF65-F5344CB8AC3E}">
        <p14:creationId xmlns:p14="http://schemas.microsoft.com/office/powerpoint/2010/main" val="814352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a:t>
            </a:r>
          </a:p>
        </p:txBody>
      </p:sp>
      <p:sp>
        <p:nvSpPr>
          <p:cNvPr id="4" name="Slide Number Placeholder 3"/>
          <p:cNvSpPr>
            <a:spLocks noGrp="1"/>
          </p:cNvSpPr>
          <p:nvPr>
            <p:ph type="sldNum" sz="quarter" idx="5"/>
          </p:nvPr>
        </p:nvSpPr>
        <p:spPr/>
        <p:txBody>
          <a:bodyPr/>
          <a:lstStyle/>
          <a:p>
            <a:fld id="{D780425D-BC8A-4859-9C51-50EE13BF5D4C}" type="slidenum">
              <a:rPr lang="en-GB" smtClean="0"/>
              <a:t>3</a:t>
            </a:fld>
            <a:endParaRPr lang="en-GB"/>
          </a:p>
        </p:txBody>
      </p:sp>
    </p:spTree>
    <p:extLst>
      <p:ext uri="{BB962C8B-B14F-4D97-AF65-F5344CB8AC3E}">
        <p14:creationId xmlns:p14="http://schemas.microsoft.com/office/powerpoint/2010/main" val="113223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the global interest in Autonomous Mobile Robots, also called AMR, have been increasing in the past 5 years contributing to the growth of the global economy.</a:t>
            </a:r>
          </a:p>
          <a:p>
            <a:r>
              <a:rPr lang="en-GB" dirty="0"/>
              <a:t>As shows the figure, the value of the global AMR market is estimated to continue growing at a Compound Annual Growth Rate of 15.4 per cent between 2022 and 2029, showing the relevance of AMR systems for the global economy.</a:t>
            </a:r>
          </a:p>
        </p:txBody>
      </p:sp>
      <p:sp>
        <p:nvSpPr>
          <p:cNvPr id="4" name="Slide Number Placeholder 3"/>
          <p:cNvSpPr>
            <a:spLocks noGrp="1"/>
          </p:cNvSpPr>
          <p:nvPr>
            <p:ph type="sldNum" sz="quarter" idx="5"/>
          </p:nvPr>
        </p:nvSpPr>
        <p:spPr/>
        <p:txBody>
          <a:bodyPr/>
          <a:lstStyle/>
          <a:p>
            <a:fld id="{D780425D-BC8A-4859-9C51-50EE13BF5D4C}" type="slidenum">
              <a:rPr lang="en-GB" smtClean="0"/>
              <a:t>4</a:t>
            </a:fld>
            <a:endParaRPr lang="en-GB"/>
          </a:p>
        </p:txBody>
      </p:sp>
    </p:spTree>
    <p:extLst>
      <p:ext uri="{BB962C8B-B14F-4D97-AF65-F5344CB8AC3E}">
        <p14:creationId xmlns:p14="http://schemas.microsoft.com/office/powerpoint/2010/main" val="693897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systems require a representation of their surroundings to be able to localize itself relative to the environment.</a:t>
            </a:r>
          </a:p>
          <a:p>
            <a:r>
              <a:rPr lang="en-GB" dirty="0"/>
              <a:t>SLAM is a possible approach to obtain that representation, estimating concurrently the robot pose in the environment and the map of the scene.</a:t>
            </a:r>
          </a:p>
        </p:txBody>
      </p:sp>
      <p:sp>
        <p:nvSpPr>
          <p:cNvPr id="4" name="Slide Number Placeholder 3"/>
          <p:cNvSpPr>
            <a:spLocks noGrp="1"/>
          </p:cNvSpPr>
          <p:nvPr>
            <p:ph type="sldNum" sz="quarter" idx="5"/>
          </p:nvPr>
        </p:nvSpPr>
        <p:spPr/>
        <p:txBody>
          <a:bodyPr/>
          <a:lstStyle/>
          <a:p>
            <a:fld id="{D780425D-BC8A-4859-9C51-50EE13BF5D4C}" type="slidenum">
              <a:rPr lang="en-GB" smtClean="0"/>
              <a:t>5</a:t>
            </a:fld>
            <a:endParaRPr lang="en-GB"/>
          </a:p>
        </p:txBody>
      </p:sp>
    </p:spTree>
    <p:extLst>
      <p:ext uri="{BB962C8B-B14F-4D97-AF65-F5344CB8AC3E}">
        <p14:creationId xmlns:p14="http://schemas.microsoft.com/office/powerpoint/2010/main" val="2384109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static scenes, from a theoretical point of view, would only require a single pass through the environment to obtain the map, due to the map remaining a consistent representation of the scene throughout time.</a:t>
            </a:r>
          </a:p>
          <a:p>
            <a:r>
              <a:rPr lang="en-GB" dirty="0"/>
              <a:t>However, the real world is not static, having moving elements in the scene, appearance variations due to lighting, seasonal and weather changes, and environment reconfigurations.</a:t>
            </a:r>
          </a:p>
        </p:txBody>
      </p:sp>
      <p:sp>
        <p:nvSpPr>
          <p:cNvPr id="4" name="Slide Number Placeholder 3"/>
          <p:cNvSpPr>
            <a:spLocks noGrp="1"/>
          </p:cNvSpPr>
          <p:nvPr>
            <p:ph type="sldNum" sz="quarter" idx="5"/>
          </p:nvPr>
        </p:nvSpPr>
        <p:spPr/>
        <p:txBody>
          <a:bodyPr/>
          <a:lstStyle/>
          <a:p>
            <a:fld id="{D780425D-BC8A-4859-9C51-50EE13BF5D4C}" type="slidenum">
              <a:rPr lang="en-GB" smtClean="0"/>
              <a:t>6</a:t>
            </a:fld>
            <a:endParaRPr lang="en-GB"/>
          </a:p>
        </p:txBody>
      </p:sp>
    </p:spTree>
    <p:extLst>
      <p:ext uri="{BB962C8B-B14F-4D97-AF65-F5344CB8AC3E}">
        <p14:creationId xmlns:p14="http://schemas.microsoft.com/office/powerpoint/2010/main" val="365500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questions arise of how to update the map and when!</a:t>
            </a:r>
          </a:p>
        </p:txBody>
      </p:sp>
      <p:sp>
        <p:nvSpPr>
          <p:cNvPr id="4" name="Slide Number Placeholder 3"/>
          <p:cNvSpPr>
            <a:spLocks noGrp="1"/>
          </p:cNvSpPr>
          <p:nvPr>
            <p:ph type="sldNum" sz="quarter" idx="5"/>
          </p:nvPr>
        </p:nvSpPr>
        <p:spPr/>
        <p:txBody>
          <a:bodyPr/>
          <a:lstStyle/>
          <a:p>
            <a:fld id="{D780425D-BC8A-4859-9C51-50EE13BF5D4C}" type="slidenum">
              <a:rPr lang="en-GB" smtClean="0"/>
              <a:t>7</a:t>
            </a:fld>
            <a:endParaRPr lang="en-GB"/>
          </a:p>
        </p:txBody>
      </p:sp>
    </p:spTree>
    <p:extLst>
      <p:ext uri="{BB962C8B-B14F-4D97-AF65-F5344CB8AC3E}">
        <p14:creationId xmlns:p14="http://schemas.microsoft.com/office/powerpoint/2010/main" val="812455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this thesis frames into the SRIDA agenda elaborated by several European partners related to AI and robotics research fields, specifically, in how to deal with unpredictable and unknown environments, trying to avoid unrecoverable states that requires an operator to reset the AMR system.</a:t>
            </a:r>
          </a:p>
        </p:txBody>
      </p:sp>
      <p:sp>
        <p:nvSpPr>
          <p:cNvPr id="4" name="Slide Number Placeholder 3"/>
          <p:cNvSpPr>
            <a:spLocks noGrp="1"/>
          </p:cNvSpPr>
          <p:nvPr>
            <p:ph type="sldNum" sz="quarter" idx="5"/>
          </p:nvPr>
        </p:nvSpPr>
        <p:spPr/>
        <p:txBody>
          <a:bodyPr/>
          <a:lstStyle/>
          <a:p>
            <a:fld id="{D780425D-BC8A-4859-9C51-50EE13BF5D4C}" type="slidenum">
              <a:rPr lang="en-GB" smtClean="0"/>
              <a:t>8</a:t>
            </a:fld>
            <a:endParaRPr lang="en-GB"/>
          </a:p>
        </p:txBody>
      </p:sp>
    </p:spTree>
    <p:extLst>
      <p:ext uri="{BB962C8B-B14F-4D97-AF65-F5344CB8AC3E}">
        <p14:creationId xmlns:p14="http://schemas.microsoft.com/office/powerpoint/2010/main" val="4247006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Indeed, dynamic elements can make map representations outdated and unusable for localization</a:t>
            </a:r>
          </a:p>
        </p:txBody>
      </p:sp>
      <p:sp>
        <p:nvSpPr>
          <p:cNvPr id="4" name="Slide Number Placeholder 3"/>
          <p:cNvSpPr>
            <a:spLocks noGrp="1"/>
          </p:cNvSpPr>
          <p:nvPr>
            <p:ph type="sldNum" sz="quarter" idx="5"/>
          </p:nvPr>
        </p:nvSpPr>
        <p:spPr/>
        <p:txBody>
          <a:bodyPr/>
          <a:lstStyle/>
          <a:p>
            <a:fld id="{D780425D-BC8A-4859-9C51-50EE13BF5D4C}" type="slidenum">
              <a:rPr lang="en-GB" smtClean="0"/>
              <a:t>9</a:t>
            </a:fld>
            <a:endParaRPr lang="en-GB"/>
          </a:p>
        </p:txBody>
      </p:sp>
    </p:spTree>
    <p:extLst>
      <p:ext uri="{BB962C8B-B14F-4D97-AF65-F5344CB8AC3E}">
        <p14:creationId xmlns:p14="http://schemas.microsoft.com/office/powerpoint/2010/main" val="105625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Leading to the main motivation of this proposal that is improving the efficiency and self-awareness of AMR systems interpreting and dealing with dynamic environment changes.</a:t>
            </a:r>
          </a:p>
        </p:txBody>
      </p:sp>
      <p:sp>
        <p:nvSpPr>
          <p:cNvPr id="4" name="Slide Number Placeholder 3"/>
          <p:cNvSpPr>
            <a:spLocks noGrp="1"/>
          </p:cNvSpPr>
          <p:nvPr>
            <p:ph type="sldNum" sz="quarter" idx="5"/>
          </p:nvPr>
        </p:nvSpPr>
        <p:spPr/>
        <p:txBody>
          <a:bodyPr/>
          <a:lstStyle/>
          <a:p>
            <a:fld id="{D780425D-BC8A-4859-9C51-50EE13BF5D4C}" type="slidenum">
              <a:rPr lang="en-GB" smtClean="0"/>
              <a:t>10</a:t>
            </a:fld>
            <a:endParaRPr lang="en-GB"/>
          </a:p>
        </p:txBody>
      </p:sp>
    </p:spTree>
    <p:extLst>
      <p:ext uri="{BB962C8B-B14F-4D97-AF65-F5344CB8AC3E}">
        <p14:creationId xmlns:p14="http://schemas.microsoft.com/office/powerpoint/2010/main" val="2746411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goals for the PhD thesis:</a:t>
            </a:r>
          </a:p>
          <a:p>
            <a:r>
              <a:rPr lang="en-GB" dirty="0"/>
              <a:t>- Model environment dynamics using different sensors</a:t>
            </a:r>
          </a:p>
          <a:p>
            <a:r>
              <a:rPr lang="en-GB" dirty="0"/>
              <a:t>- Incorporate the dynamics in both localization and mapping processes to improve the consequent results</a:t>
            </a:r>
          </a:p>
          <a:p>
            <a:r>
              <a:rPr lang="en-GB" dirty="0"/>
              <a:t>- And, finally, achieve lifelong SLAM in dynamic environments with an AMR</a:t>
            </a:r>
          </a:p>
        </p:txBody>
      </p:sp>
      <p:sp>
        <p:nvSpPr>
          <p:cNvPr id="4" name="Slide Number Placeholder 3"/>
          <p:cNvSpPr>
            <a:spLocks noGrp="1"/>
          </p:cNvSpPr>
          <p:nvPr>
            <p:ph type="sldNum" sz="quarter" idx="5"/>
          </p:nvPr>
        </p:nvSpPr>
        <p:spPr/>
        <p:txBody>
          <a:bodyPr/>
          <a:lstStyle/>
          <a:p>
            <a:fld id="{D780425D-BC8A-4859-9C51-50EE13BF5D4C}" type="slidenum">
              <a:rPr lang="en-GB" smtClean="0"/>
              <a:t>11</a:t>
            </a:fld>
            <a:endParaRPr lang="en-GB"/>
          </a:p>
        </p:txBody>
      </p:sp>
    </p:spTree>
    <p:extLst>
      <p:ext uri="{BB962C8B-B14F-4D97-AF65-F5344CB8AC3E}">
        <p14:creationId xmlns:p14="http://schemas.microsoft.com/office/powerpoint/2010/main" val="3640404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a:t>
            </a:r>
          </a:p>
        </p:txBody>
      </p:sp>
      <p:sp>
        <p:nvSpPr>
          <p:cNvPr id="4" name="Slide Number Placeholder 3"/>
          <p:cNvSpPr>
            <a:spLocks noGrp="1"/>
          </p:cNvSpPr>
          <p:nvPr>
            <p:ph type="sldNum" sz="quarter" idx="5"/>
          </p:nvPr>
        </p:nvSpPr>
        <p:spPr/>
        <p:txBody>
          <a:bodyPr/>
          <a:lstStyle/>
          <a:p>
            <a:fld id="{D780425D-BC8A-4859-9C51-50EE13BF5D4C}" type="slidenum">
              <a:rPr lang="en-GB" smtClean="0"/>
              <a:t>12</a:t>
            </a:fld>
            <a:endParaRPr lang="en-GB"/>
          </a:p>
        </p:txBody>
      </p:sp>
    </p:spTree>
    <p:extLst>
      <p:ext uri="{BB962C8B-B14F-4D97-AF65-F5344CB8AC3E}">
        <p14:creationId xmlns:p14="http://schemas.microsoft.com/office/powerpoint/2010/main" val="20086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 systematic literature review was performed following the Preferred Reporting Items for Systematic reviews and Meta-Analysis statement, also know as the PRISMA guidelines.</a:t>
            </a:r>
          </a:p>
          <a:p>
            <a:r>
              <a:rPr lang="en-GB" dirty="0"/>
              <a:t>The scope of the literature review was not limited to only the challenge of dealing with dynamic elements, trying to identify works related to long-term SLAM, as shown in the search base string.</a:t>
            </a:r>
          </a:p>
          <a:p>
            <a:r>
              <a:rPr lang="en-GB" dirty="0"/>
              <a:t>Although the last inquiry was on May 2022,</a:t>
            </a:r>
          </a:p>
        </p:txBody>
      </p:sp>
      <p:sp>
        <p:nvSpPr>
          <p:cNvPr id="4" name="Slide Number Placeholder 3"/>
          <p:cNvSpPr>
            <a:spLocks noGrp="1"/>
          </p:cNvSpPr>
          <p:nvPr>
            <p:ph type="sldNum" sz="quarter" idx="5"/>
          </p:nvPr>
        </p:nvSpPr>
        <p:spPr/>
        <p:txBody>
          <a:bodyPr/>
          <a:lstStyle/>
          <a:p>
            <a:fld id="{D780425D-BC8A-4859-9C51-50EE13BF5D4C}" type="slidenum">
              <a:rPr lang="en-GB" smtClean="0"/>
              <a:t>13</a:t>
            </a:fld>
            <a:endParaRPr lang="en-GB"/>
          </a:p>
        </p:txBody>
      </p:sp>
    </p:spTree>
    <p:extLst>
      <p:ext uri="{BB962C8B-B14F-4D97-AF65-F5344CB8AC3E}">
        <p14:creationId xmlns:p14="http://schemas.microsoft.com/office/powerpoint/2010/main" val="4207672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for the purpose of elaborating this PhD Thesis Research Plan, another inquiry was made on October 2022, performing the identification, screening and quality assessment for all the works published between the two dates, but effectively only analysing the ones related to the main challenge that this thesis focuses on, that is, dealing with dynamic environments.</a:t>
            </a:r>
          </a:p>
        </p:txBody>
      </p:sp>
      <p:sp>
        <p:nvSpPr>
          <p:cNvPr id="4" name="Slide Number Placeholder 3"/>
          <p:cNvSpPr>
            <a:spLocks noGrp="1"/>
          </p:cNvSpPr>
          <p:nvPr>
            <p:ph type="sldNum" sz="quarter" idx="5"/>
          </p:nvPr>
        </p:nvSpPr>
        <p:spPr/>
        <p:txBody>
          <a:bodyPr/>
          <a:lstStyle/>
          <a:p>
            <a:fld id="{D780425D-BC8A-4859-9C51-50EE13BF5D4C}" type="slidenum">
              <a:rPr lang="en-GB" smtClean="0"/>
              <a:t>14</a:t>
            </a:fld>
            <a:endParaRPr lang="en-GB"/>
          </a:p>
        </p:txBody>
      </p:sp>
    </p:spTree>
    <p:extLst>
      <p:ext uri="{BB962C8B-B14F-4D97-AF65-F5344CB8AC3E}">
        <p14:creationId xmlns:p14="http://schemas.microsoft.com/office/powerpoint/2010/main" val="2643020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traditional SLAM problem, there are two main approaches: online and full SLAM, with the difference between them being the variables estimated, where full SLAM estimated the full robot trajectory, unlike online SLAM that only estimates the current pose.</a:t>
            </a:r>
          </a:p>
        </p:txBody>
      </p:sp>
      <p:sp>
        <p:nvSpPr>
          <p:cNvPr id="4" name="Slide Number Placeholder 3"/>
          <p:cNvSpPr>
            <a:spLocks noGrp="1"/>
          </p:cNvSpPr>
          <p:nvPr>
            <p:ph type="sldNum" sz="quarter" idx="5"/>
          </p:nvPr>
        </p:nvSpPr>
        <p:spPr/>
        <p:txBody>
          <a:bodyPr/>
          <a:lstStyle/>
          <a:p>
            <a:fld id="{D780425D-BC8A-4859-9C51-50EE13BF5D4C}" type="slidenum">
              <a:rPr lang="en-GB" smtClean="0"/>
              <a:t>15</a:t>
            </a:fld>
            <a:endParaRPr lang="en-GB"/>
          </a:p>
        </p:txBody>
      </p:sp>
    </p:spTree>
    <p:extLst>
      <p:ext uri="{BB962C8B-B14F-4D97-AF65-F5344CB8AC3E}">
        <p14:creationId xmlns:p14="http://schemas.microsoft.com/office/powerpoint/2010/main" val="433920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also noted in the literature review, there are three main implementations to solve the traditional SLAM problem: Scan matching, Particle filter, and Pose graph</a:t>
            </a:r>
          </a:p>
        </p:txBody>
      </p:sp>
      <p:sp>
        <p:nvSpPr>
          <p:cNvPr id="4" name="Slide Number Placeholder 3"/>
          <p:cNvSpPr>
            <a:spLocks noGrp="1"/>
          </p:cNvSpPr>
          <p:nvPr>
            <p:ph type="sldNum" sz="quarter" idx="5"/>
          </p:nvPr>
        </p:nvSpPr>
        <p:spPr/>
        <p:txBody>
          <a:bodyPr/>
          <a:lstStyle/>
          <a:p>
            <a:fld id="{D780425D-BC8A-4859-9C51-50EE13BF5D4C}" type="slidenum">
              <a:rPr lang="en-GB" smtClean="0"/>
              <a:t>16</a:t>
            </a:fld>
            <a:endParaRPr lang="en-GB"/>
          </a:p>
        </p:txBody>
      </p:sp>
    </p:spTree>
    <p:extLst>
      <p:ext uri="{BB962C8B-B14F-4D97-AF65-F5344CB8AC3E}">
        <p14:creationId xmlns:p14="http://schemas.microsoft.com/office/powerpoint/2010/main" val="4165121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Where the first aligns the sensor data with the current map and integrates the data into the map.</a:t>
            </a:r>
          </a:p>
          <a:p>
            <a:r>
              <a:rPr lang="en-GB" dirty="0"/>
              <a:t>The second one implements Rao-</a:t>
            </a:r>
            <a:r>
              <a:rPr lang="en-GB" dirty="0" err="1"/>
              <a:t>Blackwellized</a:t>
            </a:r>
            <a:r>
              <a:rPr lang="en-GB" dirty="0"/>
              <a:t> Particle Filters for decomposing and factoring the posterior probability, being a probabilistic approach.</a:t>
            </a:r>
          </a:p>
          <a:p>
            <a:r>
              <a:rPr lang="en-GB" dirty="0"/>
              <a:t>And finally, the one used more recently the pose graph framework, in which a node represents a robot pose and the respective sensor observations, the front end module tries to create edges / constraints between nodes and the backend refines by optimizing the convergence between the sensor measurements modelled in the edges.</a:t>
            </a:r>
          </a:p>
        </p:txBody>
      </p:sp>
      <p:sp>
        <p:nvSpPr>
          <p:cNvPr id="4" name="Slide Number Placeholder 3"/>
          <p:cNvSpPr>
            <a:spLocks noGrp="1"/>
          </p:cNvSpPr>
          <p:nvPr>
            <p:ph type="sldNum" sz="quarter" idx="5"/>
          </p:nvPr>
        </p:nvSpPr>
        <p:spPr/>
        <p:txBody>
          <a:bodyPr/>
          <a:lstStyle/>
          <a:p>
            <a:fld id="{D780425D-BC8A-4859-9C51-50EE13BF5D4C}" type="slidenum">
              <a:rPr lang="en-GB" smtClean="0"/>
              <a:t>17</a:t>
            </a:fld>
            <a:endParaRPr lang="en-GB"/>
          </a:p>
        </p:txBody>
      </p:sp>
    </p:spTree>
    <p:extLst>
      <p:ext uri="{BB962C8B-B14F-4D97-AF65-F5344CB8AC3E}">
        <p14:creationId xmlns:p14="http://schemas.microsoft.com/office/powerpoint/2010/main" val="3563159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dealing with dynamic elements, the literature proposes different map representations.</a:t>
            </a:r>
          </a:p>
        </p:txBody>
      </p:sp>
      <p:sp>
        <p:nvSpPr>
          <p:cNvPr id="4" name="Slide Number Placeholder 3"/>
          <p:cNvSpPr>
            <a:spLocks noGrp="1"/>
          </p:cNvSpPr>
          <p:nvPr>
            <p:ph type="sldNum" sz="quarter" idx="5"/>
          </p:nvPr>
        </p:nvSpPr>
        <p:spPr/>
        <p:txBody>
          <a:bodyPr/>
          <a:lstStyle/>
          <a:p>
            <a:fld id="{D780425D-BC8A-4859-9C51-50EE13BF5D4C}" type="slidenum">
              <a:rPr lang="en-GB" smtClean="0"/>
              <a:t>18</a:t>
            </a:fld>
            <a:endParaRPr lang="en-GB"/>
          </a:p>
        </p:txBody>
      </p:sp>
    </p:spTree>
    <p:extLst>
      <p:ext uri="{BB962C8B-B14F-4D97-AF65-F5344CB8AC3E}">
        <p14:creationId xmlns:p14="http://schemas.microsoft.com/office/powerpoint/2010/main" val="3291528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tries to follow the multi-store model of the human memory show in the figure, having a long-term memory to filter unstable features, using the stable ones for localization.</a:t>
            </a:r>
          </a:p>
        </p:txBody>
      </p:sp>
      <p:sp>
        <p:nvSpPr>
          <p:cNvPr id="4" name="Slide Number Placeholder 3"/>
          <p:cNvSpPr>
            <a:spLocks noGrp="1"/>
          </p:cNvSpPr>
          <p:nvPr>
            <p:ph type="sldNum" sz="quarter" idx="5"/>
          </p:nvPr>
        </p:nvSpPr>
        <p:spPr/>
        <p:txBody>
          <a:bodyPr/>
          <a:lstStyle/>
          <a:p>
            <a:fld id="{D780425D-BC8A-4859-9C51-50EE13BF5D4C}" type="slidenum">
              <a:rPr lang="en-GB" smtClean="0"/>
              <a:t>19</a:t>
            </a:fld>
            <a:endParaRPr lang="en-GB"/>
          </a:p>
        </p:txBody>
      </p:sp>
    </p:spTree>
    <p:extLst>
      <p:ext uri="{BB962C8B-B14F-4D97-AF65-F5344CB8AC3E}">
        <p14:creationId xmlns:p14="http://schemas.microsoft.com/office/powerpoint/2010/main" val="1062650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similar approach is defining static versus dynamic maps, using the static ones for localization. </a:t>
            </a:r>
          </a:p>
          <a:p>
            <a:r>
              <a:rPr lang="en-GB" dirty="0"/>
              <a:t>These approaches clearly perform a binary classification on the features between static and dynamic ones.</a:t>
            </a:r>
          </a:p>
        </p:txBody>
      </p:sp>
      <p:sp>
        <p:nvSpPr>
          <p:cNvPr id="4" name="Slide Number Placeholder 3"/>
          <p:cNvSpPr>
            <a:spLocks noGrp="1"/>
          </p:cNvSpPr>
          <p:nvPr>
            <p:ph type="sldNum" sz="quarter" idx="5"/>
          </p:nvPr>
        </p:nvSpPr>
        <p:spPr/>
        <p:txBody>
          <a:bodyPr/>
          <a:lstStyle/>
          <a:p>
            <a:fld id="{D780425D-BC8A-4859-9C51-50EE13BF5D4C}" type="slidenum">
              <a:rPr lang="en-GB" smtClean="0"/>
              <a:t>20</a:t>
            </a:fld>
            <a:endParaRPr lang="en-GB"/>
          </a:p>
        </p:txBody>
      </p:sp>
    </p:spTree>
    <p:extLst>
      <p:ext uri="{BB962C8B-B14F-4D97-AF65-F5344CB8AC3E}">
        <p14:creationId xmlns:p14="http://schemas.microsoft.com/office/powerpoint/2010/main" val="14044550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the multi-hypothesis framework tries to cluster the map landmarks in terms of their position, but assumes uniquely identifiable signatures for the landmarks.</a:t>
            </a:r>
          </a:p>
        </p:txBody>
      </p:sp>
      <p:sp>
        <p:nvSpPr>
          <p:cNvPr id="4" name="Slide Number Placeholder 3"/>
          <p:cNvSpPr>
            <a:spLocks noGrp="1"/>
          </p:cNvSpPr>
          <p:nvPr>
            <p:ph type="sldNum" sz="quarter" idx="5"/>
          </p:nvPr>
        </p:nvSpPr>
        <p:spPr/>
        <p:txBody>
          <a:bodyPr/>
          <a:lstStyle/>
          <a:p>
            <a:fld id="{D780425D-BC8A-4859-9C51-50EE13BF5D4C}" type="slidenum">
              <a:rPr lang="en-GB" smtClean="0"/>
              <a:t>21</a:t>
            </a:fld>
            <a:endParaRPr lang="en-GB"/>
          </a:p>
        </p:txBody>
      </p:sp>
    </p:spTree>
    <p:extLst>
      <p:ext uri="{BB962C8B-B14F-4D97-AF65-F5344CB8AC3E}">
        <p14:creationId xmlns:p14="http://schemas.microsoft.com/office/powerpoint/2010/main" val="28401049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Next, using map matching methods, such as ray tracing or NDT, the authors in the literature also try to identify the dynamic features and removing them from the map. Plus, the authors also hypothesize on the clustering properties of observations, stating that features near dynamic ones tend to have a similar behaviour.</a:t>
            </a:r>
          </a:p>
        </p:txBody>
      </p:sp>
      <p:sp>
        <p:nvSpPr>
          <p:cNvPr id="4" name="Slide Number Placeholder 3"/>
          <p:cNvSpPr>
            <a:spLocks noGrp="1"/>
          </p:cNvSpPr>
          <p:nvPr>
            <p:ph type="sldNum" sz="quarter" idx="5"/>
          </p:nvPr>
        </p:nvSpPr>
        <p:spPr/>
        <p:txBody>
          <a:bodyPr/>
          <a:lstStyle/>
          <a:p>
            <a:fld id="{D780425D-BC8A-4859-9C51-50EE13BF5D4C}" type="slidenum">
              <a:rPr lang="en-GB" smtClean="0"/>
              <a:t>22</a:t>
            </a:fld>
            <a:endParaRPr lang="en-GB"/>
          </a:p>
        </p:txBody>
      </p:sp>
    </p:spTree>
    <p:extLst>
      <p:ext uri="{BB962C8B-B14F-4D97-AF65-F5344CB8AC3E}">
        <p14:creationId xmlns:p14="http://schemas.microsoft.com/office/powerpoint/2010/main" val="2446181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predicting the dynamics of the environment, three different methodologies were found in the literature:</a:t>
            </a:r>
          </a:p>
          <a:p>
            <a:r>
              <a:rPr lang="en-GB" dirty="0"/>
              <a:t>- Markov processes to model the state holding time associated to them, however, only intended for offline computation</a:t>
            </a:r>
          </a:p>
          <a:p>
            <a:r>
              <a:rPr lang="en-GB" dirty="0"/>
              <a:t>- Evaluation of the periodicity of the patters, using Fourier analysis for periodic signals, or time series as stochastic processes to also predict aperiodic dynamics changes</a:t>
            </a:r>
          </a:p>
          <a:p>
            <a:r>
              <a:rPr lang="en-GB" dirty="0"/>
              <a:t>- And finally, CNN-based prediction, using training data from previous sessions to predict the dynamics in the different areas in the environment</a:t>
            </a:r>
          </a:p>
        </p:txBody>
      </p:sp>
      <p:sp>
        <p:nvSpPr>
          <p:cNvPr id="4" name="Slide Number Placeholder 3"/>
          <p:cNvSpPr>
            <a:spLocks noGrp="1"/>
          </p:cNvSpPr>
          <p:nvPr>
            <p:ph type="sldNum" sz="quarter" idx="5"/>
          </p:nvPr>
        </p:nvSpPr>
        <p:spPr/>
        <p:txBody>
          <a:bodyPr/>
          <a:lstStyle/>
          <a:p>
            <a:fld id="{D780425D-BC8A-4859-9C51-50EE13BF5D4C}" type="slidenum">
              <a:rPr lang="en-GB" smtClean="0"/>
              <a:t>23</a:t>
            </a:fld>
            <a:endParaRPr lang="en-GB"/>
          </a:p>
        </p:txBody>
      </p:sp>
    </p:spTree>
    <p:extLst>
      <p:ext uri="{BB962C8B-B14F-4D97-AF65-F5344CB8AC3E}">
        <p14:creationId xmlns:p14="http://schemas.microsoft.com/office/powerpoint/2010/main" val="2981094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for detecting dynamic objects, semantic information is used to classify the objects classes, and then, assuming that some of them are a prior dynamic observations, only use static objects’ observations for localization and mapping</a:t>
            </a:r>
          </a:p>
        </p:txBody>
      </p:sp>
      <p:sp>
        <p:nvSpPr>
          <p:cNvPr id="4" name="Slide Number Placeholder 3"/>
          <p:cNvSpPr>
            <a:spLocks noGrp="1"/>
          </p:cNvSpPr>
          <p:nvPr>
            <p:ph type="sldNum" sz="quarter" idx="5"/>
          </p:nvPr>
        </p:nvSpPr>
        <p:spPr/>
        <p:txBody>
          <a:bodyPr/>
          <a:lstStyle/>
          <a:p>
            <a:fld id="{D780425D-BC8A-4859-9C51-50EE13BF5D4C}" type="slidenum">
              <a:rPr lang="en-GB" smtClean="0"/>
              <a:t>24</a:t>
            </a:fld>
            <a:endParaRPr lang="en-GB"/>
          </a:p>
        </p:txBody>
      </p:sp>
    </p:spTree>
    <p:extLst>
      <p:ext uri="{BB962C8B-B14F-4D97-AF65-F5344CB8AC3E}">
        <p14:creationId xmlns:p14="http://schemas.microsoft.com/office/powerpoint/2010/main" val="762369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 following open challenges were identified after the literature review:</a:t>
            </a:r>
          </a:p>
          <a:p>
            <a:r>
              <a:rPr lang="en-US" dirty="0"/>
              <a:t>- Dealing with dynamic elements considering heterogeneous sensor configurations</a:t>
            </a:r>
          </a:p>
          <a:p>
            <a:r>
              <a:rPr lang="en-GB" dirty="0"/>
              <a:t>- How to leverage multi-modal maps (e.g., having simultaneously grid and feature map representations for localization) for long-term SLAM</a:t>
            </a:r>
          </a:p>
          <a:p>
            <a:r>
              <a:rPr lang="en-GB" dirty="0"/>
              <a:t>- Tightly-coupling dynamics estimation into localization and mapping processes</a:t>
            </a:r>
          </a:p>
          <a:p>
            <a:r>
              <a:rPr lang="en-GB" dirty="0"/>
              <a:t>- Estimating the observations dynamics online</a:t>
            </a:r>
          </a:p>
          <a:p>
            <a:r>
              <a:rPr lang="en-GB" dirty="0"/>
              <a:t>- And finally, how to interact with the user of AMR systems in long-term SLAM using Human-Machine interfaces</a:t>
            </a:r>
          </a:p>
        </p:txBody>
      </p:sp>
      <p:sp>
        <p:nvSpPr>
          <p:cNvPr id="4" name="Slide Number Placeholder 3"/>
          <p:cNvSpPr>
            <a:spLocks noGrp="1"/>
          </p:cNvSpPr>
          <p:nvPr>
            <p:ph type="sldNum" sz="quarter" idx="5"/>
          </p:nvPr>
        </p:nvSpPr>
        <p:spPr/>
        <p:txBody>
          <a:bodyPr/>
          <a:lstStyle/>
          <a:p>
            <a:fld id="{D780425D-BC8A-4859-9C51-50EE13BF5D4C}" type="slidenum">
              <a:rPr lang="en-GB" smtClean="0"/>
              <a:t>25</a:t>
            </a:fld>
            <a:endParaRPr lang="en-GB"/>
          </a:p>
        </p:txBody>
      </p:sp>
    </p:spTree>
    <p:extLst>
      <p:ext uri="{BB962C8B-B14F-4D97-AF65-F5344CB8AC3E}">
        <p14:creationId xmlns:p14="http://schemas.microsoft.com/office/powerpoint/2010/main" val="178545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result of the literature analysis, …</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26</a:t>
            </a:fld>
            <a:endParaRPr lang="en-GB"/>
          </a:p>
        </p:txBody>
      </p:sp>
    </p:spTree>
    <p:extLst>
      <p:ext uri="{BB962C8B-B14F-4D97-AF65-F5344CB8AC3E}">
        <p14:creationId xmlns:p14="http://schemas.microsoft.com/office/powerpoint/2010/main" val="386357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PhD thesis proposal focuses on localizing a robot in an indoor dynamic environment, without considering any assumption on the environment dynamics</a:t>
            </a:r>
            <a:r>
              <a:rPr lang="en-GB" dirty="0"/>
              <a:t>.</a:t>
            </a:r>
            <a:endParaRPr lang="en-US" dirty="0"/>
          </a:p>
        </p:txBody>
      </p:sp>
      <p:sp>
        <p:nvSpPr>
          <p:cNvPr id="4" name="Slide Number Placeholder 3"/>
          <p:cNvSpPr>
            <a:spLocks noGrp="1"/>
          </p:cNvSpPr>
          <p:nvPr>
            <p:ph type="sldNum" sz="quarter" idx="5"/>
          </p:nvPr>
        </p:nvSpPr>
        <p:spPr/>
        <p:txBody>
          <a:bodyPr/>
          <a:lstStyle/>
          <a:p>
            <a:fld id="{D780425D-BC8A-4859-9C51-50EE13BF5D4C}" type="slidenum">
              <a:rPr lang="en-GB" smtClean="0"/>
              <a:t>27</a:t>
            </a:fld>
            <a:endParaRPr lang="en-GB"/>
          </a:p>
        </p:txBody>
      </p:sp>
    </p:spTree>
    <p:extLst>
      <p:ext uri="{BB962C8B-B14F-4D97-AF65-F5344CB8AC3E}">
        <p14:creationId xmlns:p14="http://schemas.microsoft.com/office/powerpoint/2010/main" val="440492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mathematical formulation of the traditional SLAM problem, this thesis’ statement may be formulated as including the dynamics into the estimation process</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28</a:t>
            </a:fld>
            <a:endParaRPr lang="en-GB"/>
          </a:p>
        </p:txBody>
      </p:sp>
    </p:spTree>
    <p:extLst>
      <p:ext uri="{BB962C8B-B14F-4D97-AF65-F5344CB8AC3E}">
        <p14:creationId xmlns:p14="http://schemas.microsoft.com/office/powerpoint/2010/main" val="3307857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research questions, the first is relative to robot sensor calibration without external equipment, in which a hypothesis arises in the TRP that the convergence on relative motion between sensors in the same frame should be maximum for the true value of the sensor extrinsic parameters.</a:t>
            </a:r>
          </a:p>
          <a:p>
            <a:endParaRPr lang="en-US" dirty="0"/>
          </a:p>
          <a:p>
            <a:r>
              <a:rPr lang="en-US" dirty="0"/>
              <a:t>The second question is associated to how to improve mapping in dynamic environments.</a:t>
            </a:r>
          </a:p>
          <a:p>
            <a:r>
              <a:rPr lang="en-US" dirty="0"/>
              <a:t>Two hypotheses are formulated, where 2.1 focuses on how to model the environment dynamics, while 2.2 focuses on integrating and tightly-coupling the estimated environment dynamics into the mapping process.</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29</a:t>
            </a:fld>
            <a:endParaRPr lang="en-GB"/>
          </a:p>
        </p:txBody>
      </p:sp>
    </p:spTree>
    <p:extLst>
      <p:ext uri="{BB962C8B-B14F-4D97-AF65-F5344CB8AC3E}">
        <p14:creationId xmlns:p14="http://schemas.microsoft.com/office/powerpoint/2010/main" val="41318996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final question is over the integration of the environment dynamics into the localization process, with a similar hypotheses to H2.2</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30</a:t>
            </a:fld>
            <a:endParaRPr lang="en-GB"/>
          </a:p>
        </p:txBody>
      </p:sp>
    </p:spTree>
    <p:extLst>
      <p:ext uri="{BB962C8B-B14F-4D97-AF65-F5344CB8AC3E}">
        <p14:creationId xmlns:p14="http://schemas.microsoft.com/office/powerpoint/2010/main" val="10184893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figure illustrates how </a:t>
            </a:r>
            <a:r>
              <a:rPr lang="en-US" dirty="0" err="1"/>
              <a:t>RicoSLAM</a:t>
            </a:r>
            <a:r>
              <a:rPr lang="en-US" dirty="0"/>
              <a:t>, this thesis proposal, intends to wrap around the traditional SLAM problem by modelling and creating a dynamics map of the environment, leveraging also clustering properties of the sensor observations in terms of their dynamicity.</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31</a:t>
            </a:fld>
            <a:endParaRPr lang="en-GB"/>
          </a:p>
        </p:txBody>
      </p:sp>
    </p:spTree>
    <p:extLst>
      <p:ext uri="{BB962C8B-B14F-4D97-AF65-F5344CB8AC3E}">
        <p14:creationId xmlns:p14="http://schemas.microsoft.com/office/powerpoint/2010/main" val="10789763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 preliminary developments are already in progress, …</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32</a:t>
            </a:fld>
            <a:endParaRPr lang="en-GB"/>
          </a:p>
        </p:txBody>
      </p:sp>
    </p:spTree>
    <p:extLst>
      <p:ext uri="{BB962C8B-B14F-4D97-AF65-F5344CB8AC3E}">
        <p14:creationId xmlns:p14="http://schemas.microsoft.com/office/powerpoint/2010/main" val="29116661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Including the preparation of mobile platforms required for data acquisition and testing beds of the algorithms to be studied and researched in this PhD proposal, a preliminary study on the hypothesis H1 demonstrating the validity of it, as shown in the TRP document, and also a little introduction to the SLAM problem and respective experimentation with mobile robots.</a:t>
            </a:r>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33</a:t>
            </a:fld>
            <a:endParaRPr lang="en-GB"/>
          </a:p>
        </p:txBody>
      </p:sp>
    </p:spTree>
    <p:extLst>
      <p:ext uri="{BB962C8B-B14F-4D97-AF65-F5344CB8AC3E}">
        <p14:creationId xmlns:p14="http://schemas.microsoft.com/office/powerpoint/2010/main" val="20247744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a:t>
            </a:r>
          </a:p>
        </p:txBody>
      </p:sp>
      <p:sp>
        <p:nvSpPr>
          <p:cNvPr id="4" name="Slide Number Placeholder 3"/>
          <p:cNvSpPr>
            <a:spLocks noGrp="1"/>
          </p:cNvSpPr>
          <p:nvPr>
            <p:ph type="sldNum" sz="quarter" idx="5"/>
          </p:nvPr>
        </p:nvSpPr>
        <p:spPr/>
        <p:txBody>
          <a:bodyPr/>
          <a:lstStyle/>
          <a:p>
            <a:fld id="{D780425D-BC8A-4859-9C51-50EE13BF5D4C}" type="slidenum">
              <a:rPr lang="en-GB" smtClean="0"/>
              <a:t>34</a:t>
            </a:fld>
            <a:endParaRPr lang="en-GB"/>
          </a:p>
        </p:txBody>
      </p:sp>
    </p:spTree>
    <p:extLst>
      <p:ext uri="{BB962C8B-B14F-4D97-AF65-F5344CB8AC3E}">
        <p14:creationId xmlns:p14="http://schemas.microsoft.com/office/powerpoint/2010/main" val="39331769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the research plan of this PhD thesis proposal is illustrated in the following figure.</a:t>
            </a:r>
          </a:p>
        </p:txBody>
      </p:sp>
      <p:sp>
        <p:nvSpPr>
          <p:cNvPr id="4" name="Slide Number Placeholder 3"/>
          <p:cNvSpPr>
            <a:spLocks noGrp="1"/>
          </p:cNvSpPr>
          <p:nvPr>
            <p:ph type="sldNum" sz="quarter" idx="5"/>
          </p:nvPr>
        </p:nvSpPr>
        <p:spPr/>
        <p:txBody>
          <a:bodyPr/>
          <a:lstStyle/>
          <a:p>
            <a:fld id="{D780425D-BC8A-4859-9C51-50EE13BF5D4C}" type="slidenum">
              <a:rPr lang="en-GB" smtClean="0"/>
              <a:t>35</a:t>
            </a:fld>
            <a:endParaRPr lang="en-GB"/>
          </a:p>
        </p:txBody>
      </p:sp>
    </p:spTree>
    <p:extLst>
      <p:ext uri="{BB962C8B-B14F-4D97-AF65-F5344CB8AC3E}">
        <p14:creationId xmlns:p14="http://schemas.microsoft.com/office/powerpoint/2010/main" val="1955100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main task will be the study, research, and benchmarking of existing SLAM solutions in the literature and, if possible, commercial systems. This task will also increase knowledge on the traditional SLAM problem, going over several modules such as feature extraction, data association, and sensor data matching algorithms.</a:t>
            </a:r>
          </a:p>
        </p:txBody>
      </p:sp>
      <p:sp>
        <p:nvSpPr>
          <p:cNvPr id="4" name="Slide Number Placeholder 3"/>
          <p:cNvSpPr>
            <a:spLocks noGrp="1"/>
          </p:cNvSpPr>
          <p:nvPr>
            <p:ph type="sldNum" sz="quarter" idx="5"/>
          </p:nvPr>
        </p:nvSpPr>
        <p:spPr/>
        <p:txBody>
          <a:bodyPr/>
          <a:lstStyle/>
          <a:p>
            <a:fld id="{D780425D-BC8A-4859-9C51-50EE13BF5D4C}" type="slidenum">
              <a:rPr lang="en-GB" smtClean="0"/>
              <a:t>36</a:t>
            </a:fld>
            <a:endParaRPr lang="en-GB"/>
          </a:p>
        </p:txBody>
      </p:sp>
    </p:spTree>
    <p:extLst>
      <p:ext uri="{BB962C8B-B14F-4D97-AF65-F5344CB8AC3E}">
        <p14:creationId xmlns:p14="http://schemas.microsoft.com/office/powerpoint/2010/main" val="36185431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Given the knowledge on features obtained in Task 1, the second task will leverage that knowledge to improve the sensor matching results from which the convergence of relative motion will be researched to accomplish an automatic calibration algorithm, as stated in the hypothesis H1.</a:t>
            </a:r>
          </a:p>
        </p:txBody>
      </p:sp>
      <p:sp>
        <p:nvSpPr>
          <p:cNvPr id="4" name="Slide Number Placeholder 3"/>
          <p:cNvSpPr>
            <a:spLocks noGrp="1"/>
          </p:cNvSpPr>
          <p:nvPr>
            <p:ph type="sldNum" sz="quarter" idx="5"/>
          </p:nvPr>
        </p:nvSpPr>
        <p:spPr/>
        <p:txBody>
          <a:bodyPr/>
          <a:lstStyle/>
          <a:p>
            <a:fld id="{D780425D-BC8A-4859-9C51-50EE13BF5D4C}" type="slidenum">
              <a:rPr lang="en-GB" smtClean="0"/>
              <a:t>37</a:t>
            </a:fld>
            <a:endParaRPr lang="en-GB"/>
          </a:p>
        </p:txBody>
      </p:sp>
    </p:spTree>
    <p:extLst>
      <p:ext uri="{BB962C8B-B14F-4D97-AF65-F5344CB8AC3E}">
        <p14:creationId xmlns:p14="http://schemas.microsoft.com/office/powerpoint/2010/main" val="39297132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second year of the thesis, the dynamics modelling task will begin after concluding the robot calibration one, and also having in progress the research on a base SLAM framework for </a:t>
            </a:r>
            <a:r>
              <a:rPr lang="en-GB" dirty="0" err="1"/>
              <a:t>RicoSLAM</a:t>
            </a:r>
            <a:r>
              <a:rPr lang="en-GB" dirty="0"/>
              <a:t> (Task T1.6).</a:t>
            </a:r>
          </a:p>
          <a:p>
            <a:r>
              <a:rPr lang="en-GB" dirty="0"/>
              <a:t>This third main task of the proposal intends to validate the research hypotheses H2.1, H2.2, and also H2.3.</a:t>
            </a:r>
          </a:p>
        </p:txBody>
      </p:sp>
      <p:sp>
        <p:nvSpPr>
          <p:cNvPr id="4" name="Slide Number Placeholder 3"/>
          <p:cNvSpPr>
            <a:spLocks noGrp="1"/>
          </p:cNvSpPr>
          <p:nvPr>
            <p:ph type="sldNum" sz="quarter" idx="5"/>
          </p:nvPr>
        </p:nvSpPr>
        <p:spPr/>
        <p:txBody>
          <a:bodyPr/>
          <a:lstStyle/>
          <a:p>
            <a:fld id="{D780425D-BC8A-4859-9C51-50EE13BF5D4C}" type="slidenum">
              <a:rPr lang="en-GB" smtClean="0"/>
              <a:t>38</a:t>
            </a:fld>
            <a:endParaRPr lang="en-GB"/>
          </a:p>
        </p:txBody>
      </p:sp>
    </p:spTree>
    <p:extLst>
      <p:ext uri="{BB962C8B-B14F-4D97-AF65-F5344CB8AC3E}">
        <p14:creationId xmlns:p14="http://schemas.microsoft.com/office/powerpoint/2010/main" val="13532213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parallel to the first three tasks, the test and validation of the research results will be performed throughout the thesis. Also note for a specific sub task dedicated to the data acquisition, essential for testing the studied and researched algorithms within the scope of this thesis.</a:t>
            </a:r>
          </a:p>
        </p:txBody>
      </p:sp>
      <p:sp>
        <p:nvSpPr>
          <p:cNvPr id="4" name="Slide Number Placeholder 3"/>
          <p:cNvSpPr>
            <a:spLocks noGrp="1"/>
          </p:cNvSpPr>
          <p:nvPr>
            <p:ph type="sldNum" sz="quarter" idx="5"/>
          </p:nvPr>
        </p:nvSpPr>
        <p:spPr/>
        <p:txBody>
          <a:bodyPr/>
          <a:lstStyle/>
          <a:p>
            <a:fld id="{D780425D-BC8A-4859-9C51-50EE13BF5D4C}" type="slidenum">
              <a:rPr lang="en-GB" smtClean="0"/>
              <a:t>39</a:t>
            </a:fld>
            <a:endParaRPr lang="en-GB"/>
          </a:p>
        </p:txBody>
      </p:sp>
    </p:spTree>
    <p:extLst>
      <p:ext uri="{BB962C8B-B14F-4D97-AF65-F5344CB8AC3E}">
        <p14:creationId xmlns:p14="http://schemas.microsoft.com/office/powerpoint/2010/main" val="36740375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similarly in parallel, the writing of the thesis itself and the scientific dissemination will be performed throughout the three years foreseen for this proposal.</a:t>
            </a:r>
          </a:p>
        </p:txBody>
      </p:sp>
      <p:sp>
        <p:nvSpPr>
          <p:cNvPr id="4" name="Slide Number Placeholder 3"/>
          <p:cNvSpPr>
            <a:spLocks noGrp="1"/>
          </p:cNvSpPr>
          <p:nvPr>
            <p:ph type="sldNum" sz="quarter" idx="5"/>
          </p:nvPr>
        </p:nvSpPr>
        <p:spPr/>
        <p:txBody>
          <a:bodyPr/>
          <a:lstStyle/>
          <a:p>
            <a:fld id="{D780425D-BC8A-4859-9C51-50EE13BF5D4C}" type="slidenum">
              <a:rPr lang="en-GB" smtClean="0"/>
              <a:t>40</a:t>
            </a:fld>
            <a:endParaRPr lang="en-GB"/>
          </a:p>
        </p:txBody>
      </p:sp>
    </p:spTree>
    <p:extLst>
      <p:ext uri="{BB962C8B-B14F-4D97-AF65-F5344CB8AC3E}">
        <p14:creationId xmlns:p14="http://schemas.microsoft.com/office/powerpoint/2010/main" val="698527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milestones align with the competition of the tasks T2.2, T1.6, T3.2, and T3.5. The first milestone is obtaining the automatic sensor calibration algorithm and the second one the base SLAM framework of </a:t>
            </a:r>
            <a:r>
              <a:rPr lang="en-GB" dirty="0" err="1"/>
              <a:t>RicoSLAM</a:t>
            </a:r>
            <a:r>
              <a:rPr lang="en-GB" dirty="0"/>
              <a:t>. And the final two are relative to dynamics modelling, of which the first is the dynamics model estimator and the final one is the final </a:t>
            </a:r>
            <a:r>
              <a:rPr lang="en-GB" dirty="0" err="1"/>
              <a:t>RicoSLAM</a:t>
            </a:r>
            <a:r>
              <a:rPr lang="en-GB" dirty="0"/>
              <a:t> framework.</a:t>
            </a:r>
          </a:p>
        </p:txBody>
      </p:sp>
      <p:sp>
        <p:nvSpPr>
          <p:cNvPr id="4" name="Slide Number Placeholder 3"/>
          <p:cNvSpPr>
            <a:spLocks noGrp="1"/>
          </p:cNvSpPr>
          <p:nvPr>
            <p:ph type="sldNum" sz="quarter" idx="5"/>
          </p:nvPr>
        </p:nvSpPr>
        <p:spPr/>
        <p:txBody>
          <a:bodyPr/>
          <a:lstStyle/>
          <a:p>
            <a:fld id="{D780425D-BC8A-4859-9C51-50EE13BF5D4C}" type="slidenum">
              <a:rPr lang="en-GB" smtClean="0"/>
              <a:t>41</a:t>
            </a:fld>
            <a:endParaRPr lang="en-GB"/>
          </a:p>
        </p:txBody>
      </p:sp>
    </p:spTree>
    <p:extLst>
      <p:ext uri="{BB962C8B-B14F-4D97-AF65-F5344CB8AC3E}">
        <p14:creationId xmlns:p14="http://schemas.microsoft.com/office/powerpoint/2010/main" val="925904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for the publications, these align with the competition of the tasks T1.5 relative to benchmarking existent SLAM solutions, T2 for the robot calibration algorithm, T3.1 for the model of the environment dynamics as a continuous value, and T3.4 and T3.5 for accounting the dynamics in the mapping and localization processes, respectively.</a:t>
            </a:r>
          </a:p>
          <a:p>
            <a:r>
              <a:rPr lang="en-GB" dirty="0"/>
              <a:t>Another publication is foreseen relative to the long-term SLAM dataset intended to be acquired throughout the thesis.</a:t>
            </a:r>
          </a:p>
        </p:txBody>
      </p:sp>
      <p:sp>
        <p:nvSpPr>
          <p:cNvPr id="4" name="Slide Number Placeholder 3"/>
          <p:cNvSpPr>
            <a:spLocks noGrp="1"/>
          </p:cNvSpPr>
          <p:nvPr>
            <p:ph type="sldNum" sz="quarter" idx="5"/>
          </p:nvPr>
        </p:nvSpPr>
        <p:spPr/>
        <p:txBody>
          <a:bodyPr/>
          <a:lstStyle/>
          <a:p>
            <a:fld id="{D780425D-BC8A-4859-9C51-50EE13BF5D4C}" type="slidenum">
              <a:rPr lang="en-GB" smtClean="0"/>
              <a:t>42</a:t>
            </a:fld>
            <a:endParaRPr lang="en-GB"/>
          </a:p>
        </p:txBody>
      </p:sp>
    </p:spTree>
    <p:extLst>
      <p:ext uri="{BB962C8B-B14F-4D97-AF65-F5344CB8AC3E}">
        <p14:creationId xmlns:p14="http://schemas.microsoft.com/office/powerpoint/2010/main" val="33492221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conclude my presentation and open the space for discussion!</a:t>
            </a:r>
          </a:p>
        </p:txBody>
      </p:sp>
      <p:sp>
        <p:nvSpPr>
          <p:cNvPr id="4" name="Slide Number Placeholder 3"/>
          <p:cNvSpPr>
            <a:spLocks noGrp="1"/>
          </p:cNvSpPr>
          <p:nvPr>
            <p:ph type="sldNum" sz="quarter" idx="5"/>
          </p:nvPr>
        </p:nvSpPr>
        <p:spPr/>
        <p:txBody>
          <a:bodyPr/>
          <a:lstStyle/>
          <a:p>
            <a:fld id="{D780425D-BC8A-4859-9C51-50EE13BF5D4C}" type="slidenum">
              <a:rPr lang="en-GB" smtClean="0"/>
              <a:t>43</a:t>
            </a:fld>
            <a:endParaRPr lang="en-GB"/>
          </a:p>
        </p:txBody>
      </p:sp>
    </p:spTree>
    <p:extLst>
      <p:ext uri="{BB962C8B-B14F-4D97-AF65-F5344CB8AC3E}">
        <p14:creationId xmlns:p14="http://schemas.microsoft.com/office/powerpoint/2010/main" val="437934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44</a:t>
            </a:fld>
            <a:endParaRPr lang="en-GB"/>
          </a:p>
        </p:txBody>
      </p:sp>
    </p:spTree>
    <p:extLst>
      <p:ext uri="{BB962C8B-B14F-4D97-AF65-F5344CB8AC3E}">
        <p14:creationId xmlns:p14="http://schemas.microsoft.com/office/powerpoint/2010/main" val="27314735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80425D-BC8A-4859-9C51-50EE13BF5D4C}" type="slidenum">
              <a:rPr lang="en-GB" smtClean="0"/>
              <a:t>47</a:t>
            </a:fld>
            <a:endParaRPr lang="en-GB"/>
          </a:p>
        </p:txBody>
      </p:sp>
    </p:spTree>
    <p:extLst>
      <p:ext uri="{BB962C8B-B14F-4D97-AF65-F5344CB8AC3E}">
        <p14:creationId xmlns:p14="http://schemas.microsoft.com/office/powerpoint/2010/main" val="36110958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5985-C3EB-547E-3D06-4C4D527F8DA6}"/>
              </a:ext>
            </a:extLst>
          </p:cNvPr>
          <p:cNvSpPr>
            <a:spLocks noGrp="1"/>
          </p:cNvSpPr>
          <p:nvPr>
            <p:ph type="ctrTitle"/>
          </p:nvPr>
        </p:nvSpPr>
        <p:spPr>
          <a:xfrm>
            <a:off x="360000" y="177001"/>
            <a:ext cx="11471999" cy="3161991"/>
          </a:xfrm>
        </p:spPr>
        <p:txBody>
          <a:bodyPr bIns="90000" anchor="b">
            <a:normAutofit/>
          </a:bodyPr>
          <a:lstStyle>
            <a:lvl1pPr algn="ctr">
              <a:defRPr sz="48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CB904D66-CD9A-49E4-C5AE-0910ED657E2F}"/>
              </a:ext>
            </a:extLst>
          </p:cNvPr>
          <p:cNvSpPr>
            <a:spLocks noGrp="1"/>
          </p:cNvSpPr>
          <p:nvPr>
            <p:ph type="subTitle" idx="1" hasCustomPrompt="1"/>
          </p:nvPr>
        </p:nvSpPr>
        <p:spPr>
          <a:xfrm>
            <a:off x="360000" y="3518999"/>
            <a:ext cx="11471999" cy="3158999"/>
          </a:xfrm>
        </p:spPr>
        <p:txBody>
          <a:bodyPr tIns="90000">
            <a:normAutofit/>
          </a:bodyPr>
          <a:lstStyle>
            <a:lvl1pPr marL="0" indent="0" algn="ctr">
              <a:lnSpc>
                <a:spcPct val="90000"/>
              </a:lnSpc>
              <a:spcBef>
                <a:spcPts val="0"/>
              </a:spcBef>
              <a:spcAft>
                <a:spcPts val="600"/>
              </a:spcAft>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here the authors name</a:t>
            </a:r>
          </a:p>
          <a:p>
            <a:r>
              <a:rPr lang="en-US" dirty="0"/>
              <a:t>Insert here the location of the presentation</a:t>
            </a:r>
          </a:p>
          <a:p>
            <a:r>
              <a:rPr lang="en-US" dirty="0"/>
              <a:t>Insert here the presentation date</a:t>
            </a:r>
            <a:endParaRPr lang="en-GB" dirty="0"/>
          </a:p>
        </p:txBody>
      </p:sp>
      <p:grpSp>
        <p:nvGrpSpPr>
          <p:cNvPr id="22" name="Group 21">
            <a:extLst>
              <a:ext uri="{FF2B5EF4-FFF2-40B4-BE49-F238E27FC236}">
                <a16:creationId xmlns:a16="http://schemas.microsoft.com/office/drawing/2014/main" id="{997AF869-A791-B794-1090-5F79324FA122}"/>
              </a:ext>
            </a:extLst>
          </p:cNvPr>
          <p:cNvGrpSpPr/>
          <p:nvPr userDrawn="1"/>
        </p:nvGrpSpPr>
        <p:grpSpPr>
          <a:xfrm>
            <a:off x="6368891" y="5778000"/>
            <a:ext cx="5463108" cy="900000"/>
            <a:chOff x="3278897" y="5263541"/>
            <a:chExt cx="5463108" cy="900000"/>
          </a:xfrm>
        </p:grpSpPr>
        <p:pic>
          <p:nvPicPr>
            <p:cNvPr id="18" name="Picture 17" descr="Text&#10;&#10;Description automatically generated with medium confidence">
              <a:extLst>
                <a:ext uri="{FF2B5EF4-FFF2-40B4-BE49-F238E27FC236}">
                  <a16:creationId xmlns:a16="http://schemas.microsoft.com/office/drawing/2014/main" id="{A377E3C5-F882-C6E6-0F9A-AB908B0E88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8897" y="5263541"/>
              <a:ext cx="2294603" cy="900000"/>
            </a:xfrm>
            <a:prstGeom prst="rect">
              <a:avLst/>
            </a:prstGeom>
          </p:spPr>
        </p:pic>
        <p:pic>
          <p:nvPicPr>
            <p:cNvPr id="21" name="Picture 20" descr="A picture containing text, clipart&#10;&#10;Description automatically generated">
              <a:extLst>
                <a:ext uri="{FF2B5EF4-FFF2-40B4-BE49-F238E27FC236}">
                  <a16:creationId xmlns:a16="http://schemas.microsoft.com/office/drawing/2014/main" id="{DA567738-76B3-1406-1637-184578F1E97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67174" y="5263541"/>
              <a:ext cx="3074831" cy="900000"/>
            </a:xfrm>
            <a:prstGeom prst="rect">
              <a:avLst/>
            </a:prstGeom>
          </p:spPr>
        </p:pic>
      </p:grpSp>
      <p:cxnSp>
        <p:nvCxnSpPr>
          <p:cNvPr id="32" name="Straight Connector 31">
            <a:extLst>
              <a:ext uri="{FF2B5EF4-FFF2-40B4-BE49-F238E27FC236}">
                <a16:creationId xmlns:a16="http://schemas.microsoft.com/office/drawing/2014/main" id="{1D49211A-AFA9-1F4E-3782-479CB59FE621}"/>
              </a:ext>
            </a:extLst>
          </p:cNvPr>
          <p:cNvCxnSpPr>
            <a:cxnSpLocks/>
          </p:cNvCxnSpPr>
          <p:nvPr userDrawn="1"/>
        </p:nvCxnSpPr>
        <p:spPr>
          <a:xfrm>
            <a:off x="360000" y="3429000"/>
            <a:ext cx="1147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6880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DFA3001-9E01-8F4D-EEDC-DA3EFA958CC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5CC2804-AF55-A4E3-0353-4ACB16111925}"/>
              </a:ext>
            </a:extLst>
          </p:cNvPr>
          <p:cNvSpPr>
            <a:spLocks noGrp="1"/>
          </p:cNvSpPr>
          <p:nvPr>
            <p:ph type="title"/>
          </p:nvPr>
        </p:nvSpPr>
        <p:spPr/>
        <p:txBody>
          <a:bodyPr/>
          <a:lstStyle>
            <a:lvl1pP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F304EBC0-0139-4552-8590-238E382B62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C5AA2D-574C-851F-D502-0B2E2CE8352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C82D4786-BC66-1E13-8617-D8B88F923C3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7F8B13CD-40B7-53A2-0F7E-C2FF058AC5F5}"/>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pic>
        <p:nvPicPr>
          <p:cNvPr id="34" name="Picture 33" descr="Text&#10;&#10;Description automatically generated with medium confidence">
            <a:extLst>
              <a:ext uri="{FF2B5EF4-FFF2-40B4-BE49-F238E27FC236}">
                <a16:creationId xmlns:a16="http://schemas.microsoft.com/office/drawing/2014/main" id="{6ADB9435-D9F1-31E2-6A21-2E19BE31D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38" name="Picture 37" descr="A picture containing text, clipart&#10;&#10;Description automatically generated">
            <a:extLst>
              <a:ext uri="{FF2B5EF4-FFF2-40B4-BE49-F238E27FC236}">
                <a16:creationId xmlns:a16="http://schemas.microsoft.com/office/drawing/2014/main" id="{DC97B73E-9C1A-F141-B776-50735A55D0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Tree>
    <p:extLst>
      <p:ext uri="{BB962C8B-B14F-4D97-AF65-F5344CB8AC3E}">
        <p14:creationId xmlns:p14="http://schemas.microsoft.com/office/powerpoint/2010/main" val="9585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DFA3001-9E01-8F4D-EEDC-DA3EFA958CC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5CC2804-AF55-A4E3-0353-4ACB16111925}"/>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F304EBC0-0139-4552-8590-238E382B6200}"/>
              </a:ext>
            </a:extLst>
          </p:cNvPr>
          <p:cNvSpPr>
            <a:spLocks noGrp="1"/>
          </p:cNvSpPr>
          <p:nvPr>
            <p:ph idx="1"/>
          </p:nvPr>
        </p:nvSpPr>
        <p:spPr>
          <a:xfrm>
            <a:off x="1260000" y="1350000"/>
            <a:ext cx="10752000" cy="447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58C5AA2D-574C-851F-D502-0B2E2CE83527}"/>
              </a:ext>
            </a:extLst>
          </p:cNvPr>
          <p:cNvSpPr>
            <a:spLocks noGrp="1"/>
          </p:cNvSpPr>
          <p:nvPr>
            <p:ph type="dt" sz="half" idx="10"/>
          </p:nvPr>
        </p:nvSpPr>
        <p:spPr/>
        <p:txBody>
          <a:bodyPr/>
          <a:lstStyle/>
          <a:p>
            <a:r>
              <a:rPr lang="en-GB"/>
              <a:t>12/01/2023</a:t>
            </a:r>
          </a:p>
        </p:txBody>
      </p:sp>
      <p:sp>
        <p:nvSpPr>
          <p:cNvPr id="5" name="Footer Placeholder 4">
            <a:extLst>
              <a:ext uri="{FF2B5EF4-FFF2-40B4-BE49-F238E27FC236}">
                <a16:creationId xmlns:a16="http://schemas.microsoft.com/office/drawing/2014/main" id="{C82D4786-BC66-1E13-8617-D8B88F923C3C}"/>
              </a:ext>
            </a:extLst>
          </p:cNvPr>
          <p:cNvSpPr>
            <a:spLocks noGrp="1"/>
          </p:cNvSpPr>
          <p:nvPr>
            <p:ph type="ftr" sz="quarter" idx="11"/>
          </p:nvPr>
        </p:nvSpPr>
        <p:spPr/>
        <p:txBody>
          <a:bodyPr/>
          <a:lstStyle/>
          <a:p>
            <a:r>
              <a:rPr lang="en-GB"/>
              <a:t>RicoSLAM: Long-Term Localization and Mapping in Dynamic Environments (TRP Presentation and Discussion)</a:t>
            </a:r>
            <a:endParaRPr lang="en-GB" dirty="0"/>
          </a:p>
        </p:txBody>
      </p:sp>
      <p:sp>
        <p:nvSpPr>
          <p:cNvPr id="6" name="Slide Number Placeholder 5">
            <a:extLst>
              <a:ext uri="{FF2B5EF4-FFF2-40B4-BE49-F238E27FC236}">
                <a16:creationId xmlns:a16="http://schemas.microsoft.com/office/drawing/2014/main" id="{7F8B13CD-40B7-53A2-0F7E-C2FF058AC5F5}"/>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dirty="0"/>
          </a:p>
        </p:txBody>
      </p:sp>
      <p:sp>
        <p:nvSpPr>
          <p:cNvPr id="8" name="Text Placeholder 3">
            <a:extLst>
              <a:ext uri="{FF2B5EF4-FFF2-40B4-BE49-F238E27FC236}">
                <a16:creationId xmlns:a16="http://schemas.microsoft.com/office/drawing/2014/main" id="{E9CFB888-6A14-E2CB-F46A-F9AA03EF2890}"/>
              </a:ext>
            </a:extLst>
          </p:cNvPr>
          <p:cNvSpPr>
            <a:spLocks noGrp="1"/>
          </p:cNvSpPr>
          <p:nvPr>
            <p:ph type="body" sz="half" idx="2"/>
          </p:nvPr>
        </p:nvSpPr>
        <p:spPr>
          <a:xfrm>
            <a:off x="1260000" y="5820375"/>
            <a:ext cx="10752000"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pic>
        <p:nvPicPr>
          <p:cNvPr id="34" name="Picture 33" descr="Text&#10;&#10;Description automatically generated with medium confidence">
            <a:extLst>
              <a:ext uri="{FF2B5EF4-FFF2-40B4-BE49-F238E27FC236}">
                <a16:creationId xmlns:a16="http://schemas.microsoft.com/office/drawing/2014/main" id="{6ADB9435-D9F1-31E2-6A21-2E19BE31D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38" name="Picture 37" descr="A picture containing text, clipart&#10;&#10;Description automatically generated">
            <a:extLst>
              <a:ext uri="{FF2B5EF4-FFF2-40B4-BE49-F238E27FC236}">
                <a16:creationId xmlns:a16="http://schemas.microsoft.com/office/drawing/2014/main" id="{DC97B73E-9C1A-F141-B776-50735A55D0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Tree>
    <p:extLst>
      <p:ext uri="{BB962C8B-B14F-4D97-AF65-F5344CB8AC3E}">
        <p14:creationId xmlns:p14="http://schemas.microsoft.com/office/powerpoint/2010/main" val="47251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D2F30-47F9-D8A4-783F-003141E8D197}"/>
              </a:ext>
            </a:extLst>
          </p:cNvPr>
          <p:cNvSpPr>
            <a:spLocks noGrp="1"/>
          </p:cNvSpPr>
          <p:nvPr>
            <p:ph type="title"/>
          </p:nvPr>
        </p:nvSpPr>
        <p:spPr>
          <a:xfrm>
            <a:off x="1260000" y="1598064"/>
            <a:ext cx="10752000" cy="2807736"/>
          </a:xfrm>
        </p:spPr>
        <p:txBody>
          <a:bodyPr anchor="b">
            <a:normAutofit/>
          </a:bodyPr>
          <a:lstStyle>
            <a:lvl1pPr>
              <a:defRPr sz="4800"/>
            </a:lvl1pPr>
          </a:lstStyle>
          <a:p>
            <a:r>
              <a:rPr lang="en-US"/>
              <a:t>Click to edit Master title style</a:t>
            </a:r>
            <a:endParaRPr lang="en-GB" dirty="0"/>
          </a:p>
        </p:txBody>
      </p:sp>
      <p:sp>
        <p:nvSpPr>
          <p:cNvPr id="7" name="Rectangle 6">
            <a:extLst>
              <a:ext uri="{FF2B5EF4-FFF2-40B4-BE49-F238E27FC236}">
                <a16:creationId xmlns:a16="http://schemas.microsoft.com/office/drawing/2014/main" id="{75CA739D-DF8F-E9FB-071F-EBE5768F62D7}"/>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with medium confidence">
            <a:extLst>
              <a:ext uri="{FF2B5EF4-FFF2-40B4-BE49-F238E27FC236}">
                <a16:creationId xmlns:a16="http://schemas.microsoft.com/office/drawing/2014/main" id="{79F0709E-2809-ED8F-BACD-8EE9FF8E36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2E1AC9ED-4454-2D1C-CA37-DE8619F960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3" name="Text Placeholder 2">
            <a:extLst>
              <a:ext uri="{FF2B5EF4-FFF2-40B4-BE49-F238E27FC236}">
                <a16:creationId xmlns:a16="http://schemas.microsoft.com/office/drawing/2014/main" id="{1F176825-E2FF-4128-F8FC-B9B961E0CCA7}"/>
              </a:ext>
            </a:extLst>
          </p:cNvPr>
          <p:cNvSpPr>
            <a:spLocks noGrp="1"/>
          </p:cNvSpPr>
          <p:nvPr>
            <p:ph type="body" idx="1"/>
          </p:nvPr>
        </p:nvSpPr>
        <p:spPr>
          <a:xfrm>
            <a:off x="1259998" y="4585800"/>
            <a:ext cx="10751999" cy="1727074"/>
          </a:xfrm>
        </p:spPr>
        <p:txBody>
          <a:bodyPr>
            <a:normAutofit/>
          </a:bodyPr>
          <a:lstStyle>
            <a:lvl1pPr marL="0" indent="0">
              <a:buNone/>
              <a:defRPr sz="20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B5B1A0-73B9-5AD5-336D-CE86EF2F4438}"/>
              </a:ext>
            </a:extLst>
          </p:cNvPr>
          <p:cNvSpPr>
            <a:spLocks noGrp="1"/>
          </p:cNvSpPr>
          <p:nvPr>
            <p:ph type="dt" sz="half" idx="10"/>
          </p:nvPr>
        </p:nvSpPr>
        <p:spPr/>
        <p:txBody>
          <a:bodyPr/>
          <a:lstStyle/>
          <a:p>
            <a:r>
              <a:rPr lang="en-GB"/>
              <a:t>12/01/2023</a:t>
            </a:r>
          </a:p>
        </p:txBody>
      </p:sp>
      <p:sp>
        <p:nvSpPr>
          <p:cNvPr id="5" name="Footer Placeholder 4">
            <a:extLst>
              <a:ext uri="{FF2B5EF4-FFF2-40B4-BE49-F238E27FC236}">
                <a16:creationId xmlns:a16="http://schemas.microsoft.com/office/drawing/2014/main" id="{AD9F9EF2-A3CC-EA69-3C58-4E9BF811B226}"/>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938B6B78-9325-51C6-FFC6-E374E97BC3C9}"/>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cxnSp>
        <p:nvCxnSpPr>
          <p:cNvPr id="13" name="Straight Connector 12">
            <a:extLst>
              <a:ext uri="{FF2B5EF4-FFF2-40B4-BE49-F238E27FC236}">
                <a16:creationId xmlns:a16="http://schemas.microsoft.com/office/drawing/2014/main" id="{B096DFFC-D751-63F0-064B-9F11D6812FC5}"/>
              </a:ext>
            </a:extLst>
          </p:cNvPr>
          <p:cNvCxnSpPr>
            <a:cxnSpLocks/>
          </p:cNvCxnSpPr>
          <p:nvPr userDrawn="1"/>
        </p:nvCxnSpPr>
        <p:spPr>
          <a:xfrm>
            <a:off x="1259999" y="4495800"/>
            <a:ext cx="107520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58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A891-1D2C-00E7-F797-0BBCE132B768}"/>
              </a:ext>
            </a:extLst>
          </p:cNvPr>
          <p:cNvSpPr>
            <a:spLocks noGrp="1"/>
          </p:cNvSpPr>
          <p:nvPr>
            <p:ph type="title"/>
          </p:nvPr>
        </p:nvSpPr>
        <p:spPr>
          <a:xfrm>
            <a:off x="1260000" y="180001"/>
            <a:ext cx="10752000" cy="1080000"/>
          </a:xfrm>
        </p:spPr>
        <p:txBody>
          <a:bodyPr/>
          <a:lstStyle/>
          <a:p>
            <a:r>
              <a:rPr lang="en-US"/>
              <a:t>Click to edit Master title style</a:t>
            </a:r>
            <a:endParaRPr lang="en-GB" dirty="0"/>
          </a:p>
        </p:txBody>
      </p:sp>
      <p:sp>
        <p:nvSpPr>
          <p:cNvPr id="8" name="Rectangle 7">
            <a:extLst>
              <a:ext uri="{FF2B5EF4-FFF2-40B4-BE49-F238E27FC236}">
                <a16:creationId xmlns:a16="http://schemas.microsoft.com/office/drawing/2014/main" id="{BE698C75-13EC-5062-8C33-FB6EA3B6EA1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with medium confidence">
            <a:extLst>
              <a:ext uri="{FF2B5EF4-FFF2-40B4-BE49-F238E27FC236}">
                <a16:creationId xmlns:a16="http://schemas.microsoft.com/office/drawing/2014/main" id="{48545D8A-E4D0-E1E3-D60F-F0DE6A6A83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3A80A896-FA5F-C9E7-A841-FAC1D51DF9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5" name="Date Placeholder 4">
            <a:extLst>
              <a:ext uri="{FF2B5EF4-FFF2-40B4-BE49-F238E27FC236}">
                <a16:creationId xmlns:a16="http://schemas.microsoft.com/office/drawing/2014/main" id="{03D83F9C-612E-2F5A-705E-C985988C8C91}"/>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C699F5FB-398E-C359-A32C-A34070022BB7}"/>
              </a:ext>
            </a:extLst>
          </p:cNvPr>
          <p:cNvSpPr>
            <a:spLocks noGrp="1"/>
          </p:cNvSpPr>
          <p:nvPr>
            <p:ph type="ftr" sz="quarter" idx="11"/>
          </p:nvPr>
        </p:nvSpPr>
        <p:spPr/>
        <p:txBody>
          <a:bodyPr/>
          <a:lstStyle/>
          <a:p>
            <a:r>
              <a:rPr lang="en-GB"/>
              <a:t>RicoSLAM: Long-Term Localization and Mapping in Dynamic Environments (TRP Presentation and Discussion)</a:t>
            </a:r>
            <a:endParaRPr lang="en-GB" dirty="0"/>
          </a:p>
        </p:txBody>
      </p:sp>
      <p:sp>
        <p:nvSpPr>
          <p:cNvPr id="7" name="Slide Number Placeholder 6">
            <a:extLst>
              <a:ext uri="{FF2B5EF4-FFF2-40B4-BE49-F238E27FC236}">
                <a16:creationId xmlns:a16="http://schemas.microsoft.com/office/drawing/2014/main" id="{31177A24-776E-72D2-4DBD-FCAD38DE9960}"/>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25" name="Content Placeholder 2">
            <a:extLst>
              <a:ext uri="{FF2B5EF4-FFF2-40B4-BE49-F238E27FC236}">
                <a16:creationId xmlns:a16="http://schemas.microsoft.com/office/drawing/2014/main" id="{F5EE5015-1C20-7C52-3586-728BB50F5A35}"/>
              </a:ext>
            </a:extLst>
          </p:cNvPr>
          <p:cNvSpPr>
            <a:spLocks noGrp="1"/>
          </p:cNvSpPr>
          <p:nvPr>
            <p:ph idx="1"/>
          </p:nvPr>
        </p:nvSpPr>
        <p:spPr>
          <a:xfrm>
            <a:off x="1260000" y="1350000"/>
            <a:ext cx="5328000" cy="496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6" name="Content Placeholder 2">
            <a:extLst>
              <a:ext uri="{FF2B5EF4-FFF2-40B4-BE49-F238E27FC236}">
                <a16:creationId xmlns:a16="http://schemas.microsoft.com/office/drawing/2014/main" id="{C8CE11C8-D922-4CE4-B7CB-40DC7D51670D}"/>
              </a:ext>
            </a:extLst>
          </p:cNvPr>
          <p:cNvSpPr>
            <a:spLocks noGrp="1"/>
          </p:cNvSpPr>
          <p:nvPr>
            <p:ph idx="13"/>
          </p:nvPr>
        </p:nvSpPr>
        <p:spPr>
          <a:xfrm>
            <a:off x="6684000" y="1350000"/>
            <a:ext cx="5328000" cy="496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63002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A891-1D2C-00E7-F797-0BBCE132B768}"/>
              </a:ext>
            </a:extLst>
          </p:cNvPr>
          <p:cNvSpPr>
            <a:spLocks noGrp="1"/>
          </p:cNvSpPr>
          <p:nvPr>
            <p:ph type="title"/>
          </p:nvPr>
        </p:nvSpPr>
        <p:spPr>
          <a:xfrm>
            <a:off x="1260000" y="180001"/>
            <a:ext cx="10752000" cy="1080000"/>
          </a:xfrm>
        </p:spPr>
        <p:txBody>
          <a:bodyPr/>
          <a:lstStyle/>
          <a:p>
            <a:r>
              <a:rPr lang="en-US"/>
              <a:t>Click to edit Master title style</a:t>
            </a:r>
            <a:endParaRPr lang="en-GB" dirty="0"/>
          </a:p>
        </p:txBody>
      </p:sp>
      <p:sp>
        <p:nvSpPr>
          <p:cNvPr id="8" name="Rectangle 7">
            <a:extLst>
              <a:ext uri="{FF2B5EF4-FFF2-40B4-BE49-F238E27FC236}">
                <a16:creationId xmlns:a16="http://schemas.microsoft.com/office/drawing/2014/main" id="{BE698C75-13EC-5062-8C33-FB6EA3B6EA1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with medium confidence">
            <a:extLst>
              <a:ext uri="{FF2B5EF4-FFF2-40B4-BE49-F238E27FC236}">
                <a16:creationId xmlns:a16="http://schemas.microsoft.com/office/drawing/2014/main" id="{48545D8A-E4D0-E1E3-D60F-F0DE6A6A83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3A80A896-FA5F-C9E7-A841-FAC1D51DF9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5" name="Date Placeholder 4">
            <a:extLst>
              <a:ext uri="{FF2B5EF4-FFF2-40B4-BE49-F238E27FC236}">
                <a16:creationId xmlns:a16="http://schemas.microsoft.com/office/drawing/2014/main" id="{03D83F9C-612E-2F5A-705E-C985988C8C91}"/>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C699F5FB-398E-C359-A32C-A34070022BB7}"/>
              </a:ext>
            </a:extLst>
          </p:cNvPr>
          <p:cNvSpPr>
            <a:spLocks noGrp="1"/>
          </p:cNvSpPr>
          <p:nvPr>
            <p:ph type="ftr" sz="quarter" idx="11"/>
          </p:nvPr>
        </p:nvSpPr>
        <p:spPr/>
        <p:txBody>
          <a:bodyPr/>
          <a:lstStyle/>
          <a:p>
            <a:r>
              <a:rPr lang="en-GB"/>
              <a:t>RicoSLAM: Long-Term Localization and Mapping in Dynamic Environments (TRP Presentation and Discussion)</a:t>
            </a:r>
            <a:endParaRPr lang="en-GB" dirty="0"/>
          </a:p>
        </p:txBody>
      </p:sp>
      <p:sp>
        <p:nvSpPr>
          <p:cNvPr id="7" name="Slide Number Placeholder 6">
            <a:extLst>
              <a:ext uri="{FF2B5EF4-FFF2-40B4-BE49-F238E27FC236}">
                <a16:creationId xmlns:a16="http://schemas.microsoft.com/office/drawing/2014/main" id="{31177A24-776E-72D2-4DBD-FCAD38DE9960}"/>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25" name="Content Placeholder 2">
            <a:extLst>
              <a:ext uri="{FF2B5EF4-FFF2-40B4-BE49-F238E27FC236}">
                <a16:creationId xmlns:a16="http://schemas.microsoft.com/office/drawing/2014/main" id="{F5EE5015-1C20-7C52-3586-728BB50F5A35}"/>
              </a:ext>
            </a:extLst>
          </p:cNvPr>
          <p:cNvSpPr>
            <a:spLocks noGrp="1"/>
          </p:cNvSpPr>
          <p:nvPr>
            <p:ph idx="1"/>
          </p:nvPr>
        </p:nvSpPr>
        <p:spPr>
          <a:xfrm>
            <a:off x="1260000" y="1350000"/>
            <a:ext cx="5328000" cy="447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6" name="Content Placeholder 2">
            <a:extLst>
              <a:ext uri="{FF2B5EF4-FFF2-40B4-BE49-F238E27FC236}">
                <a16:creationId xmlns:a16="http://schemas.microsoft.com/office/drawing/2014/main" id="{C8CE11C8-D922-4CE4-B7CB-40DC7D51670D}"/>
              </a:ext>
            </a:extLst>
          </p:cNvPr>
          <p:cNvSpPr>
            <a:spLocks noGrp="1"/>
          </p:cNvSpPr>
          <p:nvPr>
            <p:ph idx="13"/>
          </p:nvPr>
        </p:nvSpPr>
        <p:spPr>
          <a:xfrm>
            <a:off x="6684000" y="1350000"/>
            <a:ext cx="5328000" cy="4470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3">
            <a:extLst>
              <a:ext uri="{FF2B5EF4-FFF2-40B4-BE49-F238E27FC236}">
                <a16:creationId xmlns:a16="http://schemas.microsoft.com/office/drawing/2014/main" id="{31DD4FAB-6B41-C30C-373B-06481413FCDE}"/>
              </a:ext>
            </a:extLst>
          </p:cNvPr>
          <p:cNvSpPr>
            <a:spLocks noGrp="1"/>
          </p:cNvSpPr>
          <p:nvPr>
            <p:ph type="body" sz="half" idx="2"/>
          </p:nvPr>
        </p:nvSpPr>
        <p:spPr>
          <a:xfrm>
            <a:off x="1260000" y="5820375"/>
            <a:ext cx="5328000"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DAEC1EB5-E04C-901B-1E84-C6E94D8E06E2}"/>
              </a:ext>
            </a:extLst>
          </p:cNvPr>
          <p:cNvSpPr>
            <a:spLocks noGrp="1"/>
          </p:cNvSpPr>
          <p:nvPr>
            <p:ph type="body" sz="half" idx="14"/>
          </p:nvPr>
        </p:nvSpPr>
        <p:spPr>
          <a:xfrm>
            <a:off x="6684000" y="5820375"/>
            <a:ext cx="5328000"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2506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2D99B3-3CBF-1800-1835-3323A692E97E}"/>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Text&#10;&#10;Description automatically generated with medium confidence">
            <a:extLst>
              <a:ext uri="{FF2B5EF4-FFF2-40B4-BE49-F238E27FC236}">
                <a16:creationId xmlns:a16="http://schemas.microsoft.com/office/drawing/2014/main" id="{61EC1891-BA91-3432-62A3-08B8DF89C3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9785B31F-3BE5-AB48-539C-45C26EA302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Title 1">
            <a:extLst>
              <a:ext uri="{FF2B5EF4-FFF2-40B4-BE49-F238E27FC236}">
                <a16:creationId xmlns:a16="http://schemas.microsoft.com/office/drawing/2014/main" id="{E44155EF-C7BF-D51F-C02B-FA6963360300}"/>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E185BD3D-CDEA-6358-3FF9-10AFC709B8B4}"/>
              </a:ext>
            </a:extLst>
          </p:cNvPr>
          <p:cNvSpPr>
            <a:spLocks noGrp="1"/>
          </p:cNvSpPr>
          <p:nvPr>
            <p:ph type="dt" sz="half" idx="10"/>
          </p:nvPr>
        </p:nvSpPr>
        <p:spPr/>
        <p:txBody>
          <a:bodyPr/>
          <a:lstStyle/>
          <a:p>
            <a:r>
              <a:rPr lang="en-GB"/>
              <a:t>12/01/2023</a:t>
            </a:r>
          </a:p>
        </p:txBody>
      </p:sp>
      <p:sp>
        <p:nvSpPr>
          <p:cNvPr id="4" name="Footer Placeholder 3">
            <a:extLst>
              <a:ext uri="{FF2B5EF4-FFF2-40B4-BE49-F238E27FC236}">
                <a16:creationId xmlns:a16="http://schemas.microsoft.com/office/drawing/2014/main" id="{077E79E1-9C29-49CF-CEF2-3B394F5123FB}"/>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E309F038-BB4C-04E5-D082-6F4F1AA1A358}"/>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378347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2D99B3-3CBF-1800-1835-3323A692E97E}"/>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Text&#10;&#10;Description automatically generated with medium confidence">
            <a:extLst>
              <a:ext uri="{FF2B5EF4-FFF2-40B4-BE49-F238E27FC236}">
                <a16:creationId xmlns:a16="http://schemas.microsoft.com/office/drawing/2014/main" id="{61EC1891-BA91-3432-62A3-08B8DF89C3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9785B31F-3BE5-AB48-539C-45C26EA302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Title 1">
            <a:extLst>
              <a:ext uri="{FF2B5EF4-FFF2-40B4-BE49-F238E27FC236}">
                <a16:creationId xmlns:a16="http://schemas.microsoft.com/office/drawing/2014/main" id="{E44155EF-C7BF-D51F-C02B-FA6963360300}"/>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E185BD3D-CDEA-6358-3FF9-10AFC709B8B4}"/>
              </a:ext>
            </a:extLst>
          </p:cNvPr>
          <p:cNvSpPr>
            <a:spLocks noGrp="1"/>
          </p:cNvSpPr>
          <p:nvPr>
            <p:ph type="dt" sz="half" idx="10"/>
          </p:nvPr>
        </p:nvSpPr>
        <p:spPr/>
        <p:txBody>
          <a:bodyPr/>
          <a:lstStyle/>
          <a:p>
            <a:r>
              <a:rPr lang="en-GB"/>
              <a:t>12/01/2023</a:t>
            </a:r>
          </a:p>
        </p:txBody>
      </p:sp>
      <p:sp>
        <p:nvSpPr>
          <p:cNvPr id="4" name="Footer Placeholder 3">
            <a:extLst>
              <a:ext uri="{FF2B5EF4-FFF2-40B4-BE49-F238E27FC236}">
                <a16:creationId xmlns:a16="http://schemas.microsoft.com/office/drawing/2014/main" id="{077E79E1-9C29-49CF-CEF2-3B394F5123FB}"/>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E309F038-BB4C-04E5-D082-6F4F1AA1A358}"/>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10" name="Text Placeholder 3">
            <a:extLst>
              <a:ext uri="{FF2B5EF4-FFF2-40B4-BE49-F238E27FC236}">
                <a16:creationId xmlns:a16="http://schemas.microsoft.com/office/drawing/2014/main" id="{A91EF3B8-AEA4-4FFF-28B5-EBF46CFB8CBB}"/>
              </a:ext>
            </a:extLst>
          </p:cNvPr>
          <p:cNvSpPr>
            <a:spLocks noGrp="1"/>
          </p:cNvSpPr>
          <p:nvPr>
            <p:ph type="body" sz="half" idx="2"/>
          </p:nvPr>
        </p:nvSpPr>
        <p:spPr>
          <a:xfrm>
            <a:off x="1260000" y="5820375"/>
            <a:ext cx="10752000"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6201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327EDA-3F70-1378-23B2-53FF375A2418}"/>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Text&#10;&#10;Description automatically generated with medium confidence">
            <a:extLst>
              <a:ext uri="{FF2B5EF4-FFF2-40B4-BE49-F238E27FC236}">
                <a16:creationId xmlns:a16="http://schemas.microsoft.com/office/drawing/2014/main" id="{6C650E62-1CFF-E0F5-9A9E-BA7E6CF21A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7" name="Picture 6" descr="A picture containing text, clipart&#10;&#10;Description automatically generated">
            <a:extLst>
              <a:ext uri="{FF2B5EF4-FFF2-40B4-BE49-F238E27FC236}">
                <a16:creationId xmlns:a16="http://schemas.microsoft.com/office/drawing/2014/main" id="{1BDA5C4F-BE61-6839-6F14-F68EF76D9FB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Date Placeholder 1">
            <a:extLst>
              <a:ext uri="{FF2B5EF4-FFF2-40B4-BE49-F238E27FC236}">
                <a16:creationId xmlns:a16="http://schemas.microsoft.com/office/drawing/2014/main" id="{F1D55BE0-8968-F2A0-C2D9-9B00B6571176}"/>
              </a:ext>
            </a:extLst>
          </p:cNvPr>
          <p:cNvSpPr>
            <a:spLocks noGrp="1"/>
          </p:cNvSpPr>
          <p:nvPr>
            <p:ph type="dt" sz="half" idx="10"/>
          </p:nvPr>
        </p:nvSpPr>
        <p:spPr/>
        <p:txBody>
          <a:bodyPr/>
          <a:lstStyle/>
          <a:p>
            <a:r>
              <a:rPr lang="en-GB"/>
              <a:t>12/01/2023</a:t>
            </a:r>
          </a:p>
        </p:txBody>
      </p:sp>
      <p:sp>
        <p:nvSpPr>
          <p:cNvPr id="3" name="Footer Placeholder 2">
            <a:extLst>
              <a:ext uri="{FF2B5EF4-FFF2-40B4-BE49-F238E27FC236}">
                <a16:creationId xmlns:a16="http://schemas.microsoft.com/office/drawing/2014/main" id="{ED74A721-EA2C-C3BA-A16C-BD0085D74F26}"/>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4" name="Slide Number Placeholder 3">
            <a:extLst>
              <a:ext uri="{FF2B5EF4-FFF2-40B4-BE49-F238E27FC236}">
                <a16:creationId xmlns:a16="http://schemas.microsoft.com/office/drawing/2014/main" id="{9F07B170-F6F4-C460-234F-684D9379C37D}"/>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85212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F6158-1557-F3E4-8237-012A155B8F8F}"/>
              </a:ext>
            </a:extLst>
          </p:cNvPr>
          <p:cNvSpPr>
            <a:spLocks noGrp="1"/>
          </p:cNvSpPr>
          <p:nvPr>
            <p:ph idx="1"/>
          </p:nvPr>
        </p:nvSpPr>
        <p:spPr>
          <a:xfrm>
            <a:off x="5372234" y="179999"/>
            <a:ext cx="6639766" cy="6130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Rectangle 7">
            <a:extLst>
              <a:ext uri="{FF2B5EF4-FFF2-40B4-BE49-F238E27FC236}">
                <a16:creationId xmlns:a16="http://schemas.microsoft.com/office/drawing/2014/main" id="{0B1DC8A0-BD1E-9066-9F47-451486E101D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Text&#10;&#10;Description automatically generated with medium confidence">
            <a:extLst>
              <a:ext uri="{FF2B5EF4-FFF2-40B4-BE49-F238E27FC236}">
                <a16:creationId xmlns:a16="http://schemas.microsoft.com/office/drawing/2014/main" id="{75583962-9519-F081-0498-AB8143FE71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9958A95A-85E5-FFC3-D1D1-8878739788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5" name="Date Placeholder 4">
            <a:extLst>
              <a:ext uri="{FF2B5EF4-FFF2-40B4-BE49-F238E27FC236}">
                <a16:creationId xmlns:a16="http://schemas.microsoft.com/office/drawing/2014/main" id="{BBF9D1F9-C8F6-A430-6193-3FEDE5AB6E62}"/>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1A20FE98-C3DF-A70D-8BA8-18271C216461}"/>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7" name="Slide Number Placeholder 6">
            <a:extLst>
              <a:ext uri="{FF2B5EF4-FFF2-40B4-BE49-F238E27FC236}">
                <a16:creationId xmlns:a16="http://schemas.microsoft.com/office/drawing/2014/main" id="{088B1D51-4B73-459E-411D-9184973F135A}"/>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11" name="Title 1">
            <a:extLst>
              <a:ext uri="{FF2B5EF4-FFF2-40B4-BE49-F238E27FC236}">
                <a16:creationId xmlns:a16="http://schemas.microsoft.com/office/drawing/2014/main" id="{6F56094E-9198-4A58-5A5F-E3E89588C35F}"/>
              </a:ext>
            </a:extLst>
          </p:cNvPr>
          <p:cNvSpPr>
            <a:spLocks noGrp="1"/>
          </p:cNvSpPr>
          <p:nvPr>
            <p:ph type="title"/>
          </p:nvPr>
        </p:nvSpPr>
        <p:spPr>
          <a:xfrm>
            <a:off x="1260000" y="179999"/>
            <a:ext cx="3932237" cy="1600200"/>
          </a:xfrm>
        </p:spPr>
        <p:txBody>
          <a:bodyPr anchor="b"/>
          <a:lstStyle>
            <a:lvl1pPr>
              <a:defRPr sz="3200"/>
            </a:lvl1pPr>
          </a:lstStyle>
          <a:p>
            <a:r>
              <a:rPr lang="en-US"/>
              <a:t>Click to edit Master title style</a:t>
            </a:r>
            <a:endParaRPr lang="en-GB" dirty="0"/>
          </a:p>
        </p:txBody>
      </p:sp>
      <p:sp>
        <p:nvSpPr>
          <p:cNvPr id="12" name="Text Placeholder 3">
            <a:extLst>
              <a:ext uri="{FF2B5EF4-FFF2-40B4-BE49-F238E27FC236}">
                <a16:creationId xmlns:a16="http://schemas.microsoft.com/office/drawing/2014/main" id="{DCAA64AF-FD71-5F92-0FBE-666DD9B7C5EC}"/>
              </a:ext>
            </a:extLst>
          </p:cNvPr>
          <p:cNvSpPr>
            <a:spLocks noGrp="1"/>
          </p:cNvSpPr>
          <p:nvPr>
            <p:ph type="body" sz="half" idx="2"/>
          </p:nvPr>
        </p:nvSpPr>
        <p:spPr>
          <a:xfrm>
            <a:off x="1259999" y="1870199"/>
            <a:ext cx="3932237" cy="4440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01577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x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F6158-1557-F3E4-8237-012A155B8F8F}"/>
              </a:ext>
            </a:extLst>
          </p:cNvPr>
          <p:cNvSpPr>
            <a:spLocks noGrp="1"/>
          </p:cNvSpPr>
          <p:nvPr>
            <p:ph idx="1"/>
          </p:nvPr>
        </p:nvSpPr>
        <p:spPr>
          <a:xfrm>
            <a:off x="5372234" y="179999"/>
            <a:ext cx="6639766" cy="564037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Rectangle 7">
            <a:extLst>
              <a:ext uri="{FF2B5EF4-FFF2-40B4-BE49-F238E27FC236}">
                <a16:creationId xmlns:a16="http://schemas.microsoft.com/office/drawing/2014/main" id="{0B1DC8A0-BD1E-9066-9F47-451486E101DD}"/>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Text&#10;&#10;Description automatically generated with medium confidence">
            <a:extLst>
              <a:ext uri="{FF2B5EF4-FFF2-40B4-BE49-F238E27FC236}">
                <a16:creationId xmlns:a16="http://schemas.microsoft.com/office/drawing/2014/main" id="{75583962-9519-F081-0498-AB8143FE71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9958A95A-85E5-FFC3-D1D1-8878739788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5" name="Date Placeholder 4">
            <a:extLst>
              <a:ext uri="{FF2B5EF4-FFF2-40B4-BE49-F238E27FC236}">
                <a16:creationId xmlns:a16="http://schemas.microsoft.com/office/drawing/2014/main" id="{BBF9D1F9-C8F6-A430-6193-3FEDE5AB6E62}"/>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1A20FE98-C3DF-A70D-8BA8-18271C216461}"/>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7" name="Slide Number Placeholder 6">
            <a:extLst>
              <a:ext uri="{FF2B5EF4-FFF2-40B4-BE49-F238E27FC236}">
                <a16:creationId xmlns:a16="http://schemas.microsoft.com/office/drawing/2014/main" id="{088B1D51-4B73-459E-411D-9184973F135A}"/>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11" name="Title 1">
            <a:extLst>
              <a:ext uri="{FF2B5EF4-FFF2-40B4-BE49-F238E27FC236}">
                <a16:creationId xmlns:a16="http://schemas.microsoft.com/office/drawing/2014/main" id="{6F56094E-9198-4A58-5A5F-E3E89588C35F}"/>
              </a:ext>
            </a:extLst>
          </p:cNvPr>
          <p:cNvSpPr>
            <a:spLocks noGrp="1"/>
          </p:cNvSpPr>
          <p:nvPr>
            <p:ph type="title"/>
          </p:nvPr>
        </p:nvSpPr>
        <p:spPr>
          <a:xfrm>
            <a:off x="1260000" y="179999"/>
            <a:ext cx="3932237" cy="1600200"/>
          </a:xfrm>
        </p:spPr>
        <p:txBody>
          <a:bodyPr anchor="b"/>
          <a:lstStyle>
            <a:lvl1pPr>
              <a:defRPr sz="3200"/>
            </a:lvl1pPr>
          </a:lstStyle>
          <a:p>
            <a:r>
              <a:rPr lang="en-US"/>
              <a:t>Click to edit Master title style</a:t>
            </a:r>
            <a:endParaRPr lang="en-GB"/>
          </a:p>
        </p:txBody>
      </p:sp>
      <p:sp>
        <p:nvSpPr>
          <p:cNvPr id="12" name="Text Placeholder 3">
            <a:extLst>
              <a:ext uri="{FF2B5EF4-FFF2-40B4-BE49-F238E27FC236}">
                <a16:creationId xmlns:a16="http://schemas.microsoft.com/office/drawing/2014/main" id="{DCAA64AF-FD71-5F92-0FBE-666DD9B7C5EC}"/>
              </a:ext>
            </a:extLst>
          </p:cNvPr>
          <p:cNvSpPr>
            <a:spLocks noGrp="1"/>
          </p:cNvSpPr>
          <p:nvPr>
            <p:ph type="body" sz="half" idx="2"/>
          </p:nvPr>
        </p:nvSpPr>
        <p:spPr>
          <a:xfrm>
            <a:off x="1259999" y="1870199"/>
            <a:ext cx="3932237" cy="4440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ext Placeholder 3">
            <a:extLst>
              <a:ext uri="{FF2B5EF4-FFF2-40B4-BE49-F238E27FC236}">
                <a16:creationId xmlns:a16="http://schemas.microsoft.com/office/drawing/2014/main" id="{89FE6D26-6409-68C0-169A-042F7755B6D0}"/>
              </a:ext>
            </a:extLst>
          </p:cNvPr>
          <p:cNvSpPr>
            <a:spLocks noGrp="1"/>
          </p:cNvSpPr>
          <p:nvPr>
            <p:ph type="body" sz="half" idx="14"/>
          </p:nvPr>
        </p:nvSpPr>
        <p:spPr>
          <a:xfrm>
            <a:off x="5372234" y="5820375"/>
            <a:ext cx="6639766"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37741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D277C1-AF8B-5B21-F15C-6F34A5A41DE2}"/>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with medium confidence">
            <a:extLst>
              <a:ext uri="{FF2B5EF4-FFF2-40B4-BE49-F238E27FC236}">
                <a16:creationId xmlns:a16="http://schemas.microsoft.com/office/drawing/2014/main" id="{5A56976B-1F35-9D6D-9932-9B3189D7B6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CCBDC793-0CCB-0F63-8BCE-7D50446829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Title 1">
            <a:extLst>
              <a:ext uri="{FF2B5EF4-FFF2-40B4-BE49-F238E27FC236}">
                <a16:creationId xmlns:a16="http://schemas.microsoft.com/office/drawing/2014/main" id="{71EBAEB9-75A3-8D93-281D-094D62BC9CFC}"/>
              </a:ext>
            </a:extLst>
          </p:cNvPr>
          <p:cNvSpPr>
            <a:spLocks noGrp="1"/>
          </p:cNvSpPr>
          <p:nvPr>
            <p:ph type="title"/>
          </p:nvPr>
        </p:nvSpPr>
        <p:spPr>
          <a:xfrm>
            <a:off x="1260000" y="179999"/>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EC590C-72CB-0820-73EB-D2A532EAD7CE}"/>
              </a:ext>
            </a:extLst>
          </p:cNvPr>
          <p:cNvSpPr>
            <a:spLocks noGrp="1"/>
          </p:cNvSpPr>
          <p:nvPr>
            <p:ph type="pic" idx="1"/>
          </p:nvPr>
        </p:nvSpPr>
        <p:spPr>
          <a:xfrm>
            <a:off x="5372235" y="179999"/>
            <a:ext cx="6639764" cy="613037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E7B89D1A-26CB-C6AE-AEEA-1C9D07E5D98C}"/>
              </a:ext>
            </a:extLst>
          </p:cNvPr>
          <p:cNvSpPr>
            <a:spLocks noGrp="1"/>
          </p:cNvSpPr>
          <p:nvPr>
            <p:ph type="body" sz="half" idx="2"/>
          </p:nvPr>
        </p:nvSpPr>
        <p:spPr>
          <a:xfrm>
            <a:off x="1259999" y="1870199"/>
            <a:ext cx="3932237" cy="4440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E5D6F5-E0EE-4852-922D-72581E5DA9E8}"/>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1881C58E-C4D0-B129-A854-8CBC450088D3}"/>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7" name="Slide Number Placeholder 6">
            <a:extLst>
              <a:ext uri="{FF2B5EF4-FFF2-40B4-BE49-F238E27FC236}">
                <a16:creationId xmlns:a16="http://schemas.microsoft.com/office/drawing/2014/main" id="{F345DE6B-8332-BD48-B6CB-7F2D3A0D14E7}"/>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2673869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x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D277C1-AF8B-5B21-F15C-6F34A5A41DE2}"/>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with medium confidence">
            <a:extLst>
              <a:ext uri="{FF2B5EF4-FFF2-40B4-BE49-F238E27FC236}">
                <a16:creationId xmlns:a16="http://schemas.microsoft.com/office/drawing/2014/main" id="{5A56976B-1F35-9D6D-9932-9B3189D7B6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CCBDC793-0CCB-0F63-8BCE-7D50446829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Title 1">
            <a:extLst>
              <a:ext uri="{FF2B5EF4-FFF2-40B4-BE49-F238E27FC236}">
                <a16:creationId xmlns:a16="http://schemas.microsoft.com/office/drawing/2014/main" id="{71EBAEB9-75A3-8D93-281D-094D62BC9CFC}"/>
              </a:ext>
            </a:extLst>
          </p:cNvPr>
          <p:cNvSpPr>
            <a:spLocks noGrp="1"/>
          </p:cNvSpPr>
          <p:nvPr>
            <p:ph type="title"/>
          </p:nvPr>
        </p:nvSpPr>
        <p:spPr>
          <a:xfrm>
            <a:off x="1260000" y="179999"/>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EC590C-72CB-0820-73EB-D2A532EAD7CE}"/>
              </a:ext>
            </a:extLst>
          </p:cNvPr>
          <p:cNvSpPr>
            <a:spLocks noGrp="1"/>
          </p:cNvSpPr>
          <p:nvPr>
            <p:ph type="pic" idx="1"/>
          </p:nvPr>
        </p:nvSpPr>
        <p:spPr>
          <a:xfrm>
            <a:off x="5372235" y="179999"/>
            <a:ext cx="6639764" cy="564037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E7B89D1A-26CB-C6AE-AEEA-1C9D07E5D98C}"/>
              </a:ext>
            </a:extLst>
          </p:cNvPr>
          <p:cNvSpPr>
            <a:spLocks noGrp="1"/>
          </p:cNvSpPr>
          <p:nvPr>
            <p:ph type="body" sz="half" idx="2"/>
          </p:nvPr>
        </p:nvSpPr>
        <p:spPr>
          <a:xfrm>
            <a:off x="1259999" y="1870199"/>
            <a:ext cx="3932237" cy="444017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E5D6F5-E0EE-4852-922D-72581E5DA9E8}"/>
              </a:ext>
            </a:extLst>
          </p:cNvPr>
          <p:cNvSpPr>
            <a:spLocks noGrp="1"/>
          </p:cNvSpPr>
          <p:nvPr>
            <p:ph type="dt" sz="half" idx="10"/>
          </p:nvPr>
        </p:nvSpPr>
        <p:spPr/>
        <p:txBody>
          <a:bodyPr/>
          <a:lstStyle/>
          <a:p>
            <a:r>
              <a:rPr lang="en-GB"/>
              <a:t>12/01/2023</a:t>
            </a:r>
          </a:p>
        </p:txBody>
      </p:sp>
      <p:sp>
        <p:nvSpPr>
          <p:cNvPr id="6" name="Footer Placeholder 5">
            <a:extLst>
              <a:ext uri="{FF2B5EF4-FFF2-40B4-BE49-F238E27FC236}">
                <a16:creationId xmlns:a16="http://schemas.microsoft.com/office/drawing/2014/main" id="{1881C58E-C4D0-B129-A854-8CBC450088D3}"/>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7" name="Slide Number Placeholder 6">
            <a:extLst>
              <a:ext uri="{FF2B5EF4-FFF2-40B4-BE49-F238E27FC236}">
                <a16:creationId xmlns:a16="http://schemas.microsoft.com/office/drawing/2014/main" id="{F345DE6B-8332-BD48-B6CB-7F2D3A0D14E7}"/>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
        <p:nvSpPr>
          <p:cNvPr id="9" name="Text Placeholder 3">
            <a:extLst>
              <a:ext uri="{FF2B5EF4-FFF2-40B4-BE49-F238E27FC236}">
                <a16:creationId xmlns:a16="http://schemas.microsoft.com/office/drawing/2014/main" id="{182AC2FC-B53B-61A3-EB43-394A0D8CC0DD}"/>
              </a:ext>
            </a:extLst>
          </p:cNvPr>
          <p:cNvSpPr>
            <a:spLocks noGrp="1"/>
          </p:cNvSpPr>
          <p:nvPr>
            <p:ph type="body" sz="half" idx="14"/>
          </p:nvPr>
        </p:nvSpPr>
        <p:spPr>
          <a:xfrm>
            <a:off x="5372234" y="5820375"/>
            <a:ext cx="6639766" cy="490000"/>
          </a:xfrm>
        </p:spPr>
        <p:txBody>
          <a:bodyPr tIns="90000">
            <a:normAutofit/>
          </a:bodyPr>
          <a:lstStyle>
            <a:lvl1pPr marL="0" indent="0">
              <a:spcBef>
                <a:spcPts val="0"/>
              </a:spcBef>
              <a:buNone/>
              <a:defRPr sz="12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57868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5997-932E-37A6-4183-C95D5FF6DA68}"/>
              </a:ext>
            </a:extLst>
          </p:cNvPr>
          <p:cNvSpPr>
            <a:spLocks noGrp="1"/>
          </p:cNvSpPr>
          <p:nvPr>
            <p:ph type="title"/>
          </p:nvPr>
        </p:nvSpPr>
        <p:spPr/>
        <p:txBody>
          <a:bodyPr/>
          <a:lstStyle/>
          <a:p>
            <a:r>
              <a:rPr lang="en-US"/>
              <a:t>Click to edit Master title style</a:t>
            </a:r>
            <a:endParaRPr lang="en-GB"/>
          </a:p>
        </p:txBody>
      </p:sp>
      <p:sp>
        <p:nvSpPr>
          <p:cNvPr id="7" name="Rectangle 6">
            <a:extLst>
              <a:ext uri="{FF2B5EF4-FFF2-40B4-BE49-F238E27FC236}">
                <a16:creationId xmlns:a16="http://schemas.microsoft.com/office/drawing/2014/main" id="{C56D63B9-B670-4ED0-73DF-6E39ED711088}"/>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with medium confidence">
            <a:extLst>
              <a:ext uri="{FF2B5EF4-FFF2-40B4-BE49-F238E27FC236}">
                <a16:creationId xmlns:a16="http://schemas.microsoft.com/office/drawing/2014/main" id="{E9976F72-593B-BD0F-F5F1-052F45E87D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50730F31-7EAE-AA65-13C2-D4CAF02BB1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3" name="Vertical Text Placeholder 2">
            <a:extLst>
              <a:ext uri="{FF2B5EF4-FFF2-40B4-BE49-F238E27FC236}">
                <a16:creationId xmlns:a16="http://schemas.microsoft.com/office/drawing/2014/main" id="{F5608399-9D8C-2AC1-F711-BDC440C09E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02A0213-089B-86C8-F5DE-6015C4D16EF7}"/>
              </a:ext>
            </a:extLst>
          </p:cNvPr>
          <p:cNvSpPr>
            <a:spLocks noGrp="1"/>
          </p:cNvSpPr>
          <p:nvPr>
            <p:ph type="dt" sz="half" idx="10"/>
          </p:nvPr>
        </p:nvSpPr>
        <p:spPr/>
        <p:txBody>
          <a:bodyPr/>
          <a:lstStyle/>
          <a:p>
            <a:r>
              <a:rPr lang="en-GB"/>
              <a:t>12/01/2023</a:t>
            </a:r>
          </a:p>
        </p:txBody>
      </p:sp>
      <p:sp>
        <p:nvSpPr>
          <p:cNvPr id="5" name="Footer Placeholder 4">
            <a:extLst>
              <a:ext uri="{FF2B5EF4-FFF2-40B4-BE49-F238E27FC236}">
                <a16:creationId xmlns:a16="http://schemas.microsoft.com/office/drawing/2014/main" id="{29786BDB-1EF6-82F3-D53D-7BA05CA5295D}"/>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DFB31D09-00DD-4F71-BA62-C0682D1A53FD}"/>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2834970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50B7BD-F30F-029D-AD93-B242ECA52ADF}"/>
              </a:ext>
            </a:extLst>
          </p:cNvPr>
          <p:cNvSpPr/>
          <p:nvPr userDrawn="1"/>
        </p:nvSpPr>
        <p:spPr>
          <a:xfrm>
            <a:off x="0" y="0"/>
            <a:ext cx="108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Text&#10;&#10;Description automatically generated with medium confidence">
            <a:extLst>
              <a:ext uri="{FF2B5EF4-FFF2-40B4-BE49-F238E27FC236}">
                <a16:creationId xmlns:a16="http://schemas.microsoft.com/office/drawing/2014/main" id="{F55E184F-FF27-5194-3691-3ED7B45BF6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607302" y="877301"/>
            <a:ext cx="2294603" cy="900000"/>
          </a:xfrm>
          <a:prstGeom prst="rect">
            <a:avLst/>
          </a:prstGeom>
        </p:spPr>
      </p:pic>
      <p:pic>
        <p:nvPicPr>
          <p:cNvPr id="23" name="Picture 22" descr="A picture containing text, clipart&#10;&#10;Description automatically generated">
            <a:extLst>
              <a:ext uri="{FF2B5EF4-FFF2-40B4-BE49-F238E27FC236}">
                <a16:creationId xmlns:a16="http://schemas.microsoft.com/office/drawing/2014/main" id="{3DD85FA4-185D-0946-D609-43A00A0FCDE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997416" y="3652018"/>
            <a:ext cx="3074831" cy="900000"/>
          </a:xfrm>
          <a:prstGeom prst="rect">
            <a:avLst/>
          </a:prstGeom>
        </p:spPr>
      </p:pic>
      <p:sp>
        <p:nvSpPr>
          <p:cNvPr id="2" name="Vertical Title 1">
            <a:extLst>
              <a:ext uri="{FF2B5EF4-FFF2-40B4-BE49-F238E27FC236}">
                <a16:creationId xmlns:a16="http://schemas.microsoft.com/office/drawing/2014/main" id="{FD55A9C0-61EB-C9EF-D953-3AD2291C64DD}"/>
              </a:ext>
            </a:extLst>
          </p:cNvPr>
          <p:cNvSpPr>
            <a:spLocks noGrp="1"/>
          </p:cNvSpPr>
          <p:nvPr>
            <p:ph type="title" orient="vert"/>
          </p:nvPr>
        </p:nvSpPr>
        <p:spPr>
          <a:xfrm>
            <a:off x="10392000" y="179999"/>
            <a:ext cx="1620000" cy="6130376"/>
          </a:xfrm>
        </p:spPr>
        <p:txBody>
          <a:bodyPr vert="eaVert"/>
          <a:lstStyle>
            <a:lvl1pPr>
              <a:defRPr/>
            </a:lvl1p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D70F235A-6691-55E9-39BE-3A8A5408F882}"/>
              </a:ext>
            </a:extLst>
          </p:cNvPr>
          <p:cNvSpPr>
            <a:spLocks noGrp="1"/>
          </p:cNvSpPr>
          <p:nvPr>
            <p:ph type="body" orient="vert" idx="1"/>
          </p:nvPr>
        </p:nvSpPr>
        <p:spPr>
          <a:xfrm>
            <a:off x="1260000" y="179999"/>
            <a:ext cx="9042000" cy="61303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C389B50D-BFC6-48AE-9732-FC191C9CD4E9}"/>
              </a:ext>
            </a:extLst>
          </p:cNvPr>
          <p:cNvSpPr>
            <a:spLocks noGrp="1"/>
          </p:cNvSpPr>
          <p:nvPr>
            <p:ph type="dt" sz="half" idx="10"/>
          </p:nvPr>
        </p:nvSpPr>
        <p:spPr/>
        <p:txBody>
          <a:bodyPr/>
          <a:lstStyle/>
          <a:p>
            <a:r>
              <a:rPr lang="en-GB"/>
              <a:t>12/01/2023</a:t>
            </a:r>
          </a:p>
        </p:txBody>
      </p:sp>
      <p:sp>
        <p:nvSpPr>
          <p:cNvPr id="5" name="Footer Placeholder 4">
            <a:extLst>
              <a:ext uri="{FF2B5EF4-FFF2-40B4-BE49-F238E27FC236}">
                <a16:creationId xmlns:a16="http://schemas.microsoft.com/office/drawing/2014/main" id="{F3763673-00C3-80DD-DD9F-FB060950C1B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18E3EC80-A1D9-4A49-A20F-557559856577}"/>
              </a:ext>
            </a:extLst>
          </p:cNvPr>
          <p:cNvSpPr>
            <a:spLocks noGrp="1"/>
          </p:cNvSpPr>
          <p:nvPr>
            <p:ph type="sldNum" sz="quarter" idx="12"/>
          </p:nvPr>
        </p:nvSpPr>
        <p:spPr/>
        <p:txBody>
          <a:bodyPr/>
          <a:lstStyle>
            <a:lvl1pPr>
              <a:defRPr>
                <a:solidFill>
                  <a:schemeClr val="bg1"/>
                </a:solidFill>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272070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9838A8-6E38-582B-C0BD-8C49DB9875F7}"/>
              </a:ext>
            </a:extLst>
          </p:cNvPr>
          <p:cNvSpPr>
            <a:spLocks noGrp="1"/>
          </p:cNvSpPr>
          <p:nvPr>
            <p:ph type="title"/>
          </p:nvPr>
        </p:nvSpPr>
        <p:spPr>
          <a:xfrm>
            <a:off x="1260000" y="180000"/>
            <a:ext cx="10752000" cy="1080000"/>
          </a:xfrm>
          <a:prstGeom prst="rect">
            <a:avLst/>
          </a:prstGeom>
        </p:spPr>
        <p:txBody>
          <a:bodyPr vert="horz" lIns="91440" tIns="45720" rIns="91440" bIns="45720" rtlCol="0" anchor="b">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4BF473E-E7DC-1FFE-5CA1-26A048E30A95}"/>
              </a:ext>
            </a:extLst>
          </p:cNvPr>
          <p:cNvSpPr>
            <a:spLocks noGrp="1"/>
          </p:cNvSpPr>
          <p:nvPr>
            <p:ph type="body" idx="1"/>
          </p:nvPr>
        </p:nvSpPr>
        <p:spPr>
          <a:xfrm>
            <a:off x="1260000" y="1350000"/>
            <a:ext cx="10752000" cy="49603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C355CC96-0976-0CD8-70E4-E93CAD2CF07D}"/>
              </a:ext>
            </a:extLst>
          </p:cNvPr>
          <p:cNvSpPr>
            <a:spLocks noGrp="1"/>
          </p:cNvSpPr>
          <p:nvPr>
            <p:ph type="dt" sz="half" idx="2"/>
          </p:nvPr>
        </p:nvSpPr>
        <p:spPr>
          <a:xfrm>
            <a:off x="11112000" y="6400375"/>
            <a:ext cx="900000" cy="365125"/>
          </a:xfrm>
          <a:prstGeom prst="rect">
            <a:avLst/>
          </a:prstGeom>
        </p:spPr>
        <p:txBody>
          <a:bodyPr vert="horz" lIns="0" tIns="45720" rIns="0" bIns="45720" rtlCol="0" anchor="ctr"/>
          <a:lstStyle>
            <a:lvl1pPr algn="r">
              <a:defRPr sz="1200" i="1">
                <a:solidFill>
                  <a:schemeClr val="tx1"/>
                </a:solidFill>
                <a:latin typeface="Arial" panose="020B0604020202020204" pitchFamily="34" charset="0"/>
                <a:cs typeface="Arial" panose="020B0604020202020204" pitchFamily="34" charset="0"/>
              </a:defRPr>
            </a:lvl1pPr>
          </a:lstStyle>
          <a:p>
            <a:r>
              <a:rPr lang="en-GB"/>
              <a:t>12/01/2023</a:t>
            </a:r>
            <a:endParaRPr lang="en-GB" dirty="0"/>
          </a:p>
        </p:txBody>
      </p:sp>
      <p:sp>
        <p:nvSpPr>
          <p:cNvPr id="5" name="Footer Placeholder 4">
            <a:extLst>
              <a:ext uri="{FF2B5EF4-FFF2-40B4-BE49-F238E27FC236}">
                <a16:creationId xmlns:a16="http://schemas.microsoft.com/office/drawing/2014/main" id="{79393578-9975-41E5-83E7-062A63B70CD6}"/>
              </a:ext>
            </a:extLst>
          </p:cNvPr>
          <p:cNvSpPr>
            <a:spLocks noGrp="1"/>
          </p:cNvSpPr>
          <p:nvPr>
            <p:ph type="ftr" sz="quarter" idx="3"/>
          </p:nvPr>
        </p:nvSpPr>
        <p:spPr>
          <a:xfrm>
            <a:off x="2340000" y="6400375"/>
            <a:ext cx="8592000" cy="365125"/>
          </a:xfrm>
          <a:prstGeom prst="rect">
            <a:avLst/>
          </a:prstGeom>
        </p:spPr>
        <p:txBody>
          <a:bodyPr vert="horz" lIns="91440" tIns="45720" rIns="91440" bIns="45720" rtlCol="0" anchor="ctr"/>
          <a:lstStyle>
            <a:lvl1pPr algn="ctr">
              <a:defRPr sz="1200" i="1">
                <a:solidFill>
                  <a:schemeClr val="tx1"/>
                </a:solidFill>
                <a:latin typeface="Arial" panose="020B0604020202020204" pitchFamily="34" charset="0"/>
                <a:cs typeface="Arial" panose="020B0604020202020204" pitchFamily="34" charset="0"/>
              </a:defRPr>
            </a:lvl1pPr>
          </a:lstStyle>
          <a:p>
            <a:r>
              <a:rPr lang="en-GB"/>
              <a:t>RicoSLAM: Long-Term Localization and Mapping in Dynamic Environments (TRP Presentation and Discussion)</a:t>
            </a:r>
            <a:endParaRPr lang="en-GB" dirty="0"/>
          </a:p>
        </p:txBody>
      </p:sp>
      <p:sp>
        <p:nvSpPr>
          <p:cNvPr id="6" name="Slide Number Placeholder 5">
            <a:extLst>
              <a:ext uri="{FF2B5EF4-FFF2-40B4-BE49-F238E27FC236}">
                <a16:creationId xmlns:a16="http://schemas.microsoft.com/office/drawing/2014/main" id="{1BF8B3E4-51B2-B8C9-AB28-671F3C81E754}"/>
              </a:ext>
            </a:extLst>
          </p:cNvPr>
          <p:cNvSpPr>
            <a:spLocks noGrp="1"/>
          </p:cNvSpPr>
          <p:nvPr>
            <p:ph type="sldNum" sz="quarter" idx="4"/>
          </p:nvPr>
        </p:nvSpPr>
        <p:spPr>
          <a:xfrm>
            <a:off x="180000" y="6400375"/>
            <a:ext cx="720000" cy="365125"/>
          </a:xfrm>
          <a:prstGeom prst="rect">
            <a:avLst/>
          </a:prstGeom>
        </p:spPr>
        <p:txBody>
          <a:bodyPr vert="horz" lIns="91440" tIns="45720" rIns="91440" bIns="45720" rtlCol="0" anchor="ctr"/>
          <a:lstStyle>
            <a:lvl1pPr algn="ctr">
              <a:defRPr sz="1200" i="1">
                <a:solidFill>
                  <a:schemeClr val="tx1"/>
                </a:solidFill>
                <a:latin typeface="Arial" panose="020B0604020202020204" pitchFamily="34" charset="0"/>
                <a:cs typeface="Arial" panose="020B0604020202020204" pitchFamily="34" charset="0"/>
              </a:defRPr>
            </a:lvl1pPr>
          </a:lstStyle>
          <a:p>
            <a:fld id="{72A7675B-5860-4B91-B017-4834F6F27D81}" type="slidenum">
              <a:rPr lang="en-GB" smtClean="0"/>
              <a:pPr/>
              <a:t>‹#›</a:t>
            </a:fld>
            <a:endParaRPr lang="en-GB"/>
          </a:p>
        </p:txBody>
      </p:sp>
    </p:spTree>
    <p:extLst>
      <p:ext uri="{BB962C8B-B14F-4D97-AF65-F5344CB8AC3E}">
        <p14:creationId xmlns:p14="http://schemas.microsoft.com/office/powerpoint/2010/main" val="3587869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63" r:id="rId6"/>
    <p:sldLayoutId id="2147483654" r:id="rId7"/>
    <p:sldLayoutId id="2147483662" r:id="rId8"/>
    <p:sldLayoutId id="2147483655" r:id="rId9"/>
    <p:sldLayoutId id="2147483656" r:id="rId10"/>
    <p:sldLayoutId id="2147483664" r:id="rId11"/>
    <p:sldLayoutId id="2147483657" r:id="rId12"/>
    <p:sldLayoutId id="2147483665" r:id="rId13"/>
    <p:sldLayoutId id="2147483658" r:id="rId14"/>
    <p:sldLayoutId id="2147483659" r:id="rId15"/>
  </p:sldLayoutIdLst>
  <p:hf hdr="0"/>
  <p:txStyles>
    <p:titleStyle>
      <a:lvl1pPr algn="l" defTabSz="914400" rtl="0" eaLnBrk="1" latinLnBrk="0" hangingPunct="1">
        <a:lnSpc>
          <a:spcPct val="90000"/>
        </a:lnSpc>
        <a:spcBef>
          <a:spcPct val="0"/>
        </a:spcBef>
        <a:buNone/>
        <a:defRPr sz="40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just"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commons.wikimedia.org/wiki/File:Memory_multistore_model.svg"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9.sv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adr-association.eu/wp-content/uploads/2020/09/AI-Data-Robotics-Partnership-SRIDA-V3.0-1.pdf" TargetMode="External"/><Relationship Id="rId2" Type="http://schemas.openxmlformats.org/officeDocument/2006/relationships/hyperlink" Target="https://www.agileintelresearch.com/reportdetails/Global-Autonomous-Mobile-Robot-Market/43" TargetMode="External"/><Relationship Id="rId1" Type="http://schemas.openxmlformats.org/officeDocument/2006/relationships/slideLayout" Target="../slideLayouts/slideLayout2.xml"/><Relationship Id="rId4" Type="http://schemas.openxmlformats.org/officeDocument/2006/relationships/hyperlink" Target="https://sdgs.un.org/publications/transforming-our-world-2030-agenda-sustainable-development-17981"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3CF4-44DA-4DBB-9453-0FC92E4B874A}"/>
              </a:ext>
            </a:extLst>
          </p:cNvPr>
          <p:cNvSpPr>
            <a:spLocks noGrp="1"/>
          </p:cNvSpPr>
          <p:nvPr>
            <p:ph type="ctrTitle"/>
          </p:nvPr>
        </p:nvSpPr>
        <p:spPr/>
        <p:txBody>
          <a:bodyPr/>
          <a:lstStyle/>
          <a:p>
            <a:r>
              <a:rPr lang="en-GB" dirty="0" err="1"/>
              <a:t>RicoSLAM</a:t>
            </a:r>
            <a:r>
              <a:rPr lang="en-GB" dirty="0"/>
              <a:t>: Long-Term Localization and</a:t>
            </a:r>
            <a:br>
              <a:rPr lang="en-GB" dirty="0"/>
            </a:br>
            <a:r>
              <a:rPr lang="en-GB" dirty="0"/>
              <a:t>Mapping in Dynamic Environments</a:t>
            </a:r>
          </a:p>
        </p:txBody>
      </p:sp>
      <p:sp>
        <p:nvSpPr>
          <p:cNvPr id="3" name="Subtitle 2">
            <a:extLst>
              <a:ext uri="{FF2B5EF4-FFF2-40B4-BE49-F238E27FC236}">
                <a16:creationId xmlns:a16="http://schemas.microsoft.com/office/drawing/2014/main" id="{A3EF54C3-BEF0-43F0-CA9A-B7FC8DEA4FF3}"/>
              </a:ext>
            </a:extLst>
          </p:cNvPr>
          <p:cNvSpPr>
            <a:spLocks noGrp="1"/>
          </p:cNvSpPr>
          <p:nvPr>
            <p:ph type="subTitle" idx="1"/>
          </p:nvPr>
        </p:nvSpPr>
        <p:spPr/>
        <p:txBody>
          <a:bodyPr/>
          <a:lstStyle/>
          <a:p>
            <a:r>
              <a:rPr lang="en-GB" dirty="0"/>
              <a:t>Ricardo B. Sousa</a:t>
            </a:r>
          </a:p>
          <a:p>
            <a:r>
              <a:rPr lang="en-GB" dirty="0"/>
              <a:t>Thesis Research Plan – Doctoral Program in Electrical and Computers Engineering</a:t>
            </a:r>
          </a:p>
          <a:p>
            <a:r>
              <a:rPr lang="en-GB" dirty="0"/>
              <a:t>Zoom Meeting, January 12, 2023</a:t>
            </a:r>
          </a:p>
          <a:p>
            <a:endParaRPr lang="en-GB" dirty="0"/>
          </a:p>
          <a:p>
            <a:r>
              <a:rPr lang="en-GB" dirty="0"/>
              <a:t>Prof. António Paulo Moreira, PhD (Supervisor)</a:t>
            </a:r>
          </a:p>
          <a:p>
            <a:r>
              <a:rPr lang="en-GB" dirty="0" err="1"/>
              <a:t>Héber</a:t>
            </a:r>
            <a:r>
              <a:rPr lang="en-GB" dirty="0"/>
              <a:t> Miguel </a:t>
            </a:r>
            <a:r>
              <a:rPr lang="en-GB" dirty="0" err="1"/>
              <a:t>Sobreira</a:t>
            </a:r>
            <a:r>
              <a:rPr lang="en-GB" dirty="0"/>
              <a:t>, PhD (Second Supervisor)</a:t>
            </a:r>
          </a:p>
        </p:txBody>
      </p:sp>
    </p:spTree>
    <p:extLst>
      <p:ext uri="{BB962C8B-B14F-4D97-AF65-F5344CB8AC3E}">
        <p14:creationId xmlns:p14="http://schemas.microsoft.com/office/powerpoint/2010/main" val="51846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t>Introduction</a:t>
            </a:r>
          </a:p>
          <a:p>
            <a:r>
              <a:rPr lang="en-US" dirty="0"/>
              <a:t>Literature Review</a:t>
            </a:r>
          </a:p>
          <a:p>
            <a:r>
              <a:rPr lang="en-US" dirty="0"/>
              <a:t>Thesis Statement</a:t>
            </a:r>
          </a:p>
          <a:p>
            <a:r>
              <a:rPr lang="en-US" dirty="0"/>
              <a:t>Preliminary Developments</a:t>
            </a:r>
          </a:p>
          <a:p>
            <a:r>
              <a:rPr lang="en-US" dirty="0"/>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fld id="{72A7675B-5860-4B91-B017-4834F6F27D81}" type="slidenum">
              <a:rPr lang="en-GB" smtClean="0"/>
              <a:pPr/>
              <a:t>2</a:t>
            </a:fld>
            <a:endParaRPr lang="en-GB"/>
          </a:p>
        </p:txBody>
      </p:sp>
    </p:spTree>
    <p:extLst>
      <p:ext uri="{BB962C8B-B14F-4D97-AF65-F5344CB8AC3E}">
        <p14:creationId xmlns:p14="http://schemas.microsoft.com/office/powerpoint/2010/main" val="3561683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t>Introduction</a:t>
            </a:r>
          </a:p>
          <a:p>
            <a:pPr lvl="1"/>
            <a:r>
              <a:rPr lang="en-US" dirty="0"/>
              <a:t>Context</a:t>
            </a:r>
          </a:p>
          <a:p>
            <a:pPr lvl="1"/>
            <a:r>
              <a:rPr lang="en-US" dirty="0"/>
              <a:t>Motivations</a:t>
            </a:r>
          </a:p>
          <a:p>
            <a:pPr lvl="1"/>
            <a:r>
              <a:rPr lang="en-US" dirty="0"/>
              <a:t>Goals</a:t>
            </a:r>
          </a:p>
          <a:p>
            <a:r>
              <a:rPr lang="en-US" dirty="0">
                <a:solidFill>
                  <a:schemeClr val="bg1">
                    <a:lumMod val="50000"/>
                  </a:schemeClr>
                </a:solidFill>
              </a:rPr>
              <a:t>Literature Review</a:t>
            </a:r>
          </a:p>
          <a:p>
            <a:r>
              <a:rPr lang="en-US" dirty="0">
                <a:solidFill>
                  <a:schemeClr val="bg1">
                    <a:lumMod val="50000"/>
                  </a:schemeClr>
                </a:solidFill>
              </a:rPr>
              <a:t>Thesis Statement</a:t>
            </a:r>
          </a:p>
          <a:p>
            <a:r>
              <a:rPr lang="en-US" dirty="0">
                <a:solidFill>
                  <a:schemeClr val="bg1">
                    <a:lumMod val="50000"/>
                  </a:schemeClr>
                </a:solidFill>
              </a:rPr>
              <a:t>Preliminary Developments</a:t>
            </a:r>
          </a:p>
          <a:p>
            <a:r>
              <a:rPr lang="en-US" dirty="0">
                <a:solidFill>
                  <a:schemeClr val="bg1">
                    <a:lumMod val="50000"/>
                  </a:schemeClr>
                </a:solidFill>
              </a:rPr>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r>
              <a:rPr lang="en-GB" dirty="0"/>
              <a:t>2</a:t>
            </a:r>
          </a:p>
        </p:txBody>
      </p:sp>
    </p:spTree>
    <p:extLst>
      <p:ext uri="{BB962C8B-B14F-4D97-AF65-F5344CB8AC3E}">
        <p14:creationId xmlns:p14="http://schemas.microsoft.com/office/powerpoint/2010/main" val="2461787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Introduction: Context</a:t>
            </a:r>
          </a:p>
        </p:txBody>
      </p:sp>
      <p:pic>
        <p:nvPicPr>
          <p:cNvPr id="5" name="Content Placeholder 4" descr="Chart, bar chart&#10;&#10;Description automatically generated">
            <a:extLst>
              <a:ext uri="{FF2B5EF4-FFF2-40B4-BE49-F238E27FC236}">
                <a16:creationId xmlns:a16="http://schemas.microsoft.com/office/drawing/2014/main" id="{10B7D262-B9B0-3CB9-FFC9-AB09E3F1D1E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26506" y="1398587"/>
            <a:ext cx="8220075" cy="4371975"/>
          </a:xfrm>
        </p:spPr>
      </p:pic>
      <p:sp>
        <p:nvSpPr>
          <p:cNvPr id="6" name="Text Placeholder 5">
            <a:extLst>
              <a:ext uri="{FF2B5EF4-FFF2-40B4-BE49-F238E27FC236}">
                <a16:creationId xmlns:a16="http://schemas.microsoft.com/office/drawing/2014/main" id="{241B35C4-5EC9-2412-BD41-B1BF7C5CAE62}"/>
              </a:ext>
            </a:extLst>
          </p:cNvPr>
          <p:cNvSpPr>
            <a:spLocks noGrp="1"/>
          </p:cNvSpPr>
          <p:nvPr>
            <p:ph type="body" sz="half" idx="2"/>
          </p:nvPr>
        </p:nvSpPr>
        <p:spPr/>
        <p:txBody>
          <a:bodyPr/>
          <a:lstStyle/>
          <a:p>
            <a:r>
              <a:rPr lang="en-GB" dirty="0"/>
              <a:t>Fig. 1: Global Autonomous Mobile Robot (AMR) market estimated growth by </a:t>
            </a:r>
            <a:r>
              <a:rPr lang="en-GB" dirty="0" err="1"/>
              <a:t>AgileIntel</a:t>
            </a:r>
            <a:r>
              <a:rPr lang="en-GB" dirty="0"/>
              <a:t> Research during 2018–2029 in US$ million [1]</a:t>
            </a:r>
          </a:p>
        </p:txBody>
      </p:sp>
      <p:sp>
        <p:nvSpPr>
          <p:cNvPr id="7" name="Footer Placeholder 6">
            <a:extLst>
              <a:ext uri="{FF2B5EF4-FFF2-40B4-BE49-F238E27FC236}">
                <a16:creationId xmlns:a16="http://schemas.microsoft.com/office/drawing/2014/main" id="{6340F9C2-7DB1-13C9-180F-ED7AF728D6BD}"/>
              </a:ext>
            </a:extLst>
          </p:cNvPr>
          <p:cNvSpPr>
            <a:spLocks noGrp="1"/>
          </p:cNvSpPr>
          <p:nvPr>
            <p:ph type="ftr" sz="quarter" idx="11"/>
          </p:nvPr>
        </p:nvSpPr>
        <p:spPr/>
        <p:txBody>
          <a:bodyPr/>
          <a:lstStyle/>
          <a:p>
            <a:r>
              <a:rPr lang="en-GB"/>
              <a:t>RicoSLAM: Long-Term Localization and Mapping in Dynamic Environments (TRP Presentation and Discussion)</a:t>
            </a:r>
            <a:endParaRPr lang="en-GB" dirty="0"/>
          </a:p>
        </p:txBody>
      </p:sp>
      <p:sp>
        <p:nvSpPr>
          <p:cNvPr id="8" name="Slide Number Placeholder 7">
            <a:extLst>
              <a:ext uri="{FF2B5EF4-FFF2-40B4-BE49-F238E27FC236}">
                <a16:creationId xmlns:a16="http://schemas.microsoft.com/office/drawing/2014/main" id="{45755CEE-D3D7-1889-A020-CCE78A053DF6}"/>
              </a:ext>
            </a:extLst>
          </p:cNvPr>
          <p:cNvSpPr>
            <a:spLocks noGrp="1"/>
          </p:cNvSpPr>
          <p:nvPr>
            <p:ph type="sldNum" sz="quarter" idx="12"/>
          </p:nvPr>
        </p:nvSpPr>
        <p:spPr/>
        <p:txBody>
          <a:bodyPr/>
          <a:lstStyle/>
          <a:p>
            <a:r>
              <a:rPr lang="en-GB" dirty="0"/>
              <a:t>3</a:t>
            </a:r>
          </a:p>
        </p:txBody>
      </p:sp>
      <p:sp>
        <p:nvSpPr>
          <p:cNvPr id="9" name="Date Placeholder 8">
            <a:extLst>
              <a:ext uri="{FF2B5EF4-FFF2-40B4-BE49-F238E27FC236}">
                <a16:creationId xmlns:a16="http://schemas.microsoft.com/office/drawing/2014/main" id="{D454BC88-1726-3FA4-808D-89988C5393AB}"/>
              </a:ext>
            </a:extLst>
          </p:cNvPr>
          <p:cNvSpPr>
            <a:spLocks noGrp="1"/>
          </p:cNvSpPr>
          <p:nvPr>
            <p:ph type="dt" sz="half" idx="10"/>
          </p:nvPr>
        </p:nvSpPr>
        <p:spPr/>
        <p:txBody>
          <a:bodyPr/>
          <a:lstStyle/>
          <a:p>
            <a:r>
              <a:rPr lang="en-GB"/>
              <a:t>12/01/2023</a:t>
            </a:r>
          </a:p>
        </p:txBody>
      </p:sp>
    </p:spTree>
    <p:extLst>
      <p:ext uri="{BB962C8B-B14F-4D97-AF65-F5344CB8AC3E}">
        <p14:creationId xmlns:p14="http://schemas.microsoft.com/office/powerpoint/2010/main" val="354433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FCD3-BC54-A8CB-1718-5F358E0AB4FF}"/>
              </a:ext>
            </a:extLst>
          </p:cNvPr>
          <p:cNvSpPr>
            <a:spLocks noGrp="1"/>
          </p:cNvSpPr>
          <p:nvPr>
            <p:ph type="title"/>
          </p:nvPr>
        </p:nvSpPr>
        <p:spPr/>
        <p:txBody>
          <a:bodyPr/>
          <a:lstStyle/>
          <a:p>
            <a:r>
              <a:rPr lang="en-US" dirty="0"/>
              <a:t>Context</a:t>
            </a:r>
            <a:endParaRPr lang="en-GB" dirty="0"/>
          </a:p>
        </p:txBody>
      </p:sp>
      <p:sp>
        <p:nvSpPr>
          <p:cNvPr id="3" name="Content Placeholder 2">
            <a:extLst>
              <a:ext uri="{FF2B5EF4-FFF2-40B4-BE49-F238E27FC236}">
                <a16:creationId xmlns:a16="http://schemas.microsoft.com/office/drawing/2014/main" id="{B2B74FCA-06F2-87D7-76A5-00BF4E6A14A7}"/>
              </a:ext>
            </a:extLst>
          </p:cNvPr>
          <p:cNvSpPr>
            <a:spLocks noGrp="1"/>
          </p:cNvSpPr>
          <p:nvPr>
            <p:ph idx="1"/>
          </p:nvPr>
        </p:nvSpPr>
        <p:spPr/>
        <p:txBody>
          <a:bodyPr/>
          <a:lstStyle/>
          <a:p>
            <a:r>
              <a:rPr lang="en-GB" dirty="0"/>
              <a:t>Autonomous Mobile Robots (AMRs) requires an environment representation</a:t>
            </a:r>
          </a:p>
          <a:p>
            <a:r>
              <a:rPr lang="en-GB" dirty="0"/>
              <a:t>Simultaneous Localization and Mapping </a:t>
            </a:r>
            <a:r>
              <a:rPr lang="en-US" dirty="0"/>
              <a:t>(SLAM)</a:t>
            </a:r>
          </a:p>
          <a:p>
            <a:pPr lvl="1"/>
            <a:r>
              <a:rPr lang="en-GB" dirty="0"/>
              <a:t>Robot pose estimation</a:t>
            </a:r>
          </a:p>
          <a:p>
            <a:pPr lvl="1"/>
            <a:r>
              <a:rPr lang="en-GB" dirty="0"/>
              <a:t>Mapping the environment</a:t>
            </a:r>
          </a:p>
        </p:txBody>
      </p:sp>
      <p:sp>
        <p:nvSpPr>
          <p:cNvPr id="4" name="Footer Placeholder 3">
            <a:extLst>
              <a:ext uri="{FF2B5EF4-FFF2-40B4-BE49-F238E27FC236}">
                <a16:creationId xmlns:a16="http://schemas.microsoft.com/office/drawing/2014/main" id="{002AEF8F-FF03-9AC4-E402-4556312A8555}"/>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47582CE3-1D04-6974-4B01-99BF1C136CC5}"/>
              </a:ext>
            </a:extLst>
          </p:cNvPr>
          <p:cNvSpPr>
            <a:spLocks noGrp="1"/>
          </p:cNvSpPr>
          <p:nvPr>
            <p:ph type="sldNum" sz="quarter" idx="12"/>
          </p:nvPr>
        </p:nvSpPr>
        <p:spPr/>
        <p:txBody>
          <a:bodyPr/>
          <a:lstStyle/>
          <a:p>
            <a:r>
              <a:rPr lang="en-GB" dirty="0"/>
              <a:t>4</a:t>
            </a:r>
          </a:p>
        </p:txBody>
      </p:sp>
      <p:sp>
        <p:nvSpPr>
          <p:cNvPr id="8" name="Date Placeholder 7">
            <a:extLst>
              <a:ext uri="{FF2B5EF4-FFF2-40B4-BE49-F238E27FC236}">
                <a16:creationId xmlns:a16="http://schemas.microsoft.com/office/drawing/2014/main" id="{FEFFCD17-943F-65E5-4F83-E889B2A6BB62}"/>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1367645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FCD3-BC54-A8CB-1718-5F358E0AB4FF}"/>
              </a:ext>
            </a:extLst>
          </p:cNvPr>
          <p:cNvSpPr>
            <a:spLocks noGrp="1"/>
          </p:cNvSpPr>
          <p:nvPr>
            <p:ph type="title"/>
          </p:nvPr>
        </p:nvSpPr>
        <p:spPr/>
        <p:txBody>
          <a:bodyPr/>
          <a:lstStyle/>
          <a:p>
            <a:r>
              <a:rPr lang="en-US" dirty="0"/>
              <a:t>Context</a:t>
            </a:r>
            <a:endParaRPr lang="en-GB" dirty="0"/>
          </a:p>
        </p:txBody>
      </p:sp>
      <p:sp>
        <p:nvSpPr>
          <p:cNvPr id="3" name="Content Placeholder 2">
            <a:extLst>
              <a:ext uri="{FF2B5EF4-FFF2-40B4-BE49-F238E27FC236}">
                <a16:creationId xmlns:a16="http://schemas.microsoft.com/office/drawing/2014/main" id="{B2B74FCA-06F2-87D7-76A5-00BF4E6A14A7}"/>
              </a:ext>
            </a:extLst>
          </p:cNvPr>
          <p:cNvSpPr>
            <a:spLocks noGrp="1"/>
          </p:cNvSpPr>
          <p:nvPr>
            <p:ph idx="1"/>
          </p:nvPr>
        </p:nvSpPr>
        <p:spPr/>
        <p:txBody>
          <a:bodyPr/>
          <a:lstStyle/>
          <a:p>
            <a:r>
              <a:rPr lang="en-GB" dirty="0"/>
              <a:t>Autonomous Mobile Robots (AMRs) requires an environment representation</a:t>
            </a:r>
          </a:p>
          <a:p>
            <a:r>
              <a:rPr lang="en-GB" dirty="0"/>
              <a:t>Simultaneous Localization and Mapping </a:t>
            </a:r>
            <a:r>
              <a:rPr lang="en-US" dirty="0"/>
              <a:t>(SLAM)</a:t>
            </a:r>
          </a:p>
          <a:p>
            <a:pPr lvl="1"/>
            <a:r>
              <a:rPr lang="en-GB" dirty="0"/>
              <a:t>Robot pose estimation</a:t>
            </a:r>
          </a:p>
          <a:p>
            <a:pPr lvl="1"/>
            <a:r>
              <a:rPr lang="en-GB" dirty="0"/>
              <a:t>Mapping the environment</a:t>
            </a:r>
          </a:p>
          <a:p>
            <a:pPr>
              <a:spcBef>
                <a:spcPts val="3000"/>
              </a:spcBef>
            </a:pPr>
            <a:r>
              <a:rPr lang="en-GB" dirty="0"/>
              <a:t>Static scene only requires mapping once the environment</a:t>
            </a:r>
          </a:p>
          <a:p>
            <a:r>
              <a:rPr lang="en-GB" dirty="0"/>
              <a:t>Real world is not static!</a:t>
            </a:r>
          </a:p>
          <a:p>
            <a:pPr lvl="1"/>
            <a:r>
              <a:rPr lang="en-GB" dirty="0"/>
              <a:t>Moving elements</a:t>
            </a:r>
          </a:p>
          <a:p>
            <a:pPr lvl="1"/>
            <a:r>
              <a:rPr lang="en-GB" dirty="0"/>
              <a:t>Environment reconfiguration</a:t>
            </a:r>
          </a:p>
          <a:p>
            <a:pPr lvl="1"/>
            <a:r>
              <a:rPr lang="en-GB" dirty="0"/>
              <a:t>Appearance variations</a:t>
            </a:r>
          </a:p>
        </p:txBody>
      </p:sp>
      <p:sp>
        <p:nvSpPr>
          <p:cNvPr id="4" name="Footer Placeholder 3">
            <a:extLst>
              <a:ext uri="{FF2B5EF4-FFF2-40B4-BE49-F238E27FC236}">
                <a16:creationId xmlns:a16="http://schemas.microsoft.com/office/drawing/2014/main" id="{002AEF8F-FF03-9AC4-E402-4556312A8555}"/>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47582CE3-1D04-6974-4B01-99BF1C136CC5}"/>
              </a:ext>
            </a:extLst>
          </p:cNvPr>
          <p:cNvSpPr>
            <a:spLocks noGrp="1"/>
          </p:cNvSpPr>
          <p:nvPr>
            <p:ph type="sldNum" sz="quarter" idx="12"/>
          </p:nvPr>
        </p:nvSpPr>
        <p:spPr/>
        <p:txBody>
          <a:bodyPr/>
          <a:lstStyle/>
          <a:p>
            <a:r>
              <a:rPr lang="en-GB" dirty="0"/>
              <a:t>4</a:t>
            </a:r>
          </a:p>
        </p:txBody>
      </p:sp>
      <p:sp>
        <p:nvSpPr>
          <p:cNvPr id="8" name="Date Placeholder 7">
            <a:extLst>
              <a:ext uri="{FF2B5EF4-FFF2-40B4-BE49-F238E27FC236}">
                <a16:creationId xmlns:a16="http://schemas.microsoft.com/office/drawing/2014/main" id="{3466C27F-394F-0E8D-E311-DEDA6FD41D77}"/>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3112684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FCD3-BC54-A8CB-1718-5F358E0AB4FF}"/>
              </a:ext>
            </a:extLst>
          </p:cNvPr>
          <p:cNvSpPr>
            <a:spLocks noGrp="1"/>
          </p:cNvSpPr>
          <p:nvPr>
            <p:ph type="title"/>
          </p:nvPr>
        </p:nvSpPr>
        <p:spPr/>
        <p:txBody>
          <a:bodyPr/>
          <a:lstStyle/>
          <a:p>
            <a:r>
              <a:rPr lang="en-US" dirty="0"/>
              <a:t>Context</a:t>
            </a:r>
            <a:endParaRPr lang="en-GB" dirty="0"/>
          </a:p>
        </p:txBody>
      </p:sp>
      <p:sp>
        <p:nvSpPr>
          <p:cNvPr id="3" name="Content Placeholder 2">
            <a:extLst>
              <a:ext uri="{FF2B5EF4-FFF2-40B4-BE49-F238E27FC236}">
                <a16:creationId xmlns:a16="http://schemas.microsoft.com/office/drawing/2014/main" id="{B2B74FCA-06F2-87D7-76A5-00BF4E6A14A7}"/>
              </a:ext>
            </a:extLst>
          </p:cNvPr>
          <p:cNvSpPr>
            <a:spLocks noGrp="1"/>
          </p:cNvSpPr>
          <p:nvPr>
            <p:ph idx="1"/>
          </p:nvPr>
        </p:nvSpPr>
        <p:spPr/>
        <p:txBody>
          <a:bodyPr/>
          <a:lstStyle/>
          <a:p>
            <a:r>
              <a:rPr lang="en-GB" dirty="0"/>
              <a:t>Autonomous Mobile Robots (AMRs) requires an environment representation</a:t>
            </a:r>
          </a:p>
          <a:p>
            <a:r>
              <a:rPr lang="en-GB" dirty="0"/>
              <a:t>Simultaneous Localization and Mapping </a:t>
            </a:r>
            <a:r>
              <a:rPr lang="en-US" dirty="0"/>
              <a:t>(SLAM)</a:t>
            </a:r>
          </a:p>
          <a:p>
            <a:pPr lvl="1"/>
            <a:r>
              <a:rPr lang="en-GB" dirty="0"/>
              <a:t>Robot pose estimation</a:t>
            </a:r>
          </a:p>
          <a:p>
            <a:pPr lvl="1"/>
            <a:r>
              <a:rPr lang="en-GB" dirty="0"/>
              <a:t>Mapping the environment</a:t>
            </a:r>
          </a:p>
          <a:p>
            <a:pPr>
              <a:spcBef>
                <a:spcPts val="3000"/>
              </a:spcBef>
            </a:pPr>
            <a:r>
              <a:rPr lang="en-GB" dirty="0"/>
              <a:t>Static scene only requires mapping once the environment</a:t>
            </a:r>
          </a:p>
          <a:p>
            <a:r>
              <a:rPr lang="en-GB" dirty="0"/>
              <a:t>Real world is not static!</a:t>
            </a:r>
          </a:p>
          <a:p>
            <a:pPr lvl="1"/>
            <a:r>
              <a:rPr lang="en-GB" dirty="0"/>
              <a:t>Moving elements</a:t>
            </a:r>
          </a:p>
          <a:p>
            <a:pPr lvl="1"/>
            <a:r>
              <a:rPr lang="en-GB" dirty="0"/>
              <a:t>Environment reconfiguration</a:t>
            </a:r>
          </a:p>
          <a:p>
            <a:pPr lvl="1"/>
            <a:r>
              <a:rPr lang="en-GB" dirty="0"/>
              <a:t>Appearance variations</a:t>
            </a:r>
          </a:p>
        </p:txBody>
      </p:sp>
      <p:sp>
        <p:nvSpPr>
          <p:cNvPr id="4" name="Footer Placeholder 3">
            <a:extLst>
              <a:ext uri="{FF2B5EF4-FFF2-40B4-BE49-F238E27FC236}">
                <a16:creationId xmlns:a16="http://schemas.microsoft.com/office/drawing/2014/main" id="{002AEF8F-FF03-9AC4-E402-4556312A8555}"/>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47582CE3-1D04-6974-4B01-99BF1C136CC5}"/>
              </a:ext>
            </a:extLst>
          </p:cNvPr>
          <p:cNvSpPr>
            <a:spLocks noGrp="1"/>
          </p:cNvSpPr>
          <p:nvPr>
            <p:ph type="sldNum" sz="quarter" idx="12"/>
          </p:nvPr>
        </p:nvSpPr>
        <p:spPr/>
        <p:txBody>
          <a:bodyPr/>
          <a:lstStyle/>
          <a:p>
            <a:r>
              <a:rPr lang="en-GB" dirty="0"/>
              <a:t>4</a:t>
            </a:r>
          </a:p>
        </p:txBody>
      </p:sp>
      <p:sp>
        <p:nvSpPr>
          <p:cNvPr id="6" name="Content Placeholder 2">
            <a:extLst>
              <a:ext uri="{FF2B5EF4-FFF2-40B4-BE49-F238E27FC236}">
                <a16:creationId xmlns:a16="http://schemas.microsoft.com/office/drawing/2014/main" id="{15233176-66C0-FF5A-BAE2-DCDC3128FEDE}"/>
              </a:ext>
            </a:extLst>
          </p:cNvPr>
          <p:cNvSpPr txBox="1">
            <a:spLocks/>
          </p:cNvSpPr>
          <p:nvPr/>
        </p:nvSpPr>
        <p:spPr>
          <a:xfrm>
            <a:off x="6227180" y="1851949"/>
            <a:ext cx="5784820" cy="4458425"/>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just"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2000" dirty="0"/>
          </a:p>
          <a:p>
            <a:endParaRPr lang="en-US" sz="2000" dirty="0"/>
          </a:p>
          <a:p>
            <a:pPr lvl="1"/>
            <a:endParaRPr lang="en-GB" sz="1800" dirty="0"/>
          </a:p>
          <a:p>
            <a:pPr lvl="1"/>
            <a:endParaRPr lang="en-GB" sz="1800" dirty="0"/>
          </a:p>
          <a:p>
            <a:pPr>
              <a:spcBef>
                <a:spcPts val="3000"/>
              </a:spcBef>
            </a:pPr>
            <a:endParaRPr lang="en-GB" sz="2000" dirty="0"/>
          </a:p>
          <a:p>
            <a:r>
              <a:rPr lang="en-GB" sz="2000" dirty="0">
                <a:solidFill>
                  <a:srgbClr val="FF0000"/>
                </a:solidFill>
              </a:rPr>
              <a:t>How to update the map?</a:t>
            </a:r>
          </a:p>
          <a:p>
            <a:pPr lvl="1"/>
            <a:r>
              <a:rPr lang="en-GB" sz="1600" dirty="0">
                <a:solidFill>
                  <a:srgbClr val="FF0000"/>
                </a:solidFill>
              </a:rPr>
              <a:t>Only most current state?</a:t>
            </a:r>
          </a:p>
          <a:p>
            <a:pPr lvl="1"/>
            <a:r>
              <a:rPr lang="en-GB" sz="1600" dirty="0">
                <a:solidFill>
                  <a:srgbClr val="FF0000"/>
                </a:solidFill>
              </a:rPr>
              <a:t>Only static elements?</a:t>
            </a:r>
          </a:p>
          <a:p>
            <a:r>
              <a:rPr lang="en-GB" sz="2000" dirty="0">
                <a:solidFill>
                  <a:srgbClr val="FF0000"/>
                </a:solidFill>
              </a:rPr>
              <a:t>When?</a:t>
            </a:r>
          </a:p>
          <a:p>
            <a:pPr lvl="1"/>
            <a:r>
              <a:rPr lang="en-GB" sz="1600" dirty="0">
                <a:solidFill>
                  <a:srgbClr val="FF0000"/>
                </a:solidFill>
              </a:rPr>
              <a:t>When changes occur?</a:t>
            </a:r>
          </a:p>
          <a:p>
            <a:pPr lvl="1"/>
            <a:r>
              <a:rPr lang="en-GB" sz="1600" dirty="0">
                <a:solidFill>
                  <a:srgbClr val="FF0000"/>
                </a:solidFill>
              </a:rPr>
              <a:t>After a certain time?</a:t>
            </a:r>
          </a:p>
        </p:txBody>
      </p:sp>
      <p:cxnSp>
        <p:nvCxnSpPr>
          <p:cNvPr id="7" name="Straight Arrow Connector 6">
            <a:extLst>
              <a:ext uri="{FF2B5EF4-FFF2-40B4-BE49-F238E27FC236}">
                <a16:creationId xmlns:a16="http://schemas.microsoft.com/office/drawing/2014/main" id="{95654F0E-8E63-A746-9AB2-1CE2B2086A58}"/>
              </a:ext>
            </a:extLst>
          </p:cNvPr>
          <p:cNvCxnSpPr>
            <a:cxnSpLocks/>
          </p:cNvCxnSpPr>
          <p:nvPr/>
        </p:nvCxnSpPr>
        <p:spPr>
          <a:xfrm>
            <a:off x="5270500" y="4100212"/>
            <a:ext cx="102653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D160CF5B-E7C3-A89B-B3C0-CA1DA1489833}"/>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286574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Motivation</a:t>
            </a:r>
          </a:p>
        </p:txBody>
      </p:sp>
      <p:sp>
        <p:nvSpPr>
          <p:cNvPr id="3" name="Content Placeholder 2">
            <a:extLst>
              <a:ext uri="{FF2B5EF4-FFF2-40B4-BE49-F238E27FC236}">
                <a16:creationId xmlns:a16="http://schemas.microsoft.com/office/drawing/2014/main" id="{71BF261A-9BAB-AD47-AD02-5CF1C36ADF55}"/>
              </a:ext>
            </a:extLst>
          </p:cNvPr>
          <p:cNvSpPr>
            <a:spLocks noGrp="1"/>
          </p:cNvSpPr>
          <p:nvPr>
            <p:ph idx="1"/>
          </p:nvPr>
        </p:nvSpPr>
        <p:spPr/>
        <p:txBody>
          <a:bodyPr/>
          <a:lstStyle/>
          <a:p>
            <a:pPr algn="l"/>
            <a:r>
              <a:rPr lang="en-GB" dirty="0"/>
              <a:t>Strategic Research, Innovation and Deployment Agenda (SRIDA) (September 2020) [2]</a:t>
            </a:r>
          </a:p>
          <a:p>
            <a:pPr lvl="1"/>
            <a:r>
              <a:rPr lang="en-GB" dirty="0"/>
              <a:t>Deal with unpredictable and unknown environments, and irreversible actions</a:t>
            </a:r>
          </a:p>
          <a:p>
            <a:pPr lvl="1"/>
            <a:r>
              <a:rPr lang="en-GB" dirty="0"/>
              <a:t>Avoid unrecoverable states that require the reset of AMRs system</a:t>
            </a:r>
          </a:p>
        </p:txBody>
      </p:sp>
      <p:sp>
        <p:nvSpPr>
          <p:cNvPr id="4" name="Footer Placeholder 3">
            <a:extLst>
              <a:ext uri="{FF2B5EF4-FFF2-40B4-BE49-F238E27FC236}">
                <a16:creationId xmlns:a16="http://schemas.microsoft.com/office/drawing/2014/main" id="{03D14506-5D3C-7935-1520-E46B05BC0BB9}"/>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FF95E5EE-E216-7BD6-F806-6584E28EA0DA}"/>
              </a:ext>
            </a:extLst>
          </p:cNvPr>
          <p:cNvSpPr>
            <a:spLocks noGrp="1"/>
          </p:cNvSpPr>
          <p:nvPr>
            <p:ph type="sldNum" sz="quarter" idx="12"/>
          </p:nvPr>
        </p:nvSpPr>
        <p:spPr/>
        <p:txBody>
          <a:bodyPr/>
          <a:lstStyle/>
          <a:p>
            <a:r>
              <a:rPr lang="en-GB" dirty="0"/>
              <a:t>5</a:t>
            </a:r>
          </a:p>
        </p:txBody>
      </p:sp>
      <p:sp>
        <p:nvSpPr>
          <p:cNvPr id="6" name="Date Placeholder 5">
            <a:extLst>
              <a:ext uri="{FF2B5EF4-FFF2-40B4-BE49-F238E27FC236}">
                <a16:creationId xmlns:a16="http://schemas.microsoft.com/office/drawing/2014/main" id="{33F59C91-C8E6-831E-12AE-04467077D43B}"/>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2034195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Motivation</a:t>
            </a:r>
          </a:p>
        </p:txBody>
      </p:sp>
      <p:sp>
        <p:nvSpPr>
          <p:cNvPr id="3" name="Content Placeholder 2">
            <a:extLst>
              <a:ext uri="{FF2B5EF4-FFF2-40B4-BE49-F238E27FC236}">
                <a16:creationId xmlns:a16="http://schemas.microsoft.com/office/drawing/2014/main" id="{71BF261A-9BAB-AD47-AD02-5CF1C36ADF55}"/>
              </a:ext>
            </a:extLst>
          </p:cNvPr>
          <p:cNvSpPr>
            <a:spLocks noGrp="1"/>
          </p:cNvSpPr>
          <p:nvPr>
            <p:ph idx="1"/>
          </p:nvPr>
        </p:nvSpPr>
        <p:spPr/>
        <p:txBody>
          <a:bodyPr/>
          <a:lstStyle/>
          <a:p>
            <a:pPr algn="l"/>
            <a:r>
              <a:rPr lang="en-GB" dirty="0"/>
              <a:t>Strategic Research, Innovation and Deployment Agenda (SRIDA) (September 2020) [2]</a:t>
            </a:r>
          </a:p>
          <a:p>
            <a:pPr lvl="1"/>
            <a:r>
              <a:rPr lang="en-GB" dirty="0"/>
              <a:t>Deal with unpredictable and unknown environments, and irreversible actions</a:t>
            </a:r>
          </a:p>
          <a:p>
            <a:pPr lvl="1"/>
            <a:r>
              <a:rPr lang="en-GB" dirty="0"/>
              <a:t>Avoid unrecoverable states that require the reset of AMRs system</a:t>
            </a:r>
          </a:p>
          <a:p>
            <a:pPr algn="l"/>
            <a:endParaRPr lang="en-GB" dirty="0"/>
          </a:p>
          <a:p>
            <a:pPr algn="l"/>
            <a:r>
              <a:rPr lang="en-GB" dirty="0"/>
              <a:t>Dynamic elements can make map representations outdated and unusable</a:t>
            </a:r>
          </a:p>
          <a:p>
            <a:pPr lvl="1" algn="l"/>
            <a:r>
              <a:rPr lang="en-GB" dirty="0"/>
              <a:t>Changes in the scene not updated in the map</a:t>
            </a:r>
          </a:p>
          <a:p>
            <a:pPr lvl="1" algn="l"/>
            <a:r>
              <a:rPr lang="en-GB" dirty="0"/>
              <a:t>Outdated map would require a specialized operator for remapping the scene</a:t>
            </a:r>
          </a:p>
        </p:txBody>
      </p:sp>
      <p:sp>
        <p:nvSpPr>
          <p:cNvPr id="4" name="Footer Placeholder 3">
            <a:extLst>
              <a:ext uri="{FF2B5EF4-FFF2-40B4-BE49-F238E27FC236}">
                <a16:creationId xmlns:a16="http://schemas.microsoft.com/office/drawing/2014/main" id="{03D14506-5D3C-7935-1520-E46B05BC0BB9}"/>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FF95E5EE-E216-7BD6-F806-6584E28EA0DA}"/>
              </a:ext>
            </a:extLst>
          </p:cNvPr>
          <p:cNvSpPr>
            <a:spLocks noGrp="1"/>
          </p:cNvSpPr>
          <p:nvPr>
            <p:ph type="sldNum" sz="quarter" idx="12"/>
          </p:nvPr>
        </p:nvSpPr>
        <p:spPr/>
        <p:txBody>
          <a:bodyPr/>
          <a:lstStyle/>
          <a:p>
            <a:r>
              <a:rPr lang="en-GB" dirty="0"/>
              <a:t>5</a:t>
            </a:r>
          </a:p>
        </p:txBody>
      </p:sp>
      <p:sp>
        <p:nvSpPr>
          <p:cNvPr id="6" name="Date Placeholder 5">
            <a:extLst>
              <a:ext uri="{FF2B5EF4-FFF2-40B4-BE49-F238E27FC236}">
                <a16:creationId xmlns:a16="http://schemas.microsoft.com/office/drawing/2014/main" id="{F5DC6BFC-41ED-EBF9-C5CB-5D853BCD4C5B}"/>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299722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Motivation</a:t>
            </a:r>
          </a:p>
        </p:txBody>
      </p:sp>
      <p:sp>
        <p:nvSpPr>
          <p:cNvPr id="3" name="Content Placeholder 2">
            <a:extLst>
              <a:ext uri="{FF2B5EF4-FFF2-40B4-BE49-F238E27FC236}">
                <a16:creationId xmlns:a16="http://schemas.microsoft.com/office/drawing/2014/main" id="{71BF261A-9BAB-AD47-AD02-5CF1C36ADF55}"/>
              </a:ext>
            </a:extLst>
          </p:cNvPr>
          <p:cNvSpPr>
            <a:spLocks noGrp="1"/>
          </p:cNvSpPr>
          <p:nvPr>
            <p:ph idx="1"/>
          </p:nvPr>
        </p:nvSpPr>
        <p:spPr/>
        <p:txBody>
          <a:bodyPr/>
          <a:lstStyle/>
          <a:p>
            <a:pPr algn="l"/>
            <a:r>
              <a:rPr lang="en-GB" dirty="0"/>
              <a:t>Strategic Research, Innovation and Deployment Agenda (SRIDA) (September 2020) [2]</a:t>
            </a:r>
          </a:p>
          <a:p>
            <a:pPr lvl="1"/>
            <a:r>
              <a:rPr lang="en-GB" dirty="0"/>
              <a:t>Deal with unpredictable and unknown environments, and irreversible actions</a:t>
            </a:r>
          </a:p>
          <a:p>
            <a:pPr lvl="1"/>
            <a:r>
              <a:rPr lang="en-GB" dirty="0"/>
              <a:t>Avoid unrecoverable states that require the reset of AMRs system</a:t>
            </a:r>
          </a:p>
          <a:p>
            <a:pPr algn="l"/>
            <a:endParaRPr lang="en-GB" dirty="0"/>
          </a:p>
          <a:p>
            <a:pPr algn="l"/>
            <a:r>
              <a:rPr lang="en-GB" dirty="0"/>
              <a:t>Dynamic elements can make map representations outdated and unusable</a:t>
            </a:r>
          </a:p>
          <a:p>
            <a:pPr lvl="1" algn="l"/>
            <a:r>
              <a:rPr lang="en-GB" dirty="0"/>
              <a:t>Changes in the scene not updated in the map</a:t>
            </a:r>
          </a:p>
          <a:p>
            <a:pPr lvl="1" algn="l"/>
            <a:r>
              <a:rPr lang="en-GB" dirty="0"/>
              <a:t>Outdated map would require a specialized operator for remapping the scene</a:t>
            </a:r>
          </a:p>
          <a:p>
            <a:pPr algn="l"/>
            <a:endParaRPr lang="en-GB" dirty="0"/>
          </a:p>
          <a:p>
            <a:pPr algn="l"/>
            <a:r>
              <a:rPr lang="en-GB" dirty="0"/>
              <a:t>Interpretation and dealing with dynamic changes online would improve the efficiency and self-awareness of those systems</a:t>
            </a:r>
          </a:p>
        </p:txBody>
      </p:sp>
      <p:sp>
        <p:nvSpPr>
          <p:cNvPr id="4" name="Footer Placeholder 3">
            <a:extLst>
              <a:ext uri="{FF2B5EF4-FFF2-40B4-BE49-F238E27FC236}">
                <a16:creationId xmlns:a16="http://schemas.microsoft.com/office/drawing/2014/main" id="{03D14506-5D3C-7935-1520-E46B05BC0BB9}"/>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FF95E5EE-E216-7BD6-F806-6584E28EA0DA}"/>
              </a:ext>
            </a:extLst>
          </p:cNvPr>
          <p:cNvSpPr>
            <a:spLocks noGrp="1"/>
          </p:cNvSpPr>
          <p:nvPr>
            <p:ph type="sldNum" sz="quarter" idx="12"/>
          </p:nvPr>
        </p:nvSpPr>
        <p:spPr/>
        <p:txBody>
          <a:bodyPr/>
          <a:lstStyle/>
          <a:p>
            <a:r>
              <a:rPr lang="en-GB" dirty="0"/>
              <a:t>5</a:t>
            </a:r>
          </a:p>
        </p:txBody>
      </p:sp>
      <p:sp>
        <p:nvSpPr>
          <p:cNvPr id="6" name="Date Placeholder 5">
            <a:extLst>
              <a:ext uri="{FF2B5EF4-FFF2-40B4-BE49-F238E27FC236}">
                <a16:creationId xmlns:a16="http://schemas.microsoft.com/office/drawing/2014/main" id="{28FCF327-7319-05FE-EC51-4EEF2E854EF4}"/>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385779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Goals</a:t>
            </a:r>
          </a:p>
        </p:txBody>
      </p:sp>
      <p:sp>
        <p:nvSpPr>
          <p:cNvPr id="3" name="Content Placeholder 2">
            <a:extLst>
              <a:ext uri="{FF2B5EF4-FFF2-40B4-BE49-F238E27FC236}">
                <a16:creationId xmlns:a16="http://schemas.microsoft.com/office/drawing/2014/main" id="{71BF261A-9BAB-AD47-AD02-5CF1C36ADF55}"/>
              </a:ext>
            </a:extLst>
          </p:cNvPr>
          <p:cNvSpPr>
            <a:spLocks noGrp="1"/>
          </p:cNvSpPr>
          <p:nvPr>
            <p:ph idx="1"/>
          </p:nvPr>
        </p:nvSpPr>
        <p:spPr/>
        <p:txBody>
          <a:bodyPr/>
          <a:lstStyle/>
          <a:p>
            <a:r>
              <a:rPr lang="en-US" dirty="0"/>
              <a:t>Modeling</a:t>
            </a:r>
            <a:r>
              <a:rPr lang="en-GB" dirty="0"/>
              <a:t> of environment dynamics perceived by different sensors</a:t>
            </a:r>
          </a:p>
          <a:p>
            <a:endParaRPr lang="en-GB" dirty="0"/>
          </a:p>
          <a:p>
            <a:r>
              <a:rPr lang="en-US" dirty="0"/>
              <a:t>Incorporate the modeled dynamics in both localization and mapping</a:t>
            </a:r>
          </a:p>
          <a:p>
            <a:endParaRPr lang="en-US" dirty="0"/>
          </a:p>
          <a:p>
            <a:r>
              <a:rPr lang="en-US" dirty="0"/>
              <a:t>Lifelong SLAM in dynamic environments with an AMR</a:t>
            </a:r>
          </a:p>
        </p:txBody>
      </p:sp>
      <p:sp>
        <p:nvSpPr>
          <p:cNvPr id="4" name="Footer Placeholder 3">
            <a:extLst>
              <a:ext uri="{FF2B5EF4-FFF2-40B4-BE49-F238E27FC236}">
                <a16:creationId xmlns:a16="http://schemas.microsoft.com/office/drawing/2014/main" id="{BA07EA47-A93F-8DDD-623A-5D8D7DB538E9}"/>
              </a:ext>
            </a:extLst>
          </p:cNvPr>
          <p:cNvSpPr>
            <a:spLocks noGrp="1"/>
          </p:cNvSpPr>
          <p:nvPr>
            <p:ph type="ftr" sz="quarter" idx="11"/>
          </p:nvPr>
        </p:nvSpPr>
        <p:spPr/>
        <p:txBody>
          <a:bodyPr/>
          <a:lstStyle/>
          <a:p>
            <a:r>
              <a:rPr lang="en-US" dirty="0" err="1"/>
              <a:t>RicoSLAM</a:t>
            </a:r>
            <a:r>
              <a:rPr lang="en-GB" dirty="0"/>
              <a:t>: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5253DA05-9680-3070-7CAF-90A96B65B19C}"/>
              </a:ext>
            </a:extLst>
          </p:cNvPr>
          <p:cNvSpPr>
            <a:spLocks noGrp="1"/>
          </p:cNvSpPr>
          <p:nvPr>
            <p:ph type="sldNum" sz="quarter" idx="12"/>
          </p:nvPr>
        </p:nvSpPr>
        <p:spPr/>
        <p:txBody>
          <a:bodyPr/>
          <a:lstStyle/>
          <a:p>
            <a:r>
              <a:rPr lang="en-GB" dirty="0"/>
              <a:t>6</a:t>
            </a:r>
          </a:p>
        </p:txBody>
      </p:sp>
      <p:sp>
        <p:nvSpPr>
          <p:cNvPr id="6" name="Date Placeholder 5">
            <a:extLst>
              <a:ext uri="{FF2B5EF4-FFF2-40B4-BE49-F238E27FC236}">
                <a16:creationId xmlns:a16="http://schemas.microsoft.com/office/drawing/2014/main" id="{2998864F-A362-92D7-EAA7-FB0B63BB3A86}"/>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1081045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solidFill>
                  <a:schemeClr val="bg1">
                    <a:lumMod val="50000"/>
                  </a:schemeClr>
                </a:solidFill>
              </a:rPr>
              <a:t>Introduction</a:t>
            </a:r>
          </a:p>
          <a:p>
            <a:r>
              <a:rPr lang="en-US" dirty="0"/>
              <a:t>Literature Review</a:t>
            </a:r>
          </a:p>
          <a:p>
            <a:pPr lvl="1"/>
            <a:r>
              <a:rPr lang="en-US" dirty="0"/>
              <a:t>Methodology</a:t>
            </a:r>
          </a:p>
          <a:p>
            <a:pPr lvl="1"/>
            <a:r>
              <a:rPr lang="en-US" dirty="0"/>
              <a:t>SLAM</a:t>
            </a:r>
          </a:p>
          <a:p>
            <a:pPr lvl="1"/>
            <a:r>
              <a:rPr lang="en-GB" dirty="0"/>
              <a:t>Long-term SLAM in Dynamic Environments</a:t>
            </a:r>
          </a:p>
          <a:p>
            <a:pPr lvl="1"/>
            <a:r>
              <a:rPr lang="en-GB" dirty="0"/>
              <a:t>Open Challenges</a:t>
            </a:r>
            <a:endParaRPr lang="en-US" dirty="0"/>
          </a:p>
          <a:p>
            <a:r>
              <a:rPr lang="en-US" dirty="0">
                <a:solidFill>
                  <a:schemeClr val="bg1">
                    <a:lumMod val="50000"/>
                  </a:schemeClr>
                </a:solidFill>
              </a:rPr>
              <a:t>Thesis Statement</a:t>
            </a:r>
          </a:p>
          <a:p>
            <a:r>
              <a:rPr lang="en-US" dirty="0">
                <a:solidFill>
                  <a:schemeClr val="bg1">
                    <a:lumMod val="50000"/>
                  </a:schemeClr>
                </a:solidFill>
              </a:rPr>
              <a:t>Preliminary Developments</a:t>
            </a:r>
          </a:p>
          <a:p>
            <a:r>
              <a:rPr lang="en-US" dirty="0">
                <a:solidFill>
                  <a:schemeClr val="bg1">
                    <a:lumMod val="50000"/>
                  </a:schemeClr>
                </a:solidFill>
              </a:rPr>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r>
              <a:rPr lang="en-GB" dirty="0"/>
              <a:t>8</a:t>
            </a:r>
          </a:p>
        </p:txBody>
      </p:sp>
    </p:spTree>
    <p:extLst>
      <p:ext uri="{BB962C8B-B14F-4D97-AF65-F5344CB8AC3E}">
        <p14:creationId xmlns:p14="http://schemas.microsoft.com/office/powerpoint/2010/main" val="2135509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61A0-A3E2-6D03-E4FA-C2842DD221CF}"/>
              </a:ext>
            </a:extLst>
          </p:cNvPr>
          <p:cNvSpPr>
            <a:spLocks noGrp="1"/>
          </p:cNvSpPr>
          <p:nvPr>
            <p:ph type="title"/>
          </p:nvPr>
        </p:nvSpPr>
        <p:spPr/>
        <p:txBody>
          <a:bodyPr/>
          <a:lstStyle/>
          <a:p>
            <a:r>
              <a:rPr lang="en-US" dirty="0"/>
              <a:t>Literature Review: Methodology</a:t>
            </a:r>
            <a:endParaRPr lang="en-GB" dirty="0"/>
          </a:p>
        </p:txBody>
      </p:sp>
      <p:sp>
        <p:nvSpPr>
          <p:cNvPr id="6" name="Date Placeholder 5">
            <a:extLst>
              <a:ext uri="{FF2B5EF4-FFF2-40B4-BE49-F238E27FC236}">
                <a16:creationId xmlns:a16="http://schemas.microsoft.com/office/drawing/2014/main" id="{AE49FF57-8C6A-D952-FD6C-1A4DF67AF758}"/>
              </a:ext>
            </a:extLst>
          </p:cNvPr>
          <p:cNvSpPr>
            <a:spLocks noGrp="1"/>
          </p:cNvSpPr>
          <p:nvPr>
            <p:ph type="dt" sz="half" idx="10"/>
          </p:nvPr>
        </p:nvSpPr>
        <p:spPr/>
        <p:txBody>
          <a:bodyPr/>
          <a:lstStyle/>
          <a:p>
            <a:r>
              <a:rPr lang="en-GB"/>
              <a:t>12/01/2023</a:t>
            </a:r>
            <a:endParaRPr lang="en-GB" dirty="0"/>
          </a:p>
        </p:txBody>
      </p:sp>
      <p:sp>
        <p:nvSpPr>
          <p:cNvPr id="4" name="Footer Placeholder 3">
            <a:extLst>
              <a:ext uri="{FF2B5EF4-FFF2-40B4-BE49-F238E27FC236}">
                <a16:creationId xmlns:a16="http://schemas.microsoft.com/office/drawing/2014/main" id="{8EA8E2A2-497D-7AFB-DEDF-1941FB744A1E}"/>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7CC019A7-E1E9-30B2-9978-EA6D0088DC66}"/>
              </a:ext>
            </a:extLst>
          </p:cNvPr>
          <p:cNvSpPr>
            <a:spLocks noGrp="1"/>
          </p:cNvSpPr>
          <p:nvPr>
            <p:ph type="sldNum" sz="quarter" idx="12"/>
          </p:nvPr>
        </p:nvSpPr>
        <p:spPr/>
        <p:txBody>
          <a:bodyPr/>
          <a:lstStyle/>
          <a:p>
            <a:r>
              <a:rPr lang="en-GB" dirty="0"/>
              <a:t>8</a:t>
            </a:r>
          </a:p>
        </p:txBody>
      </p:sp>
      <p:sp>
        <p:nvSpPr>
          <p:cNvPr id="7" name="Content Placeholder 6">
            <a:extLst>
              <a:ext uri="{FF2B5EF4-FFF2-40B4-BE49-F238E27FC236}">
                <a16:creationId xmlns:a16="http://schemas.microsoft.com/office/drawing/2014/main" id="{46BA28F2-C9A6-795F-7770-9E0B4FD4BA6D}"/>
              </a:ext>
            </a:extLst>
          </p:cNvPr>
          <p:cNvSpPr>
            <a:spLocks noGrp="1"/>
          </p:cNvSpPr>
          <p:nvPr>
            <p:ph idx="1"/>
          </p:nvPr>
        </p:nvSpPr>
        <p:spPr>
          <a:xfrm>
            <a:off x="1260000" y="1350000"/>
            <a:ext cx="5328000" cy="4960375"/>
          </a:xfrm>
        </p:spPr>
        <p:txBody>
          <a:bodyPr/>
          <a:lstStyle/>
          <a:p>
            <a:r>
              <a:rPr lang="en-US" dirty="0"/>
              <a:t>Search base string</a:t>
            </a:r>
          </a:p>
          <a:p>
            <a:pPr marL="360000" indent="0">
              <a:buNone/>
            </a:pPr>
            <a:r>
              <a:rPr lang="en-US" sz="1800" dirty="0">
                <a:latin typeface="Consolas" panose="020B0609020204030204" pitchFamily="49" charset="0"/>
              </a:rPr>
              <a:t>(robot* OR vehicle*) AND</a:t>
            </a:r>
          </a:p>
          <a:p>
            <a:pPr marL="360000" indent="0">
              <a:buNone/>
            </a:pPr>
            <a:r>
              <a:rPr lang="en-US" sz="1800" dirty="0">
                <a:latin typeface="Consolas" panose="020B0609020204030204" pitchFamily="49" charset="0"/>
              </a:rPr>
              <a:t>((</a:t>
            </a:r>
            <a:r>
              <a:rPr lang="en-US" sz="1800" dirty="0" err="1">
                <a:latin typeface="Consolas" panose="020B0609020204030204" pitchFamily="49" charset="0"/>
              </a:rPr>
              <a:t>locali</a:t>
            </a:r>
            <a:r>
              <a:rPr lang="en-US" sz="1800" dirty="0">
                <a:latin typeface="Consolas" panose="020B0609020204030204" pitchFamily="49" charset="0"/>
              </a:rPr>
              <a:t>* AND map*) OR “slam”) AND</a:t>
            </a:r>
          </a:p>
          <a:p>
            <a:pPr marL="360000" indent="0">
              <a:buNone/>
            </a:pPr>
            <a:r>
              <a:rPr lang="en-US" sz="1800" dirty="0">
                <a:latin typeface="Consolas" panose="020B0609020204030204" pitchFamily="49" charset="0"/>
              </a:rPr>
              <a:t>(“long term” OR “life long” OR</a:t>
            </a:r>
          </a:p>
          <a:p>
            <a:pPr marL="360000" indent="0">
              <a:buNone/>
            </a:pPr>
            <a:r>
              <a:rPr lang="en-US" sz="1800" dirty="0">
                <a:latin typeface="Consolas" panose="020B0609020204030204" pitchFamily="49" charset="0"/>
              </a:rPr>
              <a:t> lifelong)</a:t>
            </a:r>
            <a:endParaRPr lang="en-US" dirty="0">
              <a:latin typeface="Consolas" panose="020B0609020204030204" pitchFamily="49" charset="0"/>
            </a:endParaRPr>
          </a:p>
          <a:p>
            <a:pPr lvl="1"/>
            <a:endParaRPr lang="en-US" sz="1200" dirty="0"/>
          </a:p>
          <a:p>
            <a:r>
              <a:rPr lang="en-US" dirty="0"/>
              <a:t>Last full inquiry on May 17, 2022</a:t>
            </a:r>
          </a:p>
          <a:p>
            <a:pPr lvl="1" algn="l"/>
            <a:r>
              <a:rPr lang="en-US" dirty="0">
                <a:solidFill>
                  <a:schemeClr val="bg1"/>
                </a:solidFill>
              </a:rPr>
              <a:t>Update on October 25, 2022, for dynamic environments</a:t>
            </a:r>
          </a:p>
          <a:p>
            <a:pPr lvl="1"/>
            <a:endParaRPr lang="en-US" sz="1200" dirty="0"/>
          </a:p>
          <a:p>
            <a:r>
              <a:rPr lang="en-US" dirty="0"/>
              <a:t>Selection Process</a:t>
            </a:r>
          </a:p>
          <a:p>
            <a:pPr marL="914400" lvl="1" indent="-457200">
              <a:buFont typeface="+mj-lt"/>
              <a:buAutoNum type="arabicPeriod"/>
            </a:pPr>
            <a:r>
              <a:rPr lang="en-US" dirty="0"/>
              <a:t>Identification</a:t>
            </a:r>
          </a:p>
          <a:p>
            <a:pPr marL="914400" lvl="1" indent="-457200">
              <a:buFont typeface="+mj-lt"/>
              <a:buAutoNum type="arabicPeriod"/>
            </a:pPr>
            <a:r>
              <a:rPr lang="en-US" dirty="0"/>
              <a:t>Screening</a:t>
            </a:r>
          </a:p>
          <a:p>
            <a:pPr marL="914400" lvl="1" indent="-457200">
              <a:buFont typeface="+mj-lt"/>
              <a:buAutoNum type="arabicPeriod"/>
            </a:pPr>
            <a:r>
              <a:rPr lang="en-US" dirty="0"/>
              <a:t>Quality Assessment</a:t>
            </a:r>
          </a:p>
        </p:txBody>
      </p:sp>
      <p:sp>
        <p:nvSpPr>
          <p:cNvPr id="10" name="Text Placeholder 9">
            <a:extLst>
              <a:ext uri="{FF2B5EF4-FFF2-40B4-BE49-F238E27FC236}">
                <a16:creationId xmlns:a16="http://schemas.microsoft.com/office/drawing/2014/main" id="{2E99156C-B14D-8C73-A72E-F91B871C4475}"/>
              </a:ext>
            </a:extLst>
          </p:cNvPr>
          <p:cNvSpPr>
            <a:spLocks noGrp="1"/>
          </p:cNvSpPr>
          <p:nvPr>
            <p:ph type="body" sz="half" idx="14"/>
          </p:nvPr>
        </p:nvSpPr>
        <p:spPr/>
        <p:txBody>
          <a:bodyPr/>
          <a:lstStyle/>
          <a:p>
            <a:r>
              <a:rPr lang="en-GB" dirty="0"/>
              <a:t>Fig. 2: PRISMA flow diagram</a:t>
            </a:r>
          </a:p>
        </p:txBody>
      </p:sp>
      <p:pic>
        <p:nvPicPr>
          <p:cNvPr id="17" name="Content Placeholder 16" descr="Diagram&#10;&#10;Description automatically generated">
            <a:extLst>
              <a:ext uri="{FF2B5EF4-FFF2-40B4-BE49-F238E27FC236}">
                <a16:creationId xmlns:a16="http://schemas.microsoft.com/office/drawing/2014/main" id="{9E91ACC7-EB87-4B65-7AE6-AF5A8B77EC95}"/>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7276156" y="1349375"/>
            <a:ext cx="4143676" cy="4470400"/>
          </a:xfrm>
        </p:spPr>
      </p:pic>
    </p:spTree>
    <p:extLst>
      <p:ext uri="{BB962C8B-B14F-4D97-AF65-F5344CB8AC3E}">
        <p14:creationId xmlns:p14="http://schemas.microsoft.com/office/powerpoint/2010/main" val="2554919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61A0-A3E2-6D03-E4FA-C2842DD221CF}"/>
              </a:ext>
            </a:extLst>
          </p:cNvPr>
          <p:cNvSpPr>
            <a:spLocks noGrp="1"/>
          </p:cNvSpPr>
          <p:nvPr>
            <p:ph type="title"/>
          </p:nvPr>
        </p:nvSpPr>
        <p:spPr/>
        <p:txBody>
          <a:bodyPr/>
          <a:lstStyle/>
          <a:p>
            <a:r>
              <a:rPr lang="en-US" dirty="0"/>
              <a:t>Literature Review: Methodology</a:t>
            </a:r>
            <a:endParaRPr lang="en-GB" dirty="0"/>
          </a:p>
        </p:txBody>
      </p:sp>
      <p:sp>
        <p:nvSpPr>
          <p:cNvPr id="6" name="Date Placeholder 5">
            <a:extLst>
              <a:ext uri="{FF2B5EF4-FFF2-40B4-BE49-F238E27FC236}">
                <a16:creationId xmlns:a16="http://schemas.microsoft.com/office/drawing/2014/main" id="{AE49FF57-8C6A-D952-FD6C-1A4DF67AF758}"/>
              </a:ext>
            </a:extLst>
          </p:cNvPr>
          <p:cNvSpPr>
            <a:spLocks noGrp="1"/>
          </p:cNvSpPr>
          <p:nvPr>
            <p:ph type="dt" sz="half" idx="10"/>
          </p:nvPr>
        </p:nvSpPr>
        <p:spPr/>
        <p:txBody>
          <a:bodyPr/>
          <a:lstStyle/>
          <a:p>
            <a:r>
              <a:rPr lang="en-GB"/>
              <a:t>12/01/2023</a:t>
            </a:r>
            <a:endParaRPr lang="en-GB" dirty="0"/>
          </a:p>
        </p:txBody>
      </p:sp>
      <p:sp>
        <p:nvSpPr>
          <p:cNvPr id="4" name="Footer Placeholder 3">
            <a:extLst>
              <a:ext uri="{FF2B5EF4-FFF2-40B4-BE49-F238E27FC236}">
                <a16:creationId xmlns:a16="http://schemas.microsoft.com/office/drawing/2014/main" id="{8EA8E2A2-497D-7AFB-DEDF-1941FB744A1E}"/>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7CC019A7-E1E9-30B2-9978-EA6D0088DC66}"/>
              </a:ext>
            </a:extLst>
          </p:cNvPr>
          <p:cNvSpPr>
            <a:spLocks noGrp="1"/>
          </p:cNvSpPr>
          <p:nvPr>
            <p:ph type="sldNum" sz="quarter" idx="12"/>
          </p:nvPr>
        </p:nvSpPr>
        <p:spPr/>
        <p:txBody>
          <a:bodyPr/>
          <a:lstStyle/>
          <a:p>
            <a:r>
              <a:rPr lang="en-GB" dirty="0"/>
              <a:t>8</a:t>
            </a:r>
          </a:p>
        </p:txBody>
      </p:sp>
      <p:sp>
        <p:nvSpPr>
          <p:cNvPr id="7" name="Content Placeholder 6">
            <a:extLst>
              <a:ext uri="{FF2B5EF4-FFF2-40B4-BE49-F238E27FC236}">
                <a16:creationId xmlns:a16="http://schemas.microsoft.com/office/drawing/2014/main" id="{46BA28F2-C9A6-795F-7770-9E0B4FD4BA6D}"/>
              </a:ext>
            </a:extLst>
          </p:cNvPr>
          <p:cNvSpPr>
            <a:spLocks noGrp="1"/>
          </p:cNvSpPr>
          <p:nvPr>
            <p:ph idx="1"/>
          </p:nvPr>
        </p:nvSpPr>
        <p:spPr>
          <a:xfrm>
            <a:off x="1260000" y="1350000"/>
            <a:ext cx="5328000" cy="4960375"/>
          </a:xfrm>
        </p:spPr>
        <p:txBody>
          <a:bodyPr/>
          <a:lstStyle/>
          <a:p>
            <a:r>
              <a:rPr lang="en-US" dirty="0"/>
              <a:t>Search base string</a:t>
            </a:r>
          </a:p>
          <a:p>
            <a:pPr marL="360000" indent="0">
              <a:buNone/>
            </a:pPr>
            <a:r>
              <a:rPr lang="en-US" sz="1800" dirty="0">
                <a:latin typeface="Consolas" panose="020B0609020204030204" pitchFamily="49" charset="0"/>
              </a:rPr>
              <a:t>(robot* OR vehicle*) AND</a:t>
            </a:r>
          </a:p>
          <a:p>
            <a:pPr marL="360000" indent="0">
              <a:buNone/>
            </a:pPr>
            <a:r>
              <a:rPr lang="en-US" sz="1800" dirty="0">
                <a:latin typeface="Consolas" panose="020B0609020204030204" pitchFamily="49" charset="0"/>
              </a:rPr>
              <a:t>((</a:t>
            </a:r>
            <a:r>
              <a:rPr lang="en-US" sz="1800" dirty="0" err="1">
                <a:latin typeface="Consolas" panose="020B0609020204030204" pitchFamily="49" charset="0"/>
              </a:rPr>
              <a:t>locali</a:t>
            </a:r>
            <a:r>
              <a:rPr lang="en-US" sz="1800" dirty="0">
                <a:latin typeface="Consolas" panose="020B0609020204030204" pitchFamily="49" charset="0"/>
              </a:rPr>
              <a:t>* AND map*) OR “slam”) AND</a:t>
            </a:r>
          </a:p>
          <a:p>
            <a:pPr marL="360000" indent="0">
              <a:buNone/>
            </a:pPr>
            <a:r>
              <a:rPr lang="en-US" sz="1800" dirty="0">
                <a:latin typeface="Consolas" panose="020B0609020204030204" pitchFamily="49" charset="0"/>
              </a:rPr>
              <a:t>(“long term” OR “life long” OR</a:t>
            </a:r>
          </a:p>
          <a:p>
            <a:pPr marL="360000" indent="0">
              <a:buNone/>
            </a:pPr>
            <a:r>
              <a:rPr lang="en-US" sz="1800" dirty="0">
                <a:latin typeface="Consolas" panose="020B0609020204030204" pitchFamily="49" charset="0"/>
              </a:rPr>
              <a:t> lifelong)</a:t>
            </a:r>
            <a:endParaRPr lang="en-US" dirty="0">
              <a:latin typeface="Consolas" panose="020B0609020204030204" pitchFamily="49" charset="0"/>
            </a:endParaRPr>
          </a:p>
          <a:p>
            <a:pPr lvl="1"/>
            <a:endParaRPr lang="en-US" sz="1200" dirty="0"/>
          </a:p>
          <a:p>
            <a:r>
              <a:rPr lang="en-US" dirty="0"/>
              <a:t>Last full inquiry on May 17, 2022</a:t>
            </a:r>
          </a:p>
          <a:p>
            <a:pPr lvl="1" algn="l"/>
            <a:r>
              <a:rPr lang="en-US" dirty="0">
                <a:solidFill>
                  <a:srgbClr val="FF0000"/>
                </a:solidFill>
              </a:rPr>
              <a:t>Update on October 25, 2022, for dynamic environments</a:t>
            </a:r>
          </a:p>
          <a:p>
            <a:pPr lvl="1"/>
            <a:endParaRPr lang="en-US" sz="1200" dirty="0"/>
          </a:p>
          <a:p>
            <a:r>
              <a:rPr lang="en-US" dirty="0"/>
              <a:t>Selection Process</a:t>
            </a:r>
          </a:p>
          <a:p>
            <a:pPr marL="914400" lvl="1" indent="-457200">
              <a:buFont typeface="+mj-lt"/>
              <a:buAutoNum type="arabicPeriod"/>
            </a:pPr>
            <a:r>
              <a:rPr lang="en-US" dirty="0"/>
              <a:t>Identification</a:t>
            </a:r>
          </a:p>
          <a:p>
            <a:pPr marL="914400" lvl="1" indent="-457200">
              <a:buFont typeface="+mj-lt"/>
              <a:buAutoNum type="arabicPeriod"/>
            </a:pPr>
            <a:r>
              <a:rPr lang="en-US" dirty="0"/>
              <a:t>Screening</a:t>
            </a:r>
          </a:p>
          <a:p>
            <a:pPr marL="914400" lvl="1" indent="-457200">
              <a:buFont typeface="+mj-lt"/>
              <a:buAutoNum type="arabicPeriod"/>
            </a:pPr>
            <a:r>
              <a:rPr lang="en-US" dirty="0"/>
              <a:t>Quality Assessment</a:t>
            </a:r>
          </a:p>
        </p:txBody>
      </p:sp>
      <p:sp>
        <p:nvSpPr>
          <p:cNvPr id="10" name="Text Placeholder 9">
            <a:extLst>
              <a:ext uri="{FF2B5EF4-FFF2-40B4-BE49-F238E27FC236}">
                <a16:creationId xmlns:a16="http://schemas.microsoft.com/office/drawing/2014/main" id="{2E99156C-B14D-8C73-A72E-F91B871C4475}"/>
              </a:ext>
            </a:extLst>
          </p:cNvPr>
          <p:cNvSpPr>
            <a:spLocks noGrp="1"/>
          </p:cNvSpPr>
          <p:nvPr>
            <p:ph type="body" sz="half" idx="14"/>
          </p:nvPr>
        </p:nvSpPr>
        <p:spPr/>
        <p:txBody>
          <a:bodyPr/>
          <a:lstStyle/>
          <a:p>
            <a:r>
              <a:rPr lang="en-GB" dirty="0"/>
              <a:t>Fig. 2: PRISMA flow diagram</a:t>
            </a:r>
          </a:p>
        </p:txBody>
      </p:sp>
      <p:pic>
        <p:nvPicPr>
          <p:cNvPr id="12" name="Content Placeholder 11" descr="Diagram&#10;&#10;Description automatically generated">
            <a:extLst>
              <a:ext uri="{FF2B5EF4-FFF2-40B4-BE49-F238E27FC236}">
                <a16:creationId xmlns:a16="http://schemas.microsoft.com/office/drawing/2014/main" id="{B5D9851B-06EE-9509-8A8B-4B7D35F231AC}"/>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7276156" y="1349375"/>
            <a:ext cx="4143676" cy="4470400"/>
          </a:xfrm>
        </p:spPr>
      </p:pic>
    </p:spTree>
    <p:extLst>
      <p:ext uri="{BB962C8B-B14F-4D97-AF65-F5344CB8AC3E}">
        <p14:creationId xmlns:p14="http://schemas.microsoft.com/office/powerpoint/2010/main" val="2967825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50639-3187-7E46-50C5-58AC7754C600}"/>
              </a:ext>
            </a:extLst>
          </p:cNvPr>
          <p:cNvSpPr>
            <a:spLocks noGrp="1"/>
          </p:cNvSpPr>
          <p:nvPr>
            <p:ph type="title"/>
          </p:nvPr>
        </p:nvSpPr>
        <p:spPr/>
        <p:txBody>
          <a:bodyPr/>
          <a:lstStyle/>
          <a:p>
            <a:r>
              <a:rPr lang="en-US" dirty="0"/>
              <a:t>SLAM</a:t>
            </a:r>
            <a:endParaRPr lang="en-GB" dirty="0"/>
          </a:p>
        </p:txBody>
      </p:sp>
      <p:sp>
        <p:nvSpPr>
          <p:cNvPr id="4" name="Date Placeholder 3">
            <a:extLst>
              <a:ext uri="{FF2B5EF4-FFF2-40B4-BE49-F238E27FC236}">
                <a16:creationId xmlns:a16="http://schemas.microsoft.com/office/drawing/2014/main" id="{945A7713-24C7-7DA4-0FFD-78EBD801673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3C68CA06-BD84-3117-118E-8D414C64FADF}"/>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D973F147-D86F-CF3B-6458-311748A247D5}"/>
              </a:ext>
            </a:extLst>
          </p:cNvPr>
          <p:cNvSpPr>
            <a:spLocks noGrp="1"/>
          </p:cNvSpPr>
          <p:nvPr>
            <p:ph type="sldNum" sz="quarter" idx="12"/>
          </p:nvPr>
        </p:nvSpPr>
        <p:spPr/>
        <p:txBody>
          <a:bodyPr/>
          <a:lstStyle/>
          <a:p>
            <a:r>
              <a:rPr lang="en-GB" dirty="0"/>
              <a:t>9</a:t>
            </a:r>
          </a:p>
        </p:txBody>
      </p:sp>
      <p:pic>
        <p:nvPicPr>
          <p:cNvPr id="14" name="Content Placeholder 13" descr="Diagram&#10;&#10;Description automatically generated">
            <a:extLst>
              <a:ext uri="{FF2B5EF4-FFF2-40B4-BE49-F238E27FC236}">
                <a16:creationId xmlns:a16="http://schemas.microsoft.com/office/drawing/2014/main" id="{61611220-A6CB-8773-09C7-8B250A8C041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60475" y="1644342"/>
            <a:ext cx="5327650" cy="3880465"/>
          </a:xfrm>
        </p:spPr>
      </p:pic>
      <p:pic>
        <p:nvPicPr>
          <p:cNvPr id="16" name="Content Placeholder 15" descr="Diagram&#10;&#10;Description automatically generated">
            <a:extLst>
              <a:ext uri="{FF2B5EF4-FFF2-40B4-BE49-F238E27FC236}">
                <a16:creationId xmlns:a16="http://schemas.microsoft.com/office/drawing/2014/main" id="{6AABD42B-6FC9-3AB2-65AF-187552259820}"/>
              </a:ext>
            </a:extLst>
          </p:cNvPr>
          <p:cNvPicPr>
            <a:picLocks noGrp="1" noChangeAspect="1"/>
          </p:cNvPicPr>
          <p:nvPr>
            <p:ph idx="13"/>
          </p:nvPr>
        </p:nvPicPr>
        <p:blipFill>
          <a:blip r:embed="rId4">
            <a:extLst>
              <a:ext uri="{28A0092B-C50C-407E-A947-70E740481C1C}">
                <a14:useLocalDpi xmlns:a14="http://schemas.microsoft.com/office/drawing/2010/main" val="0"/>
              </a:ext>
            </a:extLst>
          </a:blip>
          <a:stretch>
            <a:fillRect/>
          </a:stretch>
        </p:blipFill>
        <p:spPr>
          <a:xfrm>
            <a:off x="6683375" y="1643764"/>
            <a:ext cx="5329238" cy="3881621"/>
          </a:xfrm>
        </p:spPr>
      </p:pic>
      <p:sp>
        <p:nvSpPr>
          <p:cNvPr id="10" name="Text Placeholder 9">
            <a:extLst>
              <a:ext uri="{FF2B5EF4-FFF2-40B4-BE49-F238E27FC236}">
                <a16:creationId xmlns:a16="http://schemas.microsoft.com/office/drawing/2014/main" id="{971FEBB9-34E5-58DB-727B-03484991B7F8}"/>
              </a:ext>
            </a:extLst>
          </p:cNvPr>
          <p:cNvSpPr>
            <a:spLocks noGrp="1"/>
          </p:cNvSpPr>
          <p:nvPr>
            <p:ph type="body" sz="half" idx="2"/>
          </p:nvPr>
        </p:nvSpPr>
        <p:spPr/>
        <p:txBody>
          <a:bodyPr/>
          <a:lstStyle/>
          <a:p>
            <a:r>
              <a:rPr lang="en-US" dirty="0"/>
              <a:t>Fig. 3: Online SLAM problem [4]</a:t>
            </a:r>
            <a:endParaRPr lang="en-GB" dirty="0"/>
          </a:p>
        </p:txBody>
      </p:sp>
      <p:sp>
        <p:nvSpPr>
          <p:cNvPr id="12" name="Text Placeholder 11">
            <a:extLst>
              <a:ext uri="{FF2B5EF4-FFF2-40B4-BE49-F238E27FC236}">
                <a16:creationId xmlns:a16="http://schemas.microsoft.com/office/drawing/2014/main" id="{00ECC2F4-052B-08A3-0C1E-18197A50EA5E}"/>
              </a:ext>
            </a:extLst>
          </p:cNvPr>
          <p:cNvSpPr>
            <a:spLocks noGrp="1"/>
          </p:cNvSpPr>
          <p:nvPr>
            <p:ph type="body" sz="half" idx="14"/>
          </p:nvPr>
        </p:nvSpPr>
        <p:spPr/>
        <p:txBody>
          <a:bodyPr/>
          <a:lstStyle/>
          <a:p>
            <a:r>
              <a:rPr lang="en-US" dirty="0"/>
              <a:t>Fig. 4: Full SLAM problem [4]</a:t>
            </a:r>
            <a:endParaRPr lang="en-GB" dirty="0"/>
          </a:p>
        </p:txBody>
      </p:sp>
    </p:spTree>
    <p:extLst>
      <p:ext uri="{BB962C8B-B14F-4D97-AF65-F5344CB8AC3E}">
        <p14:creationId xmlns:p14="http://schemas.microsoft.com/office/powerpoint/2010/main" val="3528983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F661-B249-E01E-E0EC-64F078941892}"/>
              </a:ext>
            </a:extLst>
          </p:cNvPr>
          <p:cNvSpPr>
            <a:spLocks noGrp="1"/>
          </p:cNvSpPr>
          <p:nvPr>
            <p:ph type="title"/>
          </p:nvPr>
        </p:nvSpPr>
        <p:spPr/>
        <p:txBody>
          <a:bodyPr/>
          <a:lstStyle/>
          <a:p>
            <a:r>
              <a:rPr lang="en-US" dirty="0"/>
              <a:t>SLAM</a:t>
            </a:r>
            <a:endParaRPr lang="en-GB" dirty="0"/>
          </a:p>
        </p:txBody>
      </p:sp>
      <p:sp>
        <p:nvSpPr>
          <p:cNvPr id="3" name="Content Placeholder 2">
            <a:extLst>
              <a:ext uri="{FF2B5EF4-FFF2-40B4-BE49-F238E27FC236}">
                <a16:creationId xmlns:a16="http://schemas.microsoft.com/office/drawing/2014/main" id="{F37D9FD0-77DF-7738-5777-C43941C28226}"/>
              </a:ext>
            </a:extLst>
          </p:cNvPr>
          <p:cNvSpPr>
            <a:spLocks noGrp="1"/>
          </p:cNvSpPr>
          <p:nvPr>
            <p:ph idx="1"/>
          </p:nvPr>
        </p:nvSpPr>
        <p:spPr/>
        <p:txBody>
          <a:bodyPr/>
          <a:lstStyle/>
          <a:p>
            <a:r>
              <a:rPr lang="en-US" dirty="0"/>
              <a:t>Scan matching</a:t>
            </a:r>
          </a:p>
          <a:p>
            <a:pPr lvl="1"/>
            <a:r>
              <a:rPr lang="en-US" dirty="0">
                <a:solidFill>
                  <a:schemeClr val="bg1"/>
                </a:solidFill>
              </a:rPr>
              <a:t>Align sensor data with current map</a:t>
            </a:r>
          </a:p>
          <a:p>
            <a:pPr lvl="1"/>
            <a:r>
              <a:rPr lang="en-US" dirty="0">
                <a:solidFill>
                  <a:schemeClr val="bg1"/>
                </a:solidFill>
              </a:rPr>
              <a:t>Update the map with the latest sensor scan</a:t>
            </a:r>
          </a:p>
          <a:p>
            <a:pPr lvl="1"/>
            <a:endParaRPr lang="en-US" dirty="0"/>
          </a:p>
          <a:p>
            <a:r>
              <a:rPr lang="en-US" dirty="0"/>
              <a:t>Particle filter</a:t>
            </a:r>
          </a:p>
          <a:p>
            <a:pPr lvl="1"/>
            <a:r>
              <a:rPr lang="en-US" dirty="0">
                <a:solidFill>
                  <a:schemeClr val="bg1"/>
                </a:solidFill>
              </a:rPr>
              <a:t>Rao-</a:t>
            </a:r>
            <a:r>
              <a:rPr lang="en-US" dirty="0" err="1">
                <a:solidFill>
                  <a:schemeClr val="bg1"/>
                </a:solidFill>
              </a:rPr>
              <a:t>Blackwellized</a:t>
            </a:r>
            <a:r>
              <a:rPr lang="en-US" dirty="0">
                <a:solidFill>
                  <a:schemeClr val="bg1"/>
                </a:solidFill>
              </a:rPr>
              <a:t> Particle Filters (RBPFs)</a:t>
            </a:r>
          </a:p>
          <a:p>
            <a:pPr lvl="1"/>
            <a:r>
              <a:rPr lang="en-US" dirty="0">
                <a:solidFill>
                  <a:schemeClr val="bg1"/>
                </a:solidFill>
              </a:rPr>
              <a:t>Probabilistic approach</a:t>
            </a:r>
          </a:p>
          <a:p>
            <a:pPr lvl="1"/>
            <a:r>
              <a:rPr lang="en-US" dirty="0">
                <a:solidFill>
                  <a:schemeClr val="bg1"/>
                </a:solidFill>
              </a:rPr>
              <a:t>SLAM = robot localization + map estimation conditioned on robot pose estimate</a:t>
            </a:r>
          </a:p>
          <a:p>
            <a:pPr lvl="1"/>
            <a:endParaRPr lang="en-US" dirty="0"/>
          </a:p>
          <a:p>
            <a:r>
              <a:rPr lang="en-US" dirty="0"/>
              <a:t>Pose graph</a:t>
            </a:r>
          </a:p>
          <a:p>
            <a:pPr lvl="1"/>
            <a:r>
              <a:rPr lang="en-GB" dirty="0">
                <a:solidFill>
                  <a:schemeClr val="bg1"/>
                </a:solidFill>
              </a:rPr>
              <a:t>Front (identify constraints) and back-end (refine graph) modules</a:t>
            </a:r>
          </a:p>
          <a:p>
            <a:pPr lvl="1"/>
            <a:r>
              <a:rPr lang="en-GB" dirty="0">
                <a:solidFill>
                  <a:schemeClr val="bg1"/>
                </a:solidFill>
              </a:rPr>
              <a:t>Optimization approach</a:t>
            </a:r>
          </a:p>
          <a:p>
            <a:pPr lvl="1"/>
            <a:r>
              <a:rPr lang="en-GB" dirty="0">
                <a:solidFill>
                  <a:schemeClr val="bg1"/>
                </a:solidFill>
              </a:rPr>
              <a:t>Maximum Likelihood Estimation (MLE) formulation for optimizing the pose graph</a:t>
            </a:r>
          </a:p>
        </p:txBody>
      </p:sp>
      <p:sp>
        <p:nvSpPr>
          <p:cNvPr id="4" name="Date Placeholder 3">
            <a:extLst>
              <a:ext uri="{FF2B5EF4-FFF2-40B4-BE49-F238E27FC236}">
                <a16:creationId xmlns:a16="http://schemas.microsoft.com/office/drawing/2014/main" id="{8A00ECDB-7526-FA40-2DD9-D0FEAB52DBE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BD7D42EA-4545-76CC-3CEC-2B19D974523D}"/>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14AE2C2-ABD6-7AC2-499F-C8EC0588CA78}"/>
              </a:ext>
            </a:extLst>
          </p:cNvPr>
          <p:cNvSpPr>
            <a:spLocks noGrp="1"/>
          </p:cNvSpPr>
          <p:nvPr>
            <p:ph type="sldNum" sz="quarter" idx="12"/>
          </p:nvPr>
        </p:nvSpPr>
        <p:spPr/>
        <p:txBody>
          <a:bodyPr/>
          <a:lstStyle/>
          <a:p>
            <a:r>
              <a:rPr lang="en-GB" dirty="0"/>
              <a:t>10</a:t>
            </a:r>
          </a:p>
        </p:txBody>
      </p:sp>
    </p:spTree>
    <p:extLst>
      <p:ext uri="{BB962C8B-B14F-4D97-AF65-F5344CB8AC3E}">
        <p14:creationId xmlns:p14="http://schemas.microsoft.com/office/powerpoint/2010/main" val="2278739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F661-B249-E01E-E0EC-64F078941892}"/>
              </a:ext>
            </a:extLst>
          </p:cNvPr>
          <p:cNvSpPr>
            <a:spLocks noGrp="1"/>
          </p:cNvSpPr>
          <p:nvPr>
            <p:ph type="title"/>
          </p:nvPr>
        </p:nvSpPr>
        <p:spPr/>
        <p:txBody>
          <a:bodyPr/>
          <a:lstStyle/>
          <a:p>
            <a:r>
              <a:rPr lang="en-US" dirty="0"/>
              <a:t>SLAM</a:t>
            </a:r>
            <a:endParaRPr lang="en-GB" dirty="0"/>
          </a:p>
        </p:txBody>
      </p:sp>
      <p:sp>
        <p:nvSpPr>
          <p:cNvPr id="3" name="Content Placeholder 2">
            <a:extLst>
              <a:ext uri="{FF2B5EF4-FFF2-40B4-BE49-F238E27FC236}">
                <a16:creationId xmlns:a16="http://schemas.microsoft.com/office/drawing/2014/main" id="{F37D9FD0-77DF-7738-5777-C43941C28226}"/>
              </a:ext>
            </a:extLst>
          </p:cNvPr>
          <p:cNvSpPr>
            <a:spLocks noGrp="1"/>
          </p:cNvSpPr>
          <p:nvPr>
            <p:ph idx="1"/>
          </p:nvPr>
        </p:nvSpPr>
        <p:spPr/>
        <p:txBody>
          <a:bodyPr/>
          <a:lstStyle/>
          <a:p>
            <a:r>
              <a:rPr lang="en-US" dirty="0"/>
              <a:t>Scan matching</a:t>
            </a:r>
          </a:p>
          <a:p>
            <a:pPr lvl="1"/>
            <a:r>
              <a:rPr lang="en-US" dirty="0"/>
              <a:t>Align sensor data with current map</a:t>
            </a:r>
          </a:p>
          <a:p>
            <a:pPr lvl="1"/>
            <a:r>
              <a:rPr lang="en-US" dirty="0"/>
              <a:t>Update the map with the latest sensor scan</a:t>
            </a:r>
          </a:p>
          <a:p>
            <a:pPr lvl="1"/>
            <a:endParaRPr lang="en-US" dirty="0"/>
          </a:p>
          <a:p>
            <a:r>
              <a:rPr lang="en-US" dirty="0"/>
              <a:t>Particle filter</a:t>
            </a:r>
          </a:p>
          <a:p>
            <a:pPr lvl="1"/>
            <a:r>
              <a:rPr lang="en-US" dirty="0"/>
              <a:t>Rao-</a:t>
            </a:r>
            <a:r>
              <a:rPr lang="en-US" dirty="0" err="1"/>
              <a:t>Blackwellized</a:t>
            </a:r>
            <a:r>
              <a:rPr lang="en-US" dirty="0"/>
              <a:t> Particle Filters (RBPFs)</a:t>
            </a:r>
          </a:p>
          <a:p>
            <a:pPr lvl="1"/>
            <a:r>
              <a:rPr lang="en-US" dirty="0"/>
              <a:t>Probabilistic approach</a:t>
            </a:r>
          </a:p>
          <a:p>
            <a:pPr lvl="1"/>
            <a:r>
              <a:rPr lang="en-US" dirty="0"/>
              <a:t>SLAM = robot localization + map estimation conditioned on robot pose estimate</a:t>
            </a:r>
          </a:p>
          <a:p>
            <a:pPr lvl="1"/>
            <a:endParaRPr lang="en-US" dirty="0"/>
          </a:p>
          <a:p>
            <a:r>
              <a:rPr lang="en-US" dirty="0"/>
              <a:t>Pose graph</a:t>
            </a:r>
          </a:p>
          <a:p>
            <a:pPr lvl="1"/>
            <a:r>
              <a:rPr lang="en-GB" dirty="0"/>
              <a:t>Front (identify constraints) and back-end (refine graph) modules</a:t>
            </a:r>
          </a:p>
          <a:p>
            <a:pPr lvl="1"/>
            <a:r>
              <a:rPr lang="en-GB" dirty="0"/>
              <a:t>Optimization approach</a:t>
            </a:r>
          </a:p>
          <a:p>
            <a:pPr lvl="1"/>
            <a:r>
              <a:rPr lang="en-GB" dirty="0"/>
              <a:t>Maximum Likelihood Estimation (MLE) formulation for optimizing the pose graph</a:t>
            </a:r>
          </a:p>
        </p:txBody>
      </p:sp>
      <p:sp>
        <p:nvSpPr>
          <p:cNvPr id="4" name="Date Placeholder 3">
            <a:extLst>
              <a:ext uri="{FF2B5EF4-FFF2-40B4-BE49-F238E27FC236}">
                <a16:creationId xmlns:a16="http://schemas.microsoft.com/office/drawing/2014/main" id="{8A00ECDB-7526-FA40-2DD9-D0FEAB52DBE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BD7D42EA-4545-76CC-3CEC-2B19D974523D}"/>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14AE2C2-ABD6-7AC2-499F-C8EC0588CA78}"/>
              </a:ext>
            </a:extLst>
          </p:cNvPr>
          <p:cNvSpPr>
            <a:spLocks noGrp="1"/>
          </p:cNvSpPr>
          <p:nvPr>
            <p:ph type="sldNum" sz="quarter" idx="12"/>
          </p:nvPr>
        </p:nvSpPr>
        <p:spPr/>
        <p:txBody>
          <a:bodyPr/>
          <a:lstStyle/>
          <a:p>
            <a:r>
              <a:rPr lang="en-GB" dirty="0"/>
              <a:t>10</a:t>
            </a:r>
          </a:p>
        </p:txBody>
      </p:sp>
    </p:spTree>
    <p:extLst>
      <p:ext uri="{BB962C8B-B14F-4D97-AF65-F5344CB8AC3E}">
        <p14:creationId xmlns:p14="http://schemas.microsoft.com/office/powerpoint/2010/main" val="610717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CEFE-DBF7-BCDC-6A88-5353B67213C1}"/>
              </a:ext>
            </a:extLst>
          </p:cNvPr>
          <p:cNvSpPr>
            <a:spLocks noGrp="1"/>
          </p:cNvSpPr>
          <p:nvPr>
            <p:ph type="title"/>
          </p:nvPr>
        </p:nvSpPr>
        <p:spPr/>
        <p:txBody>
          <a:bodyPr>
            <a:normAutofit/>
          </a:bodyPr>
          <a:lstStyle/>
          <a:p>
            <a:r>
              <a:rPr lang="en-GB" dirty="0"/>
              <a:t>Long-term SLAM in Dynamic Environments</a:t>
            </a:r>
          </a:p>
        </p:txBody>
      </p:sp>
      <p:sp>
        <p:nvSpPr>
          <p:cNvPr id="4" name="Date Placeholder 3">
            <a:extLst>
              <a:ext uri="{FF2B5EF4-FFF2-40B4-BE49-F238E27FC236}">
                <a16:creationId xmlns:a16="http://schemas.microsoft.com/office/drawing/2014/main" id="{F19AFE9D-8B26-60E3-CA67-7398AA831389}"/>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F3521C6B-B67B-707F-8917-4C5C84E3E75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825CFA88-825F-BB05-9FD2-BE0C6EA361CB}"/>
              </a:ext>
            </a:extLst>
          </p:cNvPr>
          <p:cNvSpPr>
            <a:spLocks noGrp="1"/>
          </p:cNvSpPr>
          <p:nvPr>
            <p:ph type="sldNum" sz="quarter" idx="12"/>
          </p:nvPr>
        </p:nvSpPr>
        <p:spPr/>
        <p:txBody>
          <a:bodyPr/>
          <a:lstStyle/>
          <a:p>
            <a:r>
              <a:rPr lang="en-GB" dirty="0"/>
              <a:t>11</a:t>
            </a:r>
          </a:p>
        </p:txBody>
      </p:sp>
      <p:sp>
        <p:nvSpPr>
          <p:cNvPr id="7" name="Content Placeholder 6">
            <a:extLst>
              <a:ext uri="{FF2B5EF4-FFF2-40B4-BE49-F238E27FC236}">
                <a16:creationId xmlns:a16="http://schemas.microsoft.com/office/drawing/2014/main" id="{0E4BCE54-260C-DEF2-1AA2-E7AC7320B7E5}"/>
              </a:ext>
            </a:extLst>
          </p:cNvPr>
          <p:cNvSpPr>
            <a:spLocks noGrp="1"/>
          </p:cNvSpPr>
          <p:nvPr>
            <p:ph idx="1"/>
          </p:nvPr>
        </p:nvSpPr>
        <p:spPr/>
        <p:txBody>
          <a:bodyPr/>
          <a:lstStyle/>
          <a:p>
            <a:r>
              <a:rPr lang="en-US" dirty="0"/>
              <a:t>Map representation</a:t>
            </a:r>
          </a:p>
          <a:p>
            <a:pPr lvl="1"/>
            <a:r>
              <a:rPr lang="en-US" dirty="0"/>
              <a:t>Short/Long-Term Memory (S/LTM)</a:t>
            </a:r>
          </a:p>
          <a:p>
            <a:pPr lvl="1"/>
            <a:r>
              <a:rPr lang="en-US" dirty="0"/>
              <a:t>Static </a:t>
            </a:r>
            <a:r>
              <a:rPr lang="en-US" i="1" dirty="0"/>
              <a:t>vs</a:t>
            </a:r>
            <a:r>
              <a:rPr lang="en-US" dirty="0"/>
              <a:t> dynamic maps</a:t>
            </a:r>
          </a:p>
          <a:p>
            <a:pPr lvl="1"/>
            <a:r>
              <a:rPr lang="en-US" dirty="0"/>
              <a:t>Multi-hypothesis framework</a:t>
            </a:r>
          </a:p>
        </p:txBody>
      </p:sp>
      <p:sp>
        <p:nvSpPr>
          <p:cNvPr id="9" name="Content Placeholder 8">
            <a:extLst>
              <a:ext uri="{FF2B5EF4-FFF2-40B4-BE49-F238E27FC236}">
                <a16:creationId xmlns:a16="http://schemas.microsoft.com/office/drawing/2014/main" id="{512CAE92-2C0E-9B40-6F33-6C557E303691}"/>
              </a:ext>
            </a:extLst>
          </p:cNvPr>
          <p:cNvSpPr>
            <a:spLocks noGrp="1"/>
          </p:cNvSpPr>
          <p:nvPr>
            <p:ph idx="13"/>
          </p:nvPr>
        </p:nvSpPr>
        <p:spPr/>
        <p:txBody>
          <a:bodyPr/>
          <a:lstStyle/>
          <a:p>
            <a:endParaRPr lang="en-GB"/>
          </a:p>
        </p:txBody>
      </p:sp>
      <p:sp>
        <p:nvSpPr>
          <p:cNvPr id="3" name="Text Placeholder 2">
            <a:extLst>
              <a:ext uri="{FF2B5EF4-FFF2-40B4-BE49-F238E27FC236}">
                <a16:creationId xmlns:a16="http://schemas.microsoft.com/office/drawing/2014/main" id="{00F382EB-E42E-58F8-3C8E-AA173F251836}"/>
              </a:ext>
            </a:extLst>
          </p:cNvPr>
          <p:cNvSpPr>
            <a:spLocks noGrp="1"/>
          </p:cNvSpPr>
          <p:nvPr>
            <p:ph type="body" sz="half" idx="2"/>
          </p:nvPr>
        </p:nvSpPr>
        <p:spPr/>
        <p:txBody>
          <a:bodyPr/>
          <a:lstStyle/>
          <a:p>
            <a:endParaRPr lang="en-GB"/>
          </a:p>
        </p:txBody>
      </p:sp>
      <p:sp>
        <p:nvSpPr>
          <p:cNvPr id="10" name="Text Placeholder 9">
            <a:extLst>
              <a:ext uri="{FF2B5EF4-FFF2-40B4-BE49-F238E27FC236}">
                <a16:creationId xmlns:a16="http://schemas.microsoft.com/office/drawing/2014/main" id="{F099875C-98CE-758E-59E0-859AD9AB4AB8}"/>
              </a:ext>
            </a:extLst>
          </p:cNvPr>
          <p:cNvSpPr>
            <a:spLocks noGrp="1"/>
          </p:cNvSpPr>
          <p:nvPr>
            <p:ph type="body" sz="half" idx="14"/>
          </p:nvPr>
        </p:nvSpPr>
        <p:spPr/>
        <p:txBody>
          <a:bodyPr/>
          <a:lstStyle/>
          <a:p>
            <a:pPr algn="r"/>
            <a:endParaRPr lang="en-GB" i="1" dirty="0"/>
          </a:p>
        </p:txBody>
      </p:sp>
    </p:spTree>
    <p:extLst>
      <p:ext uri="{BB962C8B-B14F-4D97-AF65-F5344CB8AC3E}">
        <p14:creationId xmlns:p14="http://schemas.microsoft.com/office/powerpoint/2010/main" val="2367295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CEFE-DBF7-BCDC-6A88-5353B67213C1}"/>
              </a:ext>
            </a:extLst>
          </p:cNvPr>
          <p:cNvSpPr>
            <a:spLocks noGrp="1"/>
          </p:cNvSpPr>
          <p:nvPr>
            <p:ph type="title"/>
          </p:nvPr>
        </p:nvSpPr>
        <p:spPr/>
        <p:txBody>
          <a:bodyPr>
            <a:normAutofit/>
          </a:bodyPr>
          <a:lstStyle/>
          <a:p>
            <a:r>
              <a:rPr lang="en-GB" dirty="0"/>
              <a:t>Long-term SLAM in Dynamic Environments</a:t>
            </a:r>
          </a:p>
        </p:txBody>
      </p:sp>
      <p:sp>
        <p:nvSpPr>
          <p:cNvPr id="4" name="Date Placeholder 3">
            <a:extLst>
              <a:ext uri="{FF2B5EF4-FFF2-40B4-BE49-F238E27FC236}">
                <a16:creationId xmlns:a16="http://schemas.microsoft.com/office/drawing/2014/main" id="{F19AFE9D-8B26-60E3-CA67-7398AA831389}"/>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F3521C6B-B67B-707F-8917-4C5C84E3E75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825CFA88-825F-BB05-9FD2-BE0C6EA361CB}"/>
              </a:ext>
            </a:extLst>
          </p:cNvPr>
          <p:cNvSpPr>
            <a:spLocks noGrp="1"/>
          </p:cNvSpPr>
          <p:nvPr>
            <p:ph type="sldNum" sz="quarter" idx="12"/>
          </p:nvPr>
        </p:nvSpPr>
        <p:spPr/>
        <p:txBody>
          <a:bodyPr/>
          <a:lstStyle/>
          <a:p>
            <a:r>
              <a:rPr lang="en-GB" dirty="0"/>
              <a:t>11</a:t>
            </a:r>
          </a:p>
        </p:txBody>
      </p:sp>
      <p:sp>
        <p:nvSpPr>
          <p:cNvPr id="7" name="Content Placeholder 6">
            <a:extLst>
              <a:ext uri="{FF2B5EF4-FFF2-40B4-BE49-F238E27FC236}">
                <a16:creationId xmlns:a16="http://schemas.microsoft.com/office/drawing/2014/main" id="{0E4BCE54-260C-DEF2-1AA2-E7AC7320B7E5}"/>
              </a:ext>
            </a:extLst>
          </p:cNvPr>
          <p:cNvSpPr>
            <a:spLocks noGrp="1"/>
          </p:cNvSpPr>
          <p:nvPr>
            <p:ph idx="1"/>
          </p:nvPr>
        </p:nvSpPr>
        <p:spPr/>
        <p:txBody>
          <a:bodyPr/>
          <a:lstStyle/>
          <a:p>
            <a:r>
              <a:rPr lang="en-US" dirty="0"/>
              <a:t>Map representation</a:t>
            </a:r>
          </a:p>
          <a:p>
            <a:pPr lvl="1"/>
            <a:r>
              <a:rPr lang="en-US" dirty="0"/>
              <a:t>Short/Long-Term Memory (S/LTM)</a:t>
            </a:r>
          </a:p>
          <a:p>
            <a:pPr lvl="2"/>
            <a:r>
              <a:rPr lang="en-US" dirty="0"/>
              <a:t>Multi-store model of human memory</a:t>
            </a:r>
          </a:p>
          <a:p>
            <a:pPr lvl="2"/>
            <a:r>
              <a:rPr lang="en-US" dirty="0"/>
              <a:t>Multiple timescales</a:t>
            </a:r>
          </a:p>
          <a:p>
            <a:pPr lvl="2"/>
            <a:r>
              <a:rPr lang="en-US" dirty="0"/>
              <a:t>Use LTM maps for localization</a:t>
            </a:r>
          </a:p>
          <a:p>
            <a:pPr lvl="1"/>
            <a:r>
              <a:rPr lang="en-US" dirty="0">
                <a:solidFill>
                  <a:schemeClr val="bg1">
                    <a:lumMod val="50000"/>
                  </a:schemeClr>
                </a:solidFill>
              </a:rPr>
              <a:t>Static </a:t>
            </a:r>
            <a:r>
              <a:rPr lang="en-US" i="1" dirty="0">
                <a:solidFill>
                  <a:schemeClr val="bg1">
                    <a:lumMod val="50000"/>
                  </a:schemeClr>
                </a:solidFill>
              </a:rPr>
              <a:t>vs</a:t>
            </a:r>
            <a:r>
              <a:rPr lang="en-US" dirty="0">
                <a:solidFill>
                  <a:schemeClr val="bg1">
                    <a:lumMod val="50000"/>
                  </a:schemeClr>
                </a:solidFill>
              </a:rPr>
              <a:t> dynamic maps</a:t>
            </a:r>
          </a:p>
          <a:p>
            <a:pPr lvl="1"/>
            <a:r>
              <a:rPr lang="en-US" dirty="0">
                <a:solidFill>
                  <a:schemeClr val="bg1">
                    <a:lumMod val="50000"/>
                  </a:schemeClr>
                </a:solidFill>
              </a:rPr>
              <a:t>Multi-hypothesis framework</a:t>
            </a:r>
            <a:endParaRPr lang="en-GB" dirty="0">
              <a:solidFill>
                <a:schemeClr val="bg1">
                  <a:lumMod val="50000"/>
                </a:schemeClr>
              </a:solidFill>
            </a:endParaRPr>
          </a:p>
        </p:txBody>
      </p:sp>
      <p:sp>
        <p:nvSpPr>
          <p:cNvPr id="9" name="Text Placeholder 8">
            <a:extLst>
              <a:ext uri="{FF2B5EF4-FFF2-40B4-BE49-F238E27FC236}">
                <a16:creationId xmlns:a16="http://schemas.microsoft.com/office/drawing/2014/main" id="{EB2001DC-3188-5C15-481A-6E8F55795708}"/>
              </a:ext>
            </a:extLst>
          </p:cNvPr>
          <p:cNvSpPr>
            <a:spLocks noGrp="1"/>
          </p:cNvSpPr>
          <p:nvPr>
            <p:ph type="body" sz="half" idx="2"/>
          </p:nvPr>
        </p:nvSpPr>
        <p:spPr/>
        <p:txBody>
          <a:bodyPr/>
          <a:lstStyle/>
          <a:p>
            <a:endParaRPr lang="en-GB"/>
          </a:p>
        </p:txBody>
      </p:sp>
      <p:sp>
        <p:nvSpPr>
          <p:cNvPr id="11" name="Text Placeholder 10">
            <a:extLst>
              <a:ext uri="{FF2B5EF4-FFF2-40B4-BE49-F238E27FC236}">
                <a16:creationId xmlns:a16="http://schemas.microsoft.com/office/drawing/2014/main" id="{A09771E7-B48C-9A2F-95D2-8A101633B8FE}"/>
              </a:ext>
            </a:extLst>
          </p:cNvPr>
          <p:cNvSpPr>
            <a:spLocks noGrp="1"/>
          </p:cNvSpPr>
          <p:nvPr>
            <p:ph type="body" sz="half" idx="14"/>
          </p:nvPr>
        </p:nvSpPr>
        <p:spPr>
          <a:xfrm>
            <a:off x="6636625" y="2803006"/>
            <a:ext cx="5328000" cy="896470"/>
          </a:xfrm>
        </p:spPr>
        <p:txBody>
          <a:bodyPr>
            <a:normAutofit/>
          </a:bodyPr>
          <a:lstStyle/>
          <a:p>
            <a:r>
              <a:rPr lang="en-GB" dirty="0"/>
              <a:t>Fig. 5: Multi-store model of human memory proposed by Atkinson</a:t>
            </a:r>
          </a:p>
          <a:p>
            <a:r>
              <a:rPr lang="en-GB" dirty="0"/>
              <a:t>and Shiffrin (1968)</a:t>
            </a:r>
          </a:p>
          <a:p>
            <a:r>
              <a:rPr lang="en-GB" dirty="0"/>
              <a:t>Source: </a:t>
            </a:r>
            <a:r>
              <a:rPr lang="en-GB" dirty="0">
                <a:hlinkClick r:id="rId3"/>
              </a:rPr>
              <a:t>https://commons.wikimedia.org/wiki/File:Memory_multistore_model.svg</a:t>
            </a:r>
            <a:r>
              <a:rPr lang="en-GB" dirty="0"/>
              <a:t>  </a:t>
            </a:r>
          </a:p>
          <a:p>
            <a:endParaRPr lang="en-GB" dirty="0"/>
          </a:p>
        </p:txBody>
      </p:sp>
      <p:pic>
        <p:nvPicPr>
          <p:cNvPr id="12" name="Content Placeholder 13">
            <a:extLst>
              <a:ext uri="{FF2B5EF4-FFF2-40B4-BE49-F238E27FC236}">
                <a16:creationId xmlns:a16="http://schemas.microsoft.com/office/drawing/2014/main" id="{A2B3F779-D728-D66B-9307-3C9252DC4527}"/>
              </a:ext>
            </a:extLst>
          </p:cNvPr>
          <p:cNvPicPr>
            <a:picLocks noGrp="1" noChangeAspect="1"/>
          </p:cNvPicPr>
          <p:nvPr>
            <p:ph idx="13"/>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36000" y="1350000"/>
            <a:ext cx="5329238" cy="1453006"/>
          </a:xfrm>
        </p:spPr>
      </p:pic>
    </p:spTree>
    <p:extLst>
      <p:ext uri="{BB962C8B-B14F-4D97-AF65-F5344CB8AC3E}">
        <p14:creationId xmlns:p14="http://schemas.microsoft.com/office/powerpoint/2010/main" val="2515233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CEFE-DBF7-BCDC-6A88-5353B67213C1}"/>
              </a:ext>
            </a:extLst>
          </p:cNvPr>
          <p:cNvSpPr>
            <a:spLocks noGrp="1"/>
          </p:cNvSpPr>
          <p:nvPr>
            <p:ph type="title"/>
          </p:nvPr>
        </p:nvSpPr>
        <p:spPr/>
        <p:txBody>
          <a:bodyPr>
            <a:normAutofit/>
          </a:bodyPr>
          <a:lstStyle/>
          <a:p>
            <a:r>
              <a:rPr lang="en-GB" dirty="0"/>
              <a:t>Long-term SLAM in Dynamic Environments</a:t>
            </a:r>
          </a:p>
        </p:txBody>
      </p:sp>
      <p:sp>
        <p:nvSpPr>
          <p:cNvPr id="4" name="Date Placeholder 3">
            <a:extLst>
              <a:ext uri="{FF2B5EF4-FFF2-40B4-BE49-F238E27FC236}">
                <a16:creationId xmlns:a16="http://schemas.microsoft.com/office/drawing/2014/main" id="{F19AFE9D-8B26-60E3-CA67-7398AA831389}"/>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F3521C6B-B67B-707F-8917-4C5C84E3E75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825CFA88-825F-BB05-9FD2-BE0C6EA361CB}"/>
              </a:ext>
            </a:extLst>
          </p:cNvPr>
          <p:cNvSpPr>
            <a:spLocks noGrp="1"/>
          </p:cNvSpPr>
          <p:nvPr>
            <p:ph type="sldNum" sz="quarter" idx="12"/>
          </p:nvPr>
        </p:nvSpPr>
        <p:spPr/>
        <p:txBody>
          <a:bodyPr/>
          <a:lstStyle/>
          <a:p>
            <a:r>
              <a:rPr lang="en-GB" dirty="0"/>
              <a:t>11</a:t>
            </a:r>
          </a:p>
        </p:txBody>
      </p:sp>
      <p:sp>
        <p:nvSpPr>
          <p:cNvPr id="7" name="Content Placeholder 6">
            <a:extLst>
              <a:ext uri="{FF2B5EF4-FFF2-40B4-BE49-F238E27FC236}">
                <a16:creationId xmlns:a16="http://schemas.microsoft.com/office/drawing/2014/main" id="{0E4BCE54-260C-DEF2-1AA2-E7AC7320B7E5}"/>
              </a:ext>
            </a:extLst>
          </p:cNvPr>
          <p:cNvSpPr>
            <a:spLocks noGrp="1"/>
          </p:cNvSpPr>
          <p:nvPr>
            <p:ph idx="1"/>
          </p:nvPr>
        </p:nvSpPr>
        <p:spPr/>
        <p:txBody>
          <a:bodyPr/>
          <a:lstStyle/>
          <a:p>
            <a:r>
              <a:rPr lang="en-US" dirty="0"/>
              <a:t>Map representation</a:t>
            </a:r>
          </a:p>
          <a:p>
            <a:pPr lvl="1"/>
            <a:r>
              <a:rPr lang="en-US" dirty="0">
                <a:solidFill>
                  <a:schemeClr val="bg1">
                    <a:lumMod val="50000"/>
                  </a:schemeClr>
                </a:solidFill>
              </a:rPr>
              <a:t>Short/Long-Term Memory (S/LTM)</a:t>
            </a:r>
          </a:p>
          <a:p>
            <a:pPr lvl="1"/>
            <a:r>
              <a:rPr lang="en-US" dirty="0"/>
              <a:t>Static </a:t>
            </a:r>
            <a:r>
              <a:rPr lang="en-US" i="1" dirty="0"/>
              <a:t>vs</a:t>
            </a:r>
            <a:r>
              <a:rPr lang="en-US" dirty="0"/>
              <a:t> dynamic maps</a:t>
            </a:r>
          </a:p>
          <a:p>
            <a:pPr lvl="2"/>
            <a:r>
              <a:rPr lang="en-US" dirty="0"/>
              <a:t>Identification of moving elements</a:t>
            </a:r>
          </a:p>
          <a:p>
            <a:pPr lvl="2"/>
            <a:r>
              <a:rPr lang="en-US" dirty="0"/>
              <a:t>Distinction between static – semi-static – dynamic changes</a:t>
            </a:r>
          </a:p>
          <a:p>
            <a:pPr lvl="2"/>
            <a:r>
              <a:rPr lang="en-US" dirty="0"/>
              <a:t>Ignore dynamic elements for static map</a:t>
            </a:r>
          </a:p>
          <a:p>
            <a:pPr lvl="2"/>
            <a:r>
              <a:rPr lang="en-US" dirty="0"/>
              <a:t>Use static map for localization</a:t>
            </a:r>
          </a:p>
          <a:p>
            <a:pPr lvl="1"/>
            <a:r>
              <a:rPr lang="en-US" dirty="0">
                <a:solidFill>
                  <a:schemeClr val="bg1">
                    <a:lumMod val="50000"/>
                  </a:schemeClr>
                </a:solidFill>
              </a:rPr>
              <a:t>Multi-hypothesis framework</a:t>
            </a:r>
            <a:endParaRPr lang="en-GB" dirty="0">
              <a:solidFill>
                <a:schemeClr val="bg1">
                  <a:lumMod val="50000"/>
                </a:schemeClr>
              </a:solidFill>
            </a:endParaRPr>
          </a:p>
        </p:txBody>
      </p:sp>
      <p:sp>
        <p:nvSpPr>
          <p:cNvPr id="9" name="Content Placeholder 8">
            <a:extLst>
              <a:ext uri="{FF2B5EF4-FFF2-40B4-BE49-F238E27FC236}">
                <a16:creationId xmlns:a16="http://schemas.microsoft.com/office/drawing/2014/main" id="{512CAE92-2C0E-9B40-6F33-6C557E303691}"/>
              </a:ext>
            </a:extLst>
          </p:cNvPr>
          <p:cNvSpPr>
            <a:spLocks noGrp="1"/>
          </p:cNvSpPr>
          <p:nvPr>
            <p:ph idx="13"/>
          </p:nvPr>
        </p:nvSpPr>
        <p:spPr/>
        <p:txBody>
          <a:bodyPr/>
          <a:lstStyle/>
          <a:p>
            <a:endParaRPr lang="en-GB"/>
          </a:p>
        </p:txBody>
      </p:sp>
      <p:sp>
        <p:nvSpPr>
          <p:cNvPr id="3" name="Text Placeholder 2">
            <a:extLst>
              <a:ext uri="{FF2B5EF4-FFF2-40B4-BE49-F238E27FC236}">
                <a16:creationId xmlns:a16="http://schemas.microsoft.com/office/drawing/2014/main" id="{00F382EB-E42E-58F8-3C8E-AA173F251836}"/>
              </a:ext>
            </a:extLst>
          </p:cNvPr>
          <p:cNvSpPr>
            <a:spLocks noGrp="1"/>
          </p:cNvSpPr>
          <p:nvPr>
            <p:ph type="body" sz="half" idx="2"/>
          </p:nvPr>
        </p:nvSpPr>
        <p:spPr/>
        <p:txBody>
          <a:bodyPr/>
          <a:lstStyle/>
          <a:p>
            <a:endParaRPr lang="en-GB"/>
          </a:p>
        </p:txBody>
      </p:sp>
      <p:sp>
        <p:nvSpPr>
          <p:cNvPr id="10" name="Text Placeholder 9">
            <a:extLst>
              <a:ext uri="{FF2B5EF4-FFF2-40B4-BE49-F238E27FC236}">
                <a16:creationId xmlns:a16="http://schemas.microsoft.com/office/drawing/2014/main" id="{F099875C-98CE-758E-59E0-859AD9AB4AB8}"/>
              </a:ext>
            </a:extLst>
          </p:cNvPr>
          <p:cNvSpPr>
            <a:spLocks noGrp="1"/>
          </p:cNvSpPr>
          <p:nvPr>
            <p:ph type="body" sz="half" idx="14"/>
          </p:nvPr>
        </p:nvSpPr>
        <p:spPr/>
        <p:txBody>
          <a:bodyPr/>
          <a:lstStyle/>
          <a:p>
            <a:pPr algn="r"/>
            <a:r>
              <a:rPr lang="en-GB" i="1" dirty="0"/>
              <a:t>(not possible to show examples due to require payment of copyright fees…)</a:t>
            </a:r>
          </a:p>
        </p:txBody>
      </p:sp>
    </p:spTree>
    <p:extLst>
      <p:ext uri="{BB962C8B-B14F-4D97-AF65-F5344CB8AC3E}">
        <p14:creationId xmlns:p14="http://schemas.microsoft.com/office/powerpoint/2010/main" val="3670886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CEFE-DBF7-BCDC-6A88-5353B67213C1}"/>
              </a:ext>
            </a:extLst>
          </p:cNvPr>
          <p:cNvSpPr>
            <a:spLocks noGrp="1"/>
          </p:cNvSpPr>
          <p:nvPr>
            <p:ph type="title"/>
          </p:nvPr>
        </p:nvSpPr>
        <p:spPr/>
        <p:txBody>
          <a:bodyPr>
            <a:normAutofit/>
          </a:bodyPr>
          <a:lstStyle/>
          <a:p>
            <a:r>
              <a:rPr lang="en-GB" dirty="0"/>
              <a:t>Long-term SLAM in Dynamic Environments</a:t>
            </a:r>
          </a:p>
        </p:txBody>
      </p:sp>
      <p:sp>
        <p:nvSpPr>
          <p:cNvPr id="4" name="Date Placeholder 3">
            <a:extLst>
              <a:ext uri="{FF2B5EF4-FFF2-40B4-BE49-F238E27FC236}">
                <a16:creationId xmlns:a16="http://schemas.microsoft.com/office/drawing/2014/main" id="{F19AFE9D-8B26-60E3-CA67-7398AA831389}"/>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F3521C6B-B67B-707F-8917-4C5C84E3E75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825CFA88-825F-BB05-9FD2-BE0C6EA361CB}"/>
              </a:ext>
            </a:extLst>
          </p:cNvPr>
          <p:cNvSpPr>
            <a:spLocks noGrp="1"/>
          </p:cNvSpPr>
          <p:nvPr>
            <p:ph type="sldNum" sz="quarter" idx="12"/>
          </p:nvPr>
        </p:nvSpPr>
        <p:spPr/>
        <p:txBody>
          <a:bodyPr/>
          <a:lstStyle/>
          <a:p>
            <a:r>
              <a:rPr lang="en-GB" dirty="0"/>
              <a:t>11</a:t>
            </a:r>
          </a:p>
        </p:txBody>
      </p:sp>
      <p:sp>
        <p:nvSpPr>
          <p:cNvPr id="7" name="Content Placeholder 6">
            <a:extLst>
              <a:ext uri="{FF2B5EF4-FFF2-40B4-BE49-F238E27FC236}">
                <a16:creationId xmlns:a16="http://schemas.microsoft.com/office/drawing/2014/main" id="{0E4BCE54-260C-DEF2-1AA2-E7AC7320B7E5}"/>
              </a:ext>
            </a:extLst>
          </p:cNvPr>
          <p:cNvSpPr>
            <a:spLocks noGrp="1"/>
          </p:cNvSpPr>
          <p:nvPr>
            <p:ph idx="1"/>
          </p:nvPr>
        </p:nvSpPr>
        <p:spPr/>
        <p:txBody>
          <a:bodyPr/>
          <a:lstStyle/>
          <a:p>
            <a:r>
              <a:rPr lang="en-US" dirty="0"/>
              <a:t>Map representation</a:t>
            </a:r>
          </a:p>
          <a:p>
            <a:pPr lvl="1"/>
            <a:r>
              <a:rPr lang="en-US" dirty="0">
                <a:solidFill>
                  <a:schemeClr val="bg1">
                    <a:lumMod val="50000"/>
                  </a:schemeClr>
                </a:solidFill>
              </a:rPr>
              <a:t>Short/Long-Term Memory (S/LTM)</a:t>
            </a:r>
          </a:p>
          <a:p>
            <a:pPr lvl="1"/>
            <a:r>
              <a:rPr lang="en-US" dirty="0">
                <a:solidFill>
                  <a:schemeClr val="bg1">
                    <a:lumMod val="50000"/>
                  </a:schemeClr>
                </a:solidFill>
              </a:rPr>
              <a:t>Static </a:t>
            </a:r>
            <a:r>
              <a:rPr lang="en-US" i="1" dirty="0">
                <a:solidFill>
                  <a:schemeClr val="bg1">
                    <a:lumMod val="50000"/>
                  </a:schemeClr>
                </a:solidFill>
              </a:rPr>
              <a:t>vs</a:t>
            </a:r>
            <a:r>
              <a:rPr lang="en-US" dirty="0">
                <a:solidFill>
                  <a:schemeClr val="bg1">
                    <a:lumMod val="50000"/>
                  </a:schemeClr>
                </a:solidFill>
              </a:rPr>
              <a:t> dynamic maps</a:t>
            </a:r>
          </a:p>
          <a:p>
            <a:pPr lvl="1"/>
            <a:r>
              <a:rPr lang="en-US" dirty="0"/>
              <a:t>Multi-hypothesis framework</a:t>
            </a:r>
          </a:p>
          <a:p>
            <a:pPr lvl="2" algn="l"/>
            <a:r>
              <a:rPr lang="en-US" dirty="0"/>
              <a:t>Group landmarks positions based on signature</a:t>
            </a:r>
          </a:p>
          <a:p>
            <a:pPr lvl="2" algn="l"/>
            <a:r>
              <a:rPr lang="en-US" dirty="0"/>
              <a:t>Hypothesis likelihood ~ matched measurements vs missed detections</a:t>
            </a:r>
          </a:p>
          <a:p>
            <a:pPr lvl="2" algn="l"/>
            <a:r>
              <a:rPr lang="en-US" dirty="0"/>
              <a:t>Assume uniquely identifiable landmarks</a:t>
            </a:r>
          </a:p>
        </p:txBody>
      </p:sp>
      <p:sp>
        <p:nvSpPr>
          <p:cNvPr id="9" name="Content Placeholder 8">
            <a:extLst>
              <a:ext uri="{FF2B5EF4-FFF2-40B4-BE49-F238E27FC236}">
                <a16:creationId xmlns:a16="http://schemas.microsoft.com/office/drawing/2014/main" id="{512CAE92-2C0E-9B40-6F33-6C557E303691}"/>
              </a:ext>
            </a:extLst>
          </p:cNvPr>
          <p:cNvSpPr>
            <a:spLocks noGrp="1"/>
          </p:cNvSpPr>
          <p:nvPr>
            <p:ph idx="13"/>
          </p:nvPr>
        </p:nvSpPr>
        <p:spPr/>
        <p:txBody>
          <a:bodyPr/>
          <a:lstStyle/>
          <a:p>
            <a:endParaRPr lang="en-GB"/>
          </a:p>
        </p:txBody>
      </p:sp>
      <p:sp>
        <p:nvSpPr>
          <p:cNvPr id="3" name="Text Placeholder 2">
            <a:extLst>
              <a:ext uri="{FF2B5EF4-FFF2-40B4-BE49-F238E27FC236}">
                <a16:creationId xmlns:a16="http://schemas.microsoft.com/office/drawing/2014/main" id="{00F382EB-E42E-58F8-3C8E-AA173F251836}"/>
              </a:ext>
            </a:extLst>
          </p:cNvPr>
          <p:cNvSpPr>
            <a:spLocks noGrp="1"/>
          </p:cNvSpPr>
          <p:nvPr>
            <p:ph type="body" sz="half" idx="2"/>
          </p:nvPr>
        </p:nvSpPr>
        <p:spPr/>
        <p:txBody>
          <a:bodyPr/>
          <a:lstStyle/>
          <a:p>
            <a:endParaRPr lang="en-GB"/>
          </a:p>
        </p:txBody>
      </p:sp>
      <p:sp>
        <p:nvSpPr>
          <p:cNvPr id="10" name="Text Placeholder 9">
            <a:extLst>
              <a:ext uri="{FF2B5EF4-FFF2-40B4-BE49-F238E27FC236}">
                <a16:creationId xmlns:a16="http://schemas.microsoft.com/office/drawing/2014/main" id="{F099875C-98CE-758E-59E0-859AD9AB4AB8}"/>
              </a:ext>
            </a:extLst>
          </p:cNvPr>
          <p:cNvSpPr>
            <a:spLocks noGrp="1"/>
          </p:cNvSpPr>
          <p:nvPr>
            <p:ph type="body" sz="half" idx="14"/>
          </p:nvPr>
        </p:nvSpPr>
        <p:spPr/>
        <p:txBody>
          <a:bodyPr/>
          <a:lstStyle/>
          <a:p>
            <a:pPr algn="r"/>
            <a:r>
              <a:rPr lang="en-GB" i="1" dirty="0"/>
              <a:t>(not possible to show examples due to require payment of copyright fees…)</a:t>
            </a:r>
          </a:p>
        </p:txBody>
      </p:sp>
    </p:spTree>
    <p:extLst>
      <p:ext uri="{BB962C8B-B14F-4D97-AF65-F5344CB8AC3E}">
        <p14:creationId xmlns:p14="http://schemas.microsoft.com/office/powerpoint/2010/main" val="3886762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0A9A-6FB6-1601-F43D-1CC8176C2D26}"/>
              </a:ext>
            </a:extLst>
          </p:cNvPr>
          <p:cNvSpPr>
            <a:spLocks noGrp="1"/>
          </p:cNvSpPr>
          <p:nvPr>
            <p:ph type="title"/>
          </p:nvPr>
        </p:nvSpPr>
        <p:spPr/>
        <p:txBody>
          <a:bodyPr/>
          <a:lstStyle/>
          <a:p>
            <a:r>
              <a:rPr lang="en-GB" dirty="0"/>
              <a:t>Long-term SLAM in Dynamic Environments</a:t>
            </a:r>
          </a:p>
        </p:txBody>
      </p:sp>
      <p:sp>
        <p:nvSpPr>
          <p:cNvPr id="3" name="Content Placeholder 2">
            <a:extLst>
              <a:ext uri="{FF2B5EF4-FFF2-40B4-BE49-F238E27FC236}">
                <a16:creationId xmlns:a16="http://schemas.microsoft.com/office/drawing/2014/main" id="{869AE9EB-3743-0B66-0494-C6C0149A62CA}"/>
              </a:ext>
            </a:extLst>
          </p:cNvPr>
          <p:cNvSpPr>
            <a:spLocks noGrp="1"/>
          </p:cNvSpPr>
          <p:nvPr>
            <p:ph idx="1"/>
          </p:nvPr>
        </p:nvSpPr>
        <p:spPr/>
        <p:txBody>
          <a:bodyPr/>
          <a:lstStyle/>
          <a:p>
            <a:r>
              <a:rPr lang="en-US" dirty="0"/>
              <a:t>Map matching</a:t>
            </a:r>
          </a:p>
          <a:p>
            <a:pPr lvl="1"/>
            <a:r>
              <a:rPr lang="en-US" dirty="0"/>
              <a:t>Observation </a:t>
            </a:r>
            <a:r>
              <a:rPr lang="en-US" i="1" dirty="0"/>
              <a:t>vs </a:t>
            </a:r>
            <a:r>
              <a:rPr lang="en-US" dirty="0"/>
              <a:t>map</a:t>
            </a:r>
          </a:p>
          <a:p>
            <a:pPr lvl="1"/>
            <a:r>
              <a:rPr lang="en-US" dirty="0"/>
              <a:t>Clustering properties of observations</a:t>
            </a:r>
          </a:p>
          <a:p>
            <a:pPr lvl="1"/>
            <a:r>
              <a:rPr lang="en-US" dirty="0"/>
              <a:t>Ray tracing</a:t>
            </a:r>
          </a:p>
          <a:p>
            <a:pPr lvl="1"/>
            <a:r>
              <a:rPr lang="en-GB" dirty="0"/>
              <a:t>NDT + occupancy grid map hybrid representation</a:t>
            </a:r>
          </a:p>
          <a:p>
            <a:endParaRPr lang="en-GB" dirty="0"/>
          </a:p>
        </p:txBody>
      </p:sp>
      <p:sp>
        <p:nvSpPr>
          <p:cNvPr id="4" name="Date Placeholder 3">
            <a:extLst>
              <a:ext uri="{FF2B5EF4-FFF2-40B4-BE49-F238E27FC236}">
                <a16:creationId xmlns:a16="http://schemas.microsoft.com/office/drawing/2014/main" id="{744EFA03-D624-D9EC-C2F6-EE52CD1FF6A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5A55AB9C-165D-8020-C40F-5101568DA242}"/>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9C356B9B-D15B-8EFC-2A0F-2DF99145459A}"/>
              </a:ext>
            </a:extLst>
          </p:cNvPr>
          <p:cNvSpPr>
            <a:spLocks noGrp="1"/>
          </p:cNvSpPr>
          <p:nvPr>
            <p:ph type="sldNum" sz="quarter" idx="12"/>
          </p:nvPr>
        </p:nvSpPr>
        <p:spPr/>
        <p:txBody>
          <a:bodyPr/>
          <a:lstStyle/>
          <a:p>
            <a:r>
              <a:rPr lang="en-GB" dirty="0"/>
              <a:t>12</a:t>
            </a:r>
          </a:p>
        </p:txBody>
      </p:sp>
    </p:spTree>
    <p:extLst>
      <p:ext uri="{BB962C8B-B14F-4D97-AF65-F5344CB8AC3E}">
        <p14:creationId xmlns:p14="http://schemas.microsoft.com/office/powerpoint/2010/main" val="282343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0A9A-6FB6-1601-F43D-1CC8176C2D26}"/>
              </a:ext>
            </a:extLst>
          </p:cNvPr>
          <p:cNvSpPr>
            <a:spLocks noGrp="1"/>
          </p:cNvSpPr>
          <p:nvPr>
            <p:ph type="title"/>
          </p:nvPr>
        </p:nvSpPr>
        <p:spPr/>
        <p:txBody>
          <a:bodyPr/>
          <a:lstStyle/>
          <a:p>
            <a:r>
              <a:rPr lang="en-GB" dirty="0"/>
              <a:t>Long-term SLAM in Dynamic Environments</a:t>
            </a:r>
          </a:p>
        </p:txBody>
      </p:sp>
      <p:sp>
        <p:nvSpPr>
          <p:cNvPr id="3" name="Content Placeholder 2">
            <a:extLst>
              <a:ext uri="{FF2B5EF4-FFF2-40B4-BE49-F238E27FC236}">
                <a16:creationId xmlns:a16="http://schemas.microsoft.com/office/drawing/2014/main" id="{869AE9EB-3743-0B66-0494-C6C0149A62CA}"/>
              </a:ext>
            </a:extLst>
          </p:cNvPr>
          <p:cNvSpPr>
            <a:spLocks noGrp="1"/>
          </p:cNvSpPr>
          <p:nvPr>
            <p:ph idx="1"/>
          </p:nvPr>
        </p:nvSpPr>
        <p:spPr/>
        <p:txBody>
          <a:bodyPr/>
          <a:lstStyle/>
          <a:p>
            <a:r>
              <a:rPr lang="en-US" dirty="0"/>
              <a:t>Prediction modeling</a:t>
            </a:r>
          </a:p>
          <a:p>
            <a:pPr lvl="1"/>
            <a:r>
              <a:rPr lang="en-US" dirty="0"/>
              <a:t>Markov-based processes </a:t>
            </a:r>
          </a:p>
          <a:p>
            <a:pPr lvl="2"/>
            <a:r>
              <a:rPr lang="en-US" dirty="0"/>
              <a:t>State holding time associated to Markov processes</a:t>
            </a:r>
          </a:p>
          <a:p>
            <a:pPr lvl="1"/>
            <a:r>
              <a:rPr lang="en-US" dirty="0"/>
              <a:t>Patterns periodicity</a:t>
            </a:r>
          </a:p>
          <a:p>
            <a:pPr lvl="2"/>
            <a:r>
              <a:rPr lang="en-US" dirty="0"/>
              <a:t>Fourier analysis</a:t>
            </a:r>
          </a:p>
          <a:p>
            <a:pPr lvl="2"/>
            <a:r>
              <a:rPr lang="en-US" dirty="0"/>
              <a:t>Time series as stationary stochastic processes</a:t>
            </a:r>
          </a:p>
          <a:p>
            <a:pPr lvl="1"/>
            <a:r>
              <a:rPr lang="en-US" dirty="0"/>
              <a:t>CNN-based prediction</a:t>
            </a:r>
          </a:p>
        </p:txBody>
      </p:sp>
      <p:sp>
        <p:nvSpPr>
          <p:cNvPr id="4" name="Date Placeholder 3">
            <a:extLst>
              <a:ext uri="{FF2B5EF4-FFF2-40B4-BE49-F238E27FC236}">
                <a16:creationId xmlns:a16="http://schemas.microsoft.com/office/drawing/2014/main" id="{744EFA03-D624-D9EC-C2F6-EE52CD1FF6A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5A55AB9C-165D-8020-C40F-5101568DA242}"/>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9C356B9B-D15B-8EFC-2A0F-2DF99145459A}"/>
              </a:ext>
            </a:extLst>
          </p:cNvPr>
          <p:cNvSpPr>
            <a:spLocks noGrp="1"/>
          </p:cNvSpPr>
          <p:nvPr>
            <p:ph type="sldNum" sz="quarter" idx="12"/>
          </p:nvPr>
        </p:nvSpPr>
        <p:spPr/>
        <p:txBody>
          <a:bodyPr/>
          <a:lstStyle/>
          <a:p>
            <a:r>
              <a:rPr lang="en-GB" dirty="0"/>
              <a:t>13</a:t>
            </a:r>
          </a:p>
        </p:txBody>
      </p:sp>
    </p:spTree>
    <p:extLst>
      <p:ext uri="{BB962C8B-B14F-4D97-AF65-F5344CB8AC3E}">
        <p14:creationId xmlns:p14="http://schemas.microsoft.com/office/powerpoint/2010/main" val="2012883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0A9A-6FB6-1601-F43D-1CC8176C2D26}"/>
              </a:ext>
            </a:extLst>
          </p:cNvPr>
          <p:cNvSpPr>
            <a:spLocks noGrp="1"/>
          </p:cNvSpPr>
          <p:nvPr>
            <p:ph type="title"/>
          </p:nvPr>
        </p:nvSpPr>
        <p:spPr/>
        <p:txBody>
          <a:bodyPr/>
          <a:lstStyle/>
          <a:p>
            <a:r>
              <a:rPr lang="en-GB" dirty="0"/>
              <a:t>Long-term SLAM in Dynamic Environments</a:t>
            </a:r>
          </a:p>
        </p:txBody>
      </p:sp>
      <p:sp>
        <p:nvSpPr>
          <p:cNvPr id="3" name="Content Placeholder 2">
            <a:extLst>
              <a:ext uri="{FF2B5EF4-FFF2-40B4-BE49-F238E27FC236}">
                <a16:creationId xmlns:a16="http://schemas.microsoft.com/office/drawing/2014/main" id="{869AE9EB-3743-0B66-0494-C6C0149A62CA}"/>
              </a:ext>
            </a:extLst>
          </p:cNvPr>
          <p:cNvSpPr>
            <a:spLocks noGrp="1"/>
          </p:cNvSpPr>
          <p:nvPr>
            <p:ph idx="1"/>
          </p:nvPr>
        </p:nvSpPr>
        <p:spPr/>
        <p:txBody>
          <a:bodyPr/>
          <a:lstStyle/>
          <a:p>
            <a:r>
              <a:rPr lang="en-US" dirty="0"/>
              <a:t>Dynamic objects detection</a:t>
            </a:r>
          </a:p>
          <a:p>
            <a:pPr lvl="1"/>
            <a:r>
              <a:rPr lang="en-US" dirty="0"/>
              <a:t>Assume certain semantic classes as dynamic</a:t>
            </a:r>
          </a:p>
          <a:p>
            <a:pPr lvl="1"/>
            <a:r>
              <a:rPr lang="en-US" dirty="0"/>
              <a:t>Use features associated to static objects for localization and mapping</a:t>
            </a:r>
          </a:p>
          <a:p>
            <a:pPr lvl="1"/>
            <a:r>
              <a:rPr lang="en-US" dirty="0"/>
              <a:t>Bounding box segmentation (YOLO)</a:t>
            </a:r>
          </a:p>
          <a:p>
            <a:pPr lvl="1"/>
            <a:r>
              <a:rPr lang="en-US" dirty="0"/>
              <a:t>Pixel-wise segmentation</a:t>
            </a:r>
          </a:p>
        </p:txBody>
      </p:sp>
      <p:sp>
        <p:nvSpPr>
          <p:cNvPr id="4" name="Date Placeholder 3">
            <a:extLst>
              <a:ext uri="{FF2B5EF4-FFF2-40B4-BE49-F238E27FC236}">
                <a16:creationId xmlns:a16="http://schemas.microsoft.com/office/drawing/2014/main" id="{744EFA03-D624-D9EC-C2F6-EE52CD1FF6A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5A55AB9C-165D-8020-C40F-5101568DA242}"/>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9C356B9B-D15B-8EFC-2A0F-2DF99145459A}"/>
              </a:ext>
            </a:extLst>
          </p:cNvPr>
          <p:cNvSpPr>
            <a:spLocks noGrp="1"/>
          </p:cNvSpPr>
          <p:nvPr>
            <p:ph type="sldNum" sz="quarter" idx="12"/>
          </p:nvPr>
        </p:nvSpPr>
        <p:spPr/>
        <p:txBody>
          <a:bodyPr/>
          <a:lstStyle/>
          <a:p>
            <a:r>
              <a:rPr lang="en-GB" dirty="0"/>
              <a:t>14</a:t>
            </a:r>
          </a:p>
        </p:txBody>
      </p:sp>
    </p:spTree>
    <p:extLst>
      <p:ext uri="{BB962C8B-B14F-4D97-AF65-F5344CB8AC3E}">
        <p14:creationId xmlns:p14="http://schemas.microsoft.com/office/powerpoint/2010/main" val="1560246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9256-33A1-4ADD-2295-2B7323419D1B}"/>
              </a:ext>
            </a:extLst>
          </p:cNvPr>
          <p:cNvSpPr>
            <a:spLocks noGrp="1"/>
          </p:cNvSpPr>
          <p:nvPr>
            <p:ph type="title"/>
          </p:nvPr>
        </p:nvSpPr>
        <p:spPr/>
        <p:txBody>
          <a:bodyPr>
            <a:normAutofit/>
          </a:bodyPr>
          <a:lstStyle/>
          <a:p>
            <a:r>
              <a:rPr lang="en-GB" dirty="0"/>
              <a:t>Open Challenges</a:t>
            </a:r>
          </a:p>
        </p:txBody>
      </p:sp>
      <p:sp>
        <p:nvSpPr>
          <p:cNvPr id="3" name="Content Placeholder 2">
            <a:extLst>
              <a:ext uri="{FF2B5EF4-FFF2-40B4-BE49-F238E27FC236}">
                <a16:creationId xmlns:a16="http://schemas.microsoft.com/office/drawing/2014/main" id="{AB27C6F5-AF9F-3C45-386A-02ECF3FCF04A}"/>
              </a:ext>
            </a:extLst>
          </p:cNvPr>
          <p:cNvSpPr>
            <a:spLocks noGrp="1"/>
          </p:cNvSpPr>
          <p:nvPr>
            <p:ph idx="1"/>
          </p:nvPr>
        </p:nvSpPr>
        <p:spPr/>
        <p:txBody>
          <a:bodyPr/>
          <a:lstStyle/>
          <a:p>
            <a:r>
              <a:rPr lang="en-US" dirty="0"/>
              <a:t>Heterogeneous sensor configurations</a:t>
            </a:r>
          </a:p>
          <a:p>
            <a:endParaRPr lang="en-US" dirty="0"/>
          </a:p>
          <a:p>
            <a:r>
              <a:rPr lang="en-US" dirty="0"/>
              <a:t>Multi-modal maps</a:t>
            </a:r>
          </a:p>
          <a:p>
            <a:endParaRPr lang="en-US" dirty="0"/>
          </a:p>
          <a:p>
            <a:r>
              <a:rPr lang="en-US" dirty="0"/>
              <a:t>Tightly-coupling of dynamics estimation into localization and mapping</a:t>
            </a:r>
          </a:p>
          <a:p>
            <a:endParaRPr lang="en-US" dirty="0"/>
          </a:p>
          <a:p>
            <a:r>
              <a:rPr lang="en-US" dirty="0"/>
              <a:t>Online estimation of the observations’ dynamicity</a:t>
            </a:r>
          </a:p>
          <a:p>
            <a:endParaRPr lang="en-US" dirty="0"/>
          </a:p>
          <a:p>
            <a:r>
              <a:rPr lang="en-US" dirty="0"/>
              <a:t>Human-Machine Interfaces (HMI)</a:t>
            </a:r>
            <a:endParaRPr lang="en-GB" dirty="0"/>
          </a:p>
        </p:txBody>
      </p:sp>
      <p:sp>
        <p:nvSpPr>
          <p:cNvPr id="4" name="Date Placeholder 3">
            <a:extLst>
              <a:ext uri="{FF2B5EF4-FFF2-40B4-BE49-F238E27FC236}">
                <a16:creationId xmlns:a16="http://schemas.microsoft.com/office/drawing/2014/main" id="{DAD94166-B9B3-FF36-29C6-A2378E1DBB98}"/>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F13009FD-1C33-0D76-D44B-F9DACA75ED39}"/>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530B4AC9-CA82-24A7-3F68-DA7F5B0B4CD3}"/>
              </a:ext>
            </a:extLst>
          </p:cNvPr>
          <p:cNvSpPr>
            <a:spLocks noGrp="1"/>
          </p:cNvSpPr>
          <p:nvPr>
            <p:ph type="sldNum" sz="quarter" idx="12"/>
          </p:nvPr>
        </p:nvSpPr>
        <p:spPr/>
        <p:txBody>
          <a:bodyPr/>
          <a:lstStyle/>
          <a:p>
            <a:r>
              <a:rPr lang="en-GB" dirty="0"/>
              <a:t>15</a:t>
            </a:r>
          </a:p>
        </p:txBody>
      </p:sp>
    </p:spTree>
    <p:extLst>
      <p:ext uri="{BB962C8B-B14F-4D97-AF65-F5344CB8AC3E}">
        <p14:creationId xmlns:p14="http://schemas.microsoft.com/office/powerpoint/2010/main" val="4222360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solidFill>
                  <a:schemeClr val="bg1">
                    <a:lumMod val="50000"/>
                  </a:schemeClr>
                </a:solidFill>
              </a:rPr>
              <a:t>Introduction</a:t>
            </a:r>
          </a:p>
          <a:p>
            <a:r>
              <a:rPr lang="en-US" dirty="0">
                <a:solidFill>
                  <a:schemeClr val="bg1">
                    <a:lumMod val="50000"/>
                  </a:schemeClr>
                </a:solidFill>
              </a:rPr>
              <a:t>Literature Review</a:t>
            </a:r>
          </a:p>
          <a:p>
            <a:r>
              <a:rPr lang="en-US" dirty="0"/>
              <a:t>Thesis Statement</a:t>
            </a:r>
          </a:p>
          <a:p>
            <a:pPr lvl="1"/>
            <a:r>
              <a:rPr lang="en-US" dirty="0"/>
              <a:t>Problem Statement</a:t>
            </a:r>
          </a:p>
          <a:p>
            <a:pPr lvl="1"/>
            <a:r>
              <a:rPr lang="en-US" dirty="0"/>
              <a:t>Research Questions (RQ) and Hypotheses (H)</a:t>
            </a:r>
          </a:p>
          <a:p>
            <a:r>
              <a:rPr lang="en-US" dirty="0">
                <a:solidFill>
                  <a:schemeClr val="bg1">
                    <a:lumMod val="50000"/>
                  </a:schemeClr>
                </a:solidFill>
              </a:rPr>
              <a:t>Preliminary Developments</a:t>
            </a:r>
          </a:p>
          <a:p>
            <a:r>
              <a:rPr lang="en-US" dirty="0">
                <a:solidFill>
                  <a:schemeClr val="bg1">
                    <a:lumMod val="50000"/>
                  </a:schemeClr>
                </a:solidFill>
              </a:rPr>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r>
              <a:rPr lang="en-GB" dirty="0"/>
              <a:t>16</a:t>
            </a:r>
          </a:p>
        </p:txBody>
      </p:sp>
    </p:spTree>
    <p:extLst>
      <p:ext uri="{BB962C8B-B14F-4D97-AF65-F5344CB8AC3E}">
        <p14:creationId xmlns:p14="http://schemas.microsoft.com/office/powerpoint/2010/main" val="149522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6A140-7415-6A09-91F5-784286EDC1AD}"/>
              </a:ext>
            </a:extLst>
          </p:cNvPr>
          <p:cNvSpPr>
            <a:spLocks noGrp="1"/>
          </p:cNvSpPr>
          <p:nvPr>
            <p:ph type="title"/>
          </p:nvPr>
        </p:nvSpPr>
        <p:spPr/>
        <p:txBody>
          <a:bodyPr>
            <a:normAutofit/>
          </a:bodyPr>
          <a:lstStyle/>
          <a:p>
            <a:r>
              <a:rPr lang="en-GB" dirty="0"/>
              <a:t>Thesis Statement: Problem Statement</a:t>
            </a:r>
          </a:p>
        </p:txBody>
      </p:sp>
      <p:sp>
        <p:nvSpPr>
          <p:cNvPr id="3" name="Content Placeholder 2">
            <a:extLst>
              <a:ext uri="{FF2B5EF4-FFF2-40B4-BE49-F238E27FC236}">
                <a16:creationId xmlns:a16="http://schemas.microsoft.com/office/drawing/2014/main" id="{0D725F77-7433-3388-F173-90A71FB95A1C}"/>
              </a:ext>
            </a:extLst>
          </p:cNvPr>
          <p:cNvSpPr>
            <a:spLocks noGrp="1"/>
          </p:cNvSpPr>
          <p:nvPr>
            <p:ph idx="1"/>
          </p:nvPr>
        </p:nvSpPr>
        <p:spPr/>
        <p:txBody>
          <a:bodyPr/>
          <a:lstStyle/>
          <a:p>
            <a:r>
              <a:rPr lang="en-US" dirty="0"/>
              <a:t>Localize a mobile robot within dynamic indoor environment</a:t>
            </a:r>
          </a:p>
          <a:p>
            <a:r>
              <a:rPr lang="en-US" dirty="0"/>
              <a:t>Decide how and when to update the map</a:t>
            </a:r>
          </a:p>
          <a:p>
            <a:r>
              <a:rPr lang="en-US" dirty="0"/>
              <a:t>No assumption on the environment dynamics</a:t>
            </a:r>
          </a:p>
        </p:txBody>
      </p:sp>
      <p:sp>
        <p:nvSpPr>
          <p:cNvPr id="4" name="Date Placeholder 3">
            <a:extLst>
              <a:ext uri="{FF2B5EF4-FFF2-40B4-BE49-F238E27FC236}">
                <a16:creationId xmlns:a16="http://schemas.microsoft.com/office/drawing/2014/main" id="{9E987E94-D89B-CE73-5E9B-D77EA61D6A0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65002941-18BA-797F-8059-03581E97193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D79E7183-F34F-AB81-388B-EE641DC14C1B}"/>
              </a:ext>
            </a:extLst>
          </p:cNvPr>
          <p:cNvSpPr>
            <a:spLocks noGrp="1"/>
          </p:cNvSpPr>
          <p:nvPr>
            <p:ph type="sldNum" sz="quarter" idx="12"/>
          </p:nvPr>
        </p:nvSpPr>
        <p:spPr/>
        <p:txBody>
          <a:bodyPr/>
          <a:lstStyle/>
          <a:p>
            <a:r>
              <a:rPr lang="en-GB" dirty="0"/>
              <a:t>16</a:t>
            </a:r>
          </a:p>
        </p:txBody>
      </p:sp>
    </p:spTree>
    <p:extLst>
      <p:ext uri="{BB962C8B-B14F-4D97-AF65-F5344CB8AC3E}">
        <p14:creationId xmlns:p14="http://schemas.microsoft.com/office/powerpoint/2010/main" val="1547198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6A140-7415-6A09-91F5-784286EDC1AD}"/>
              </a:ext>
            </a:extLst>
          </p:cNvPr>
          <p:cNvSpPr>
            <a:spLocks noGrp="1"/>
          </p:cNvSpPr>
          <p:nvPr>
            <p:ph type="title"/>
          </p:nvPr>
        </p:nvSpPr>
        <p:spPr/>
        <p:txBody>
          <a:bodyPr>
            <a:normAutofit/>
          </a:bodyPr>
          <a:lstStyle/>
          <a:p>
            <a:r>
              <a:rPr lang="en-GB" dirty="0"/>
              <a:t>Thesis Statement: Problem Statement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725F77-7433-3388-F173-90A71FB95A1C}"/>
                  </a:ext>
                </a:extLst>
              </p:cNvPr>
              <p:cNvSpPr>
                <a:spLocks noGrp="1"/>
              </p:cNvSpPr>
              <p:nvPr>
                <p:ph idx="1"/>
              </p:nvPr>
            </p:nvSpPr>
            <p:spPr/>
            <p:txBody>
              <a:bodyPr/>
              <a:lstStyle/>
              <a:p>
                <a:r>
                  <a:rPr lang="en-US" dirty="0"/>
                  <a:t>Localize a mobile robot within dynamic indoor environment</a:t>
                </a:r>
              </a:p>
              <a:p>
                <a:r>
                  <a:rPr lang="en-US" dirty="0"/>
                  <a:t>Decide how and when to update the map</a:t>
                </a:r>
              </a:p>
              <a:p>
                <a:r>
                  <a:rPr lang="en-US" dirty="0"/>
                  <a:t>No assumption on the environment dynamics</a:t>
                </a:r>
              </a:p>
              <a:p>
                <a:endParaRPr lang="en-US" dirty="0"/>
              </a:p>
              <a:p>
                <a:r>
                  <a:rPr lang="en-US" dirty="0"/>
                  <a:t>Mathematical formulation:</a:t>
                </a:r>
              </a:p>
              <a:p>
                <a:pPr lvl="1"/>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𝑑</m:t>
                            </m:r>
                          </m:e>
                          <m:sub>
                            <m:r>
                              <a:rPr lang="en-US" b="0" i="1" smtClean="0">
                                <a:solidFill>
                                  <a:srgbClr val="FF0000"/>
                                </a:solidFill>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r>
                              <a:rPr lang="en-US" b="0" i="1" smtClean="0">
                                <a:latin typeface="Cambria Math" panose="02040503050406030204" pitchFamily="18" charset="0"/>
                              </a:rPr>
                              <m:t>𝑡</m:t>
                            </m:r>
                          </m:sub>
                        </m:sSub>
                      </m:e>
                    </m:d>
                  </m:oMath>
                </a14:m>
                <a:r>
                  <a:rPr lang="en-US" dirty="0"/>
                  <a:t>		(online SLAM)</a:t>
                </a:r>
              </a:p>
              <a:p>
                <a:pPr lvl="1"/>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𝑑</m:t>
                            </m:r>
                          </m:e>
                          <m:sub>
                            <m:r>
                              <a:rPr lang="en-US" b="0" i="1" smtClean="0">
                                <a:solidFill>
                                  <a:srgbClr val="FF0000"/>
                                </a:solidFill>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r>
                              <a:rPr lang="en-US" b="0" i="1" smtClean="0">
                                <a:latin typeface="Cambria Math" panose="02040503050406030204" pitchFamily="18" charset="0"/>
                              </a:rPr>
                              <m:t>𝑡</m:t>
                            </m:r>
                          </m:sub>
                        </m:sSub>
                      </m:e>
                    </m:d>
                  </m:oMath>
                </a14:m>
                <a:endParaRPr lang="en-US" dirty="0"/>
              </a:p>
              <a:p>
                <a:pPr lvl="1"/>
                <a:endParaRPr lang="en-US" dirty="0"/>
              </a:p>
              <a:p>
                <a:pPr lvl="1"/>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𝑑</m:t>
                            </m:r>
                          </m:e>
                          <m:sub>
                            <m:r>
                              <a:rPr lang="en-US" b="0" i="1" smtClean="0">
                                <a:solidFill>
                                  <a:srgbClr val="FF0000"/>
                                </a:solidFill>
                                <a:latin typeface="Cambria Math" panose="02040503050406030204" pitchFamily="18" charset="0"/>
                              </a:rPr>
                              <m:t>1:</m:t>
                            </m:r>
                            <m:r>
                              <a:rPr lang="en-US" b="0" i="1" smtClean="0">
                                <a:solidFill>
                                  <a:srgbClr val="FF0000"/>
                                </a:solidFill>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r>
                              <a:rPr lang="en-US" b="0" i="1" smtClean="0">
                                <a:latin typeface="Cambria Math" panose="02040503050406030204" pitchFamily="18" charset="0"/>
                              </a:rPr>
                              <m:t>𝑡</m:t>
                            </m:r>
                          </m:sub>
                        </m:sSub>
                      </m:e>
                    </m:d>
                  </m:oMath>
                </a14:m>
                <a:r>
                  <a:rPr lang="en-US" dirty="0"/>
                  <a:t>		(full SLAM)</a:t>
                </a:r>
              </a:p>
              <a:p>
                <a:pPr lvl="1"/>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r>
                              <a:rPr lang="en-US" i="1">
                                <a:latin typeface="Cambria Math" panose="02040503050406030204" pitchFamily="18" charset="0"/>
                              </a:rPr>
                              <m:t>𝑡</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𝑑</m:t>
                            </m:r>
                          </m:e>
                          <m:sub>
                            <m:r>
                              <a:rPr lang="en-US" i="1">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1:</m:t>
                            </m:r>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1:</m:t>
                            </m:r>
                            <m:r>
                              <a:rPr lang="en-US" i="1">
                                <a:latin typeface="Cambria Math" panose="02040503050406030204" pitchFamily="18" charset="0"/>
                              </a:rPr>
                              <m:t>𝑡</m:t>
                            </m:r>
                          </m:sub>
                        </m:sSub>
                      </m:e>
                    </m:d>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0D725F77-7433-3388-F173-90A71FB95A1C}"/>
                  </a:ext>
                </a:extLst>
              </p:cNvPr>
              <p:cNvSpPr>
                <a:spLocks noGrp="1" noRot="1" noChangeAspect="1" noMove="1" noResize="1" noEditPoints="1" noAdjustHandles="1" noChangeArrowheads="1" noChangeShapeType="1" noTextEdit="1"/>
              </p:cNvSpPr>
              <p:nvPr>
                <p:ph idx="1"/>
              </p:nvPr>
            </p:nvSpPr>
            <p:spPr>
              <a:blipFill>
                <a:blip r:embed="rId3"/>
                <a:stretch>
                  <a:fillRect l="-794" t="-1597"/>
                </a:stretch>
              </a:blipFill>
            </p:spPr>
            <p:txBody>
              <a:bodyPr/>
              <a:lstStyle/>
              <a:p>
                <a:r>
                  <a:rPr lang="en-GB">
                    <a:noFill/>
                  </a:rPr>
                  <a:t> </a:t>
                </a:r>
              </a:p>
            </p:txBody>
          </p:sp>
        </mc:Fallback>
      </mc:AlternateContent>
      <p:sp>
        <p:nvSpPr>
          <p:cNvPr id="4" name="Date Placeholder 3">
            <a:extLst>
              <a:ext uri="{FF2B5EF4-FFF2-40B4-BE49-F238E27FC236}">
                <a16:creationId xmlns:a16="http://schemas.microsoft.com/office/drawing/2014/main" id="{9E987E94-D89B-CE73-5E9B-D77EA61D6A0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65002941-18BA-797F-8059-03581E97193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D79E7183-F34F-AB81-388B-EE641DC14C1B}"/>
              </a:ext>
            </a:extLst>
          </p:cNvPr>
          <p:cNvSpPr>
            <a:spLocks noGrp="1"/>
          </p:cNvSpPr>
          <p:nvPr>
            <p:ph type="sldNum" sz="quarter" idx="12"/>
          </p:nvPr>
        </p:nvSpPr>
        <p:spPr/>
        <p:txBody>
          <a:bodyPr/>
          <a:lstStyle/>
          <a:p>
            <a:r>
              <a:rPr lang="en-GB" dirty="0"/>
              <a:t>16</a:t>
            </a:r>
          </a:p>
        </p:txBody>
      </p:sp>
    </p:spTree>
    <p:extLst>
      <p:ext uri="{BB962C8B-B14F-4D97-AF65-F5344CB8AC3E}">
        <p14:creationId xmlns:p14="http://schemas.microsoft.com/office/powerpoint/2010/main" val="4185178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74EB9-9A4A-2CA5-74C5-E0FAA9455518}"/>
              </a:ext>
            </a:extLst>
          </p:cNvPr>
          <p:cNvSpPr>
            <a:spLocks noGrp="1"/>
          </p:cNvSpPr>
          <p:nvPr>
            <p:ph type="title"/>
          </p:nvPr>
        </p:nvSpPr>
        <p:spPr/>
        <p:txBody>
          <a:bodyPr/>
          <a:lstStyle/>
          <a:p>
            <a:r>
              <a:rPr lang="en-GB" dirty="0"/>
              <a:t>Research Questions (RQ) and Hypotheses (H)</a:t>
            </a:r>
          </a:p>
        </p:txBody>
      </p:sp>
      <p:sp>
        <p:nvSpPr>
          <p:cNvPr id="3" name="Content Placeholder 2">
            <a:extLst>
              <a:ext uri="{FF2B5EF4-FFF2-40B4-BE49-F238E27FC236}">
                <a16:creationId xmlns:a16="http://schemas.microsoft.com/office/drawing/2014/main" id="{8EDB6F4C-E2AF-276D-665B-16881C05CC2C}"/>
              </a:ext>
            </a:extLst>
          </p:cNvPr>
          <p:cNvSpPr>
            <a:spLocks noGrp="1"/>
          </p:cNvSpPr>
          <p:nvPr>
            <p:ph idx="1"/>
          </p:nvPr>
        </p:nvSpPr>
        <p:spPr/>
        <p:txBody>
          <a:bodyPr/>
          <a:lstStyle/>
          <a:p>
            <a:r>
              <a:rPr lang="en-US" b="1" dirty="0"/>
              <a:t>RQ1:</a:t>
            </a:r>
            <a:r>
              <a:rPr lang="en-US" dirty="0"/>
              <a:t> Extrinsic parameter calibration without external equipment</a:t>
            </a:r>
          </a:p>
          <a:p>
            <a:pPr lvl="1"/>
            <a:r>
              <a:rPr lang="en-US" b="1" i="1" dirty="0"/>
              <a:t>H1: </a:t>
            </a:r>
            <a:r>
              <a:rPr lang="en-US" i="1" dirty="0"/>
              <a:t>Convergence on relative motion of each sensor in the same coordinate frame should be maximum for the true value of the sensors’ extrinsic parameters</a:t>
            </a:r>
          </a:p>
          <a:p>
            <a:pPr lvl="1"/>
            <a:endParaRPr lang="en-US" dirty="0"/>
          </a:p>
          <a:p>
            <a:r>
              <a:rPr lang="en-US" b="1" dirty="0"/>
              <a:t>RQ2:</a:t>
            </a:r>
            <a:r>
              <a:rPr lang="en-US" dirty="0"/>
              <a:t> Improve mapping results and their long-term stability when performing SLAM in a dynamic indoor environment</a:t>
            </a:r>
          </a:p>
          <a:p>
            <a:pPr lvl="1"/>
            <a:r>
              <a:rPr lang="en-US" b="1" i="1" dirty="0"/>
              <a:t>H2.1: </a:t>
            </a:r>
            <a:r>
              <a:rPr lang="en-US" i="1" dirty="0"/>
              <a:t>Dynamics history in an area, the points state (position, velocity), their existence throughout time, and dynamics clustering properties relative to neighborhood should give a model for the environment dynamics</a:t>
            </a:r>
          </a:p>
          <a:p>
            <a:pPr lvl="1"/>
            <a:r>
              <a:rPr lang="en-US" b="1" i="1" dirty="0"/>
              <a:t>H2.2: </a:t>
            </a:r>
            <a:r>
              <a:rPr lang="en-US" i="1" dirty="0"/>
              <a:t>Tightly-coupling of the environment dynamics modeling into mapping process using the dynamics as weights while also rejecting highly dynamic observations, giving more importance to static observations, should improve mapping results</a:t>
            </a:r>
            <a:endParaRPr lang="en-GB" i="1" dirty="0"/>
          </a:p>
        </p:txBody>
      </p:sp>
      <p:sp>
        <p:nvSpPr>
          <p:cNvPr id="4" name="Date Placeholder 3">
            <a:extLst>
              <a:ext uri="{FF2B5EF4-FFF2-40B4-BE49-F238E27FC236}">
                <a16:creationId xmlns:a16="http://schemas.microsoft.com/office/drawing/2014/main" id="{710D75B7-60A1-7100-41C1-D1AAD7CE8C31}"/>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47D5E70B-CC0B-C6A3-12EA-609A4650F21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C72616-377E-547B-4CB8-F6D3BD948B13}"/>
              </a:ext>
            </a:extLst>
          </p:cNvPr>
          <p:cNvSpPr>
            <a:spLocks noGrp="1"/>
          </p:cNvSpPr>
          <p:nvPr>
            <p:ph type="sldNum" sz="quarter" idx="12"/>
          </p:nvPr>
        </p:nvSpPr>
        <p:spPr/>
        <p:txBody>
          <a:bodyPr/>
          <a:lstStyle/>
          <a:p>
            <a:r>
              <a:rPr lang="en-GB" dirty="0"/>
              <a:t>17</a:t>
            </a:r>
          </a:p>
        </p:txBody>
      </p:sp>
    </p:spTree>
    <p:extLst>
      <p:ext uri="{BB962C8B-B14F-4D97-AF65-F5344CB8AC3E}">
        <p14:creationId xmlns:p14="http://schemas.microsoft.com/office/powerpoint/2010/main" val="3647886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1216-F61C-0177-5FD2-DF555163A9EB}"/>
              </a:ext>
            </a:extLst>
          </p:cNvPr>
          <p:cNvSpPr>
            <a:spLocks noGrp="1"/>
          </p:cNvSpPr>
          <p:nvPr>
            <p:ph type="title"/>
          </p:nvPr>
        </p:nvSpPr>
        <p:spPr/>
        <p:txBody>
          <a:bodyPr/>
          <a:lstStyle/>
          <a:p>
            <a:r>
              <a:rPr lang="en-GB" dirty="0"/>
              <a:t>Research Questions (RQ) and Hypotheses (H)</a:t>
            </a:r>
          </a:p>
        </p:txBody>
      </p:sp>
      <p:sp>
        <p:nvSpPr>
          <p:cNvPr id="3" name="Content Placeholder 2">
            <a:extLst>
              <a:ext uri="{FF2B5EF4-FFF2-40B4-BE49-F238E27FC236}">
                <a16:creationId xmlns:a16="http://schemas.microsoft.com/office/drawing/2014/main" id="{6EF2772A-830C-EBB0-21F3-6BCCC2D90B13}"/>
              </a:ext>
            </a:extLst>
          </p:cNvPr>
          <p:cNvSpPr>
            <a:spLocks noGrp="1"/>
          </p:cNvSpPr>
          <p:nvPr>
            <p:ph idx="1"/>
          </p:nvPr>
        </p:nvSpPr>
        <p:spPr/>
        <p:txBody>
          <a:bodyPr/>
          <a:lstStyle/>
          <a:p>
            <a:r>
              <a:rPr lang="en-US" b="1" dirty="0"/>
              <a:t>RQ3:</a:t>
            </a:r>
            <a:r>
              <a:rPr lang="en-US" dirty="0"/>
              <a:t> Integrate environment dynamics into the localization process</a:t>
            </a:r>
          </a:p>
          <a:p>
            <a:pPr lvl="1"/>
            <a:r>
              <a:rPr lang="en-US" b="1" i="1" dirty="0"/>
              <a:t>H3: </a:t>
            </a:r>
            <a:r>
              <a:rPr lang="en-US" i="1" dirty="0"/>
              <a:t>Similar to H2.2, tightly-coupling of environment into the localization estimation process should achieve long-term stability of the localization results in a dynamic indoor environment</a:t>
            </a:r>
            <a:endParaRPr lang="en-GB" i="1" dirty="0"/>
          </a:p>
        </p:txBody>
      </p:sp>
      <p:sp>
        <p:nvSpPr>
          <p:cNvPr id="4" name="Date Placeholder 3">
            <a:extLst>
              <a:ext uri="{FF2B5EF4-FFF2-40B4-BE49-F238E27FC236}">
                <a16:creationId xmlns:a16="http://schemas.microsoft.com/office/drawing/2014/main" id="{641CA853-0FBB-C6AA-5629-9FED915A04C9}"/>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CD0D03C0-DB04-9C64-934F-30D66956AEBE}"/>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3CBBBB21-5034-92A2-8DD8-92B9DBCE4BF9}"/>
              </a:ext>
            </a:extLst>
          </p:cNvPr>
          <p:cNvSpPr>
            <a:spLocks noGrp="1"/>
          </p:cNvSpPr>
          <p:nvPr>
            <p:ph type="sldNum" sz="quarter" idx="12"/>
          </p:nvPr>
        </p:nvSpPr>
        <p:spPr/>
        <p:txBody>
          <a:bodyPr/>
          <a:lstStyle/>
          <a:p>
            <a:r>
              <a:rPr lang="en-GB" dirty="0"/>
              <a:t>18</a:t>
            </a:r>
          </a:p>
        </p:txBody>
      </p:sp>
    </p:spTree>
    <p:extLst>
      <p:ext uri="{BB962C8B-B14F-4D97-AF65-F5344CB8AC3E}">
        <p14:creationId xmlns:p14="http://schemas.microsoft.com/office/powerpoint/2010/main" val="4059123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5B9939-CFA7-9AA9-CDE5-33EF0179138E}"/>
              </a:ext>
            </a:extLst>
          </p:cNvPr>
          <p:cNvSpPr>
            <a:spLocks noGrp="1"/>
          </p:cNvSpPr>
          <p:nvPr>
            <p:ph type="title"/>
          </p:nvPr>
        </p:nvSpPr>
        <p:spPr/>
        <p:txBody>
          <a:bodyPr/>
          <a:lstStyle/>
          <a:p>
            <a:r>
              <a:rPr lang="en-GB" dirty="0"/>
              <a:t>Research Questions (RQ) and Hypotheses (H)</a:t>
            </a:r>
          </a:p>
        </p:txBody>
      </p:sp>
      <p:pic>
        <p:nvPicPr>
          <p:cNvPr id="11" name="Content Placeholder 10" descr="Diagram&#10;&#10;Description automatically generated">
            <a:extLst>
              <a:ext uri="{FF2B5EF4-FFF2-40B4-BE49-F238E27FC236}">
                <a16:creationId xmlns:a16="http://schemas.microsoft.com/office/drawing/2014/main" id="{21D379FC-9AFE-895D-7B78-B1D2688559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91297" y="1349375"/>
            <a:ext cx="4090494" cy="4470400"/>
          </a:xfrm>
        </p:spPr>
      </p:pic>
      <p:sp>
        <p:nvSpPr>
          <p:cNvPr id="4" name="Date Placeholder 3">
            <a:extLst>
              <a:ext uri="{FF2B5EF4-FFF2-40B4-BE49-F238E27FC236}">
                <a16:creationId xmlns:a16="http://schemas.microsoft.com/office/drawing/2014/main" id="{60B8C370-0A4B-C3F1-8F3E-292B129A9C5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654C37D2-206A-2FE3-475E-499D45FBFA3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0B7025B2-56E9-8313-A225-4BDC2B21D4F6}"/>
              </a:ext>
            </a:extLst>
          </p:cNvPr>
          <p:cNvSpPr>
            <a:spLocks noGrp="1"/>
          </p:cNvSpPr>
          <p:nvPr>
            <p:ph type="sldNum" sz="quarter" idx="12"/>
          </p:nvPr>
        </p:nvSpPr>
        <p:spPr/>
        <p:txBody>
          <a:bodyPr/>
          <a:lstStyle/>
          <a:p>
            <a:r>
              <a:rPr lang="en-GB" dirty="0"/>
              <a:t>19</a:t>
            </a:r>
          </a:p>
        </p:txBody>
      </p:sp>
      <p:sp>
        <p:nvSpPr>
          <p:cNvPr id="9" name="Text Placeholder 8">
            <a:extLst>
              <a:ext uri="{FF2B5EF4-FFF2-40B4-BE49-F238E27FC236}">
                <a16:creationId xmlns:a16="http://schemas.microsoft.com/office/drawing/2014/main" id="{597B9759-B160-E27D-316F-09BE269E3A8A}"/>
              </a:ext>
            </a:extLst>
          </p:cNvPr>
          <p:cNvSpPr>
            <a:spLocks noGrp="1"/>
          </p:cNvSpPr>
          <p:nvPr>
            <p:ph type="body" sz="half" idx="2"/>
          </p:nvPr>
        </p:nvSpPr>
        <p:spPr/>
        <p:txBody>
          <a:bodyPr/>
          <a:lstStyle/>
          <a:p>
            <a:r>
              <a:rPr lang="en-US" dirty="0"/>
              <a:t>Fig. 6: </a:t>
            </a:r>
            <a:r>
              <a:rPr lang="en-GB" dirty="0"/>
              <a:t>Generic block diagram for this PhD thesis research proposal in the context of SLAM</a:t>
            </a:r>
          </a:p>
        </p:txBody>
      </p:sp>
    </p:spTree>
    <p:extLst>
      <p:ext uri="{BB962C8B-B14F-4D97-AF65-F5344CB8AC3E}">
        <p14:creationId xmlns:p14="http://schemas.microsoft.com/office/powerpoint/2010/main" val="21280458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solidFill>
                  <a:schemeClr val="bg1">
                    <a:lumMod val="50000"/>
                  </a:schemeClr>
                </a:solidFill>
              </a:rPr>
              <a:t>Introduction</a:t>
            </a:r>
          </a:p>
          <a:p>
            <a:r>
              <a:rPr lang="en-US" dirty="0">
                <a:solidFill>
                  <a:schemeClr val="bg1">
                    <a:lumMod val="50000"/>
                  </a:schemeClr>
                </a:solidFill>
              </a:rPr>
              <a:t>Literature Review</a:t>
            </a:r>
          </a:p>
          <a:p>
            <a:r>
              <a:rPr lang="en-US" dirty="0">
                <a:solidFill>
                  <a:schemeClr val="bg1">
                    <a:lumMod val="50000"/>
                  </a:schemeClr>
                </a:solidFill>
              </a:rPr>
              <a:t>Thesis Statement</a:t>
            </a:r>
          </a:p>
          <a:p>
            <a:r>
              <a:rPr lang="en-US" dirty="0"/>
              <a:t>Preliminary Developments</a:t>
            </a:r>
          </a:p>
          <a:p>
            <a:r>
              <a:rPr lang="en-US" dirty="0">
                <a:solidFill>
                  <a:schemeClr val="bg1">
                    <a:lumMod val="50000"/>
                  </a:schemeClr>
                </a:solidFill>
              </a:rPr>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r>
              <a:rPr lang="en-GB" dirty="0"/>
              <a:t>20</a:t>
            </a:r>
          </a:p>
        </p:txBody>
      </p:sp>
    </p:spTree>
    <p:extLst>
      <p:ext uri="{BB962C8B-B14F-4D97-AF65-F5344CB8AC3E}">
        <p14:creationId xmlns:p14="http://schemas.microsoft.com/office/powerpoint/2010/main" val="16080606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97622-D63E-3A4D-D2C0-4CE2BF719025}"/>
              </a:ext>
            </a:extLst>
          </p:cNvPr>
          <p:cNvSpPr>
            <a:spLocks noGrp="1"/>
          </p:cNvSpPr>
          <p:nvPr>
            <p:ph type="title"/>
          </p:nvPr>
        </p:nvSpPr>
        <p:spPr/>
        <p:txBody>
          <a:bodyPr/>
          <a:lstStyle/>
          <a:p>
            <a:r>
              <a:rPr lang="en-GB" dirty="0"/>
              <a:t>Preliminary Developments</a:t>
            </a:r>
          </a:p>
        </p:txBody>
      </p:sp>
      <p:sp>
        <p:nvSpPr>
          <p:cNvPr id="3" name="Content Placeholder 2">
            <a:extLst>
              <a:ext uri="{FF2B5EF4-FFF2-40B4-BE49-F238E27FC236}">
                <a16:creationId xmlns:a16="http://schemas.microsoft.com/office/drawing/2014/main" id="{A647A6A3-E10A-BC89-7C7C-1E28B7C7BB39}"/>
              </a:ext>
            </a:extLst>
          </p:cNvPr>
          <p:cNvSpPr>
            <a:spLocks noGrp="1"/>
          </p:cNvSpPr>
          <p:nvPr>
            <p:ph idx="1"/>
          </p:nvPr>
        </p:nvSpPr>
        <p:spPr/>
        <p:txBody>
          <a:bodyPr/>
          <a:lstStyle/>
          <a:p>
            <a:r>
              <a:rPr lang="en-US" dirty="0"/>
              <a:t>Preparation of the mobile platforms for data acquisition</a:t>
            </a:r>
          </a:p>
          <a:p>
            <a:endParaRPr lang="en-US" dirty="0"/>
          </a:p>
          <a:p>
            <a:r>
              <a:rPr lang="en-US" dirty="0"/>
              <a:t>Preliminary study on the Hypothesis H1 for automatic robot calibration</a:t>
            </a:r>
          </a:p>
          <a:p>
            <a:endParaRPr lang="en-US" dirty="0"/>
          </a:p>
          <a:p>
            <a:r>
              <a:rPr lang="en-US" dirty="0"/>
              <a:t>Introduction to SLAM</a:t>
            </a:r>
            <a:endParaRPr lang="en-GB" dirty="0"/>
          </a:p>
        </p:txBody>
      </p:sp>
      <p:sp>
        <p:nvSpPr>
          <p:cNvPr id="4" name="Date Placeholder 3">
            <a:extLst>
              <a:ext uri="{FF2B5EF4-FFF2-40B4-BE49-F238E27FC236}">
                <a16:creationId xmlns:a16="http://schemas.microsoft.com/office/drawing/2014/main" id="{D370091D-3BA0-7984-5E1B-E6ED8744107D}"/>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32966A66-D5DA-FB81-ECFB-C12E4D5E9424}"/>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04F6DD5-A3D0-7310-EF08-98F93DB7B592}"/>
              </a:ext>
            </a:extLst>
          </p:cNvPr>
          <p:cNvSpPr>
            <a:spLocks noGrp="1"/>
          </p:cNvSpPr>
          <p:nvPr>
            <p:ph type="sldNum" sz="quarter" idx="12"/>
          </p:nvPr>
        </p:nvSpPr>
        <p:spPr/>
        <p:txBody>
          <a:bodyPr/>
          <a:lstStyle/>
          <a:p>
            <a:r>
              <a:rPr lang="en-GB" dirty="0"/>
              <a:t>20</a:t>
            </a:r>
          </a:p>
        </p:txBody>
      </p:sp>
    </p:spTree>
    <p:extLst>
      <p:ext uri="{BB962C8B-B14F-4D97-AF65-F5344CB8AC3E}">
        <p14:creationId xmlns:p14="http://schemas.microsoft.com/office/powerpoint/2010/main" val="341849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solidFill>
                  <a:schemeClr val="bg1">
                    <a:lumMod val="50000"/>
                  </a:schemeClr>
                </a:solidFill>
              </a:rPr>
              <a:t>Introduction</a:t>
            </a:r>
          </a:p>
          <a:p>
            <a:r>
              <a:rPr lang="en-US" dirty="0">
                <a:solidFill>
                  <a:schemeClr val="bg1">
                    <a:lumMod val="50000"/>
                  </a:schemeClr>
                </a:solidFill>
              </a:rPr>
              <a:t>Literature Review</a:t>
            </a:r>
          </a:p>
          <a:p>
            <a:r>
              <a:rPr lang="en-US" dirty="0">
                <a:solidFill>
                  <a:schemeClr val="bg1">
                    <a:lumMod val="50000"/>
                  </a:schemeClr>
                </a:solidFill>
              </a:rPr>
              <a:t>Thesis Statement</a:t>
            </a:r>
          </a:p>
          <a:p>
            <a:r>
              <a:rPr lang="en-US" dirty="0">
                <a:solidFill>
                  <a:schemeClr val="bg1">
                    <a:lumMod val="50000"/>
                  </a:schemeClr>
                </a:solidFill>
              </a:rPr>
              <a:t>Preliminary Developments</a:t>
            </a:r>
          </a:p>
          <a:p>
            <a:r>
              <a:rPr lang="en-US" dirty="0"/>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r>
              <a:rPr lang="en-GB" dirty="0"/>
              <a:t>21</a:t>
            </a:r>
          </a:p>
        </p:txBody>
      </p:sp>
    </p:spTree>
    <p:extLst>
      <p:ext uri="{BB962C8B-B14F-4D97-AF65-F5344CB8AC3E}">
        <p14:creationId xmlns:p14="http://schemas.microsoft.com/office/powerpoint/2010/main" val="2164489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Tree>
    <p:extLst>
      <p:ext uri="{BB962C8B-B14F-4D97-AF65-F5344CB8AC3E}">
        <p14:creationId xmlns:p14="http://schemas.microsoft.com/office/powerpoint/2010/main" val="2905369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3" name="Rectangle 2">
            <a:extLst>
              <a:ext uri="{FF2B5EF4-FFF2-40B4-BE49-F238E27FC236}">
                <a16:creationId xmlns:a16="http://schemas.microsoft.com/office/drawing/2014/main" id="{6FF2BB9E-AE3E-492B-17CC-663A754DB2EC}"/>
              </a:ext>
            </a:extLst>
          </p:cNvPr>
          <p:cNvSpPr/>
          <p:nvPr/>
        </p:nvSpPr>
        <p:spPr>
          <a:xfrm>
            <a:off x="2560590" y="1619250"/>
            <a:ext cx="5173709" cy="787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2914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7" name="Rectangle 6">
            <a:extLst>
              <a:ext uri="{FF2B5EF4-FFF2-40B4-BE49-F238E27FC236}">
                <a16:creationId xmlns:a16="http://schemas.microsoft.com/office/drawing/2014/main" id="{307DAC66-645C-28AC-20A7-6AABBF614951}"/>
              </a:ext>
            </a:extLst>
          </p:cNvPr>
          <p:cNvSpPr/>
          <p:nvPr/>
        </p:nvSpPr>
        <p:spPr>
          <a:xfrm>
            <a:off x="2560591" y="2406650"/>
            <a:ext cx="4170410" cy="3365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4316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3" name="Rectangle 2">
            <a:extLst>
              <a:ext uri="{FF2B5EF4-FFF2-40B4-BE49-F238E27FC236}">
                <a16:creationId xmlns:a16="http://schemas.microsoft.com/office/drawing/2014/main" id="{0CD2DC1A-B653-83C4-3F4E-4BD56F8F1486}"/>
              </a:ext>
            </a:extLst>
          </p:cNvPr>
          <p:cNvSpPr/>
          <p:nvPr/>
        </p:nvSpPr>
        <p:spPr>
          <a:xfrm>
            <a:off x="2560590" y="2743200"/>
            <a:ext cx="7624809" cy="666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89913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7" name="Rectangle 6">
            <a:extLst>
              <a:ext uri="{FF2B5EF4-FFF2-40B4-BE49-F238E27FC236}">
                <a16:creationId xmlns:a16="http://schemas.microsoft.com/office/drawing/2014/main" id="{2F8B98EA-0764-0AA4-79C3-0CBE76481ED0}"/>
              </a:ext>
            </a:extLst>
          </p:cNvPr>
          <p:cNvSpPr/>
          <p:nvPr/>
        </p:nvSpPr>
        <p:spPr>
          <a:xfrm>
            <a:off x="2560590" y="3409200"/>
            <a:ext cx="7624809" cy="330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96037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3" name="Rectangle 2">
            <a:extLst>
              <a:ext uri="{FF2B5EF4-FFF2-40B4-BE49-F238E27FC236}">
                <a16:creationId xmlns:a16="http://schemas.microsoft.com/office/drawing/2014/main" id="{5151AA82-802B-E3F2-0BA1-68FDCECBDF01}"/>
              </a:ext>
            </a:extLst>
          </p:cNvPr>
          <p:cNvSpPr/>
          <p:nvPr/>
        </p:nvSpPr>
        <p:spPr>
          <a:xfrm>
            <a:off x="2560590" y="3740150"/>
            <a:ext cx="8118000" cy="330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86983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3" name="Rectangle 2">
            <a:extLst>
              <a:ext uri="{FF2B5EF4-FFF2-40B4-BE49-F238E27FC236}">
                <a16:creationId xmlns:a16="http://schemas.microsoft.com/office/drawing/2014/main" id="{373AD1DB-7640-C20A-85EF-683FB3422EE2}"/>
              </a:ext>
            </a:extLst>
          </p:cNvPr>
          <p:cNvSpPr/>
          <p:nvPr/>
        </p:nvSpPr>
        <p:spPr>
          <a:xfrm>
            <a:off x="2560590" y="4095750"/>
            <a:ext cx="8118000" cy="6032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05147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
        <p:nvSpPr>
          <p:cNvPr id="7" name="Rectangle 6">
            <a:extLst>
              <a:ext uri="{FF2B5EF4-FFF2-40B4-BE49-F238E27FC236}">
                <a16:creationId xmlns:a16="http://schemas.microsoft.com/office/drawing/2014/main" id="{1D91C5FD-0398-7EA7-8934-3192809AEAB5}"/>
              </a:ext>
            </a:extLst>
          </p:cNvPr>
          <p:cNvSpPr/>
          <p:nvPr/>
        </p:nvSpPr>
        <p:spPr>
          <a:xfrm>
            <a:off x="2560590" y="4698998"/>
            <a:ext cx="8118000" cy="82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8461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6C8D8-7F79-639C-B2F7-A42675192C25}"/>
              </a:ext>
            </a:extLst>
          </p:cNvPr>
          <p:cNvSpPr>
            <a:spLocks noGrp="1"/>
          </p:cNvSpPr>
          <p:nvPr>
            <p:ph type="title"/>
          </p:nvPr>
        </p:nvSpPr>
        <p:spPr/>
        <p:txBody>
          <a:bodyPr/>
          <a:lstStyle/>
          <a:p>
            <a:r>
              <a:rPr lang="en-US" dirty="0"/>
              <a:t>Research Plan</a:t>
            </a:r>
            <a:endParaRPr lang="en-GB" dirty="0"/>
          </a:p>
        </p:txBody>
      </p:sp>
      <p:pic>
        <p:nvPicPr>
          <p:cNvPr id="10" name="Content Placeholder 9" descr="A picture containing chart&#10;&#10;Description automatically generated">
            <a:extLst>
              <a:ext uri="{FF2B5EF4-FFF2-40B4-BE49-F238E27FC236}">
                <a16:creationId xmlns:a16="http://schemas.microsoft.com/office/drawing/2014/main" id="{A143AEB9-5EA1-B950-5A80-3FE60CAA71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60591" y="1349375"/>
            <a:ext cx="8151905" cy="4470400"/>
          </a:xfrm>
        </p:spPr>
      </p:pic>
      <p:sp>
        <p:nvSpPr>
          <p:cNvPr id="4" name="Date Placeholder 3">
            <a:extLst>
              <a:ext uri="{FF2B5EF4-FFF2-40B4-BE49-F238E27FC236}">
                <a16:creationId xmlns:a16="http://schemas.microsoft.com/office/drawing/2014/main" id="{29AC5A6C-04CC-7CEC-D0E2-6F88E9CAB652}"/>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2DAEDB9F-9BEA-AB19-797B-949513DD86D7}"/>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EAD5E619-6A2D-119C-174C-8415EA27849D}"/>
              </a:ext>
            </a:extLst>
          </p:cNvPr>
          <p:cNvSpPr>
            <a:spLocks noGrp="1"/>
          </p:cNvSpPr>
          <p:nvPr>
            <p:ph type="sldNum" sz="quarter" idx="12"/>
          </p:nvPr>
        </p:nvSpPr>
        <p:spPr/>
        <p:txBody>
          <a:bodyPr/>
          <a:lstStyle/>
          <a:p>
            <a:r>
              <a:rPr lang="en-GB" dirty="0"/>
              <a:t>21</a:t>
            </a:r>
          </a:p>
        </p:txBody>
      </p:sp>
      <p:sp>
        <p:nvSpPr>
          <p:cNvPr id="8" name="Text Placeholder 7">
            <a:extLst>
              <a:ext uri="{FF2B5EF4-FFF2-40B4-BE49-F238E27FC236}">
                <a16:creationId xmlns:a16="http://schemas.microsoft.com/office/drawing/2014/main" id="{EF4E4CA4-4E43-9AA2-BB05-F9705ECB6B56}"/>
              </a:ext>
            </a:extLst>
          </p:cNvPr>
          <p:cNvSpPr>
            <a:spLocks noGrp="1"/>
          </p:cNvSpPr>
          <p:nvPr>
            <p:ph type="body" sz="half" idx="2"/>
          </p:nvPr>
        </p:nvSpPr>
        <p:spPr/>
        <p:txBody>
          <a:bodyPr/>
          <a:lstStyle/>
          <a:p>
            <a:r>
              <a:rPr lang="en-US" dirty="0"/>
              <a:t>Fig. 7: </a:t>
            </a:r>
            <a:r>
              <a:rPr lang="en-GB" dirty="0"/>
              <a:t>Timeline of the PhD research plan</a:t>
            </a:r>
          </a:p>
        </p:txBody>
      </p:sp>
    </p:spTree>
    <p:extLst>
      <p:ext uri="{BB962C8B-B14F-4D97-AF65-F5344CB8AC3E}">
        <p14:creationId xmlns:p14="http://schemas.microsoft.com/office/powerpoint/2010/main" val="15064830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3CF4-44DA-4DBB-9453-0FC92E4B874A}"/>
              </a:ext>
            </a:extLst>
          </p:cNvPr>
          <p:cNvSpPr>
            <a:spLocks noGrp="1"/>
          </p:cNvSpPr>
          <p:nvPr>
            <p:ph type="ctrTitle"/>
          </p:nvPr>
        </p:nvSpPr>
        <p:spPr/>
        <p:txBody>
          <a:bodyPr/>
          <a:lstStyle/>
          <a:p>
            <a:r>
              <a:rPr lang="en-US" dirty="0"/>
              <a:t>Any questions?</a:t>
            </a:r>
            <a:endParaRPr lang="en-GB" dirty="0"/>
          </a:p>
        </p:txBody>
      </p:sp>
      <p:sp>
        <p:nvSpPr>
          <p:cNvPr id="3" name="Subtitle 2">
            <a:extLst>
              <a:ext uri="{FF2B5EF4-FFF2-40B4-BE49-F238E27FC236}">
                <a16:creationId xmlns:a16="http://schemas.microsoft.com/office/drawing/2014/main" id="{A3EF54C3-BEF0-43F0-CA9A-B7FC8DEA4FF3}"/>
              </a:ext>
            </a:extLst>
          </p:cNvPr>
          <p:cNvSpPr>
            <a:spLocks noGrp="1"/>
          </p:cNvSpPr>
          <p:nvPr>
            <p:ph type="subTitle" idx="1"/>
          </p:nvPr>
        </p:nvSpPr>
        <p:spPr/>
        <p:txBody>
          <a:bodyPr/>
          <a:lstStyle/>
          <a:p>
            <a:r>
              <a:rPr lang="en-GB" dirty="0"/>
              <a:t>Ricardo B. Sousa</a:t>
            </a:r>
          </a:p>
          <a:p>
            <a:r>
              <a:rPr lang="en-GB" dirty="0"/>
              <a:t>Thesis Research Plan – Doctoral Program in Electrical and Computers Engineering</a:t>
            </a:r>
          </a:p>
          <a:p>
            <a:r>
              <a:rPr lang="en-GB" dirty="0"/>
              <a:t>Zoom Meeting, January 12, 2023</a:t>
            </a:r>
          </a:p>
          <a:p>
            <a:endParaRPr lang="en-GB" dirty="0"/>
          </a:p>
          <a:p>
            <a:r>
              <a:rPr lang="en-GB" dirty="0"/>
              <a:t>Prof. António Paulo Moreira, PhD (Supervisor)</a:t>
            </a:r>
          </a:p>
          <a:p>
            <a:r>
              <a:rPr lang="en-GB" dirty="0" err="1"/>
              <a:t>Héber</a:t>
            </a:r>
            <a:r>
              <a:rPr lang="en-GB" dirty="0"/>
              <a:t> Miguel </a:t>
            </a:r>
            <a:r>
              <a:rPr lang="en-GB" dirty="0" err="1"/>
              <a:t>Sobreira</a:t>
            </a:r>
            <a:r>
              <a:rPr lang="en-GB" dirty="0"/>
              <a:t>, PhD (Second Supervisor)</a:t>
            </a:r>
          </a:p>
        </p:txBody>
      </p:sp>
    </p:spTree>
    <p:extLst>
      <p:ext uri="{BB962C8B-B14F-4D97-AF65-F5344CB8AC3E}">
        <p14:creationId xmlns:p14="http://schemas.microsoft.com/office/powerpoint/2010/main" val="16321675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3CF4-44DA-4DBB-9453-0FC92E4B874A}"/>
              </a:ext>
            </a:extLst>
          </p:cNvPr>
          <p:cNvSpPr>
            <a:spLocks noGrp="1"/>
          </p:cNvSpPr>
          <p:nvPr>
            <p:ph type="ctrTitle"/>
          </p:nvPr>
        </p:nvSpPr>
        <p:spPr/>
        <p:txBody>
          <a:bodyPr/>
          <a:lstStyle/>
          <a:p>
            <a:r>
              <a:rPr lang="en-GB" dirty="0" err="1"/>
              <a:t>RicoSLAM</a:t>
            </a:r>
            <a:r>
              <a:rPr lang="en-GB" dirty="0"/>
              <a:t>: Long-Term Localization and</a:t>
            </a:r>
            <a:br>
              <a:rPr lang="en-GB" dirty="0"/>
            </a:br>
            <a:r>
              <a:rPr lang="en-GB" dirty="0"/>
              <a:t>Mapping in Dynamic Environments</a:t>
            </a:r>
          </a:p>
        </p:txBody>
      </p:sp>
      <p:sp>
        <p:nvSpPr>
          <p:cNvPr id="3" name="Subtitle 2">
            <a:extLst>
              <a:ext uri="{FF2B5EF4-FFF2-40B4-BE49-F238E27FC236}">
                <a16:creationId xmlns:a16="http://schemas.microsoft.com/office/drawing/2014/main" id="{A3EF54C3-BEF0-43F0-CA9A-B7FC8DEA4FF3}"/>
              </a:ext>
            </a:extLst>
          </p:cNvPr>
          <p:cNvSpPr>
            <a:spLocks noGrp="1"/>
          </p:cNvSpPr>
          <p:nvPr>
            <p:ph type="subTitle" idx="1"/>
          </p:nvPr>
        </p:nvSpPr>
        <p:spPr/>
        <p:txBody>
          <a:bodyPr/>
          <a:lstStyle/>
          <a:p>
            <a:r>
              <a:rPr lang="en-GB" dirty="0"/>
              <a:t>Ricardo B. Sousa</a:t>
            </a:r>
          </a:p>
          <a:p>
            <a:r>
              <a:rPr lang="en-GB" dirty="0"/>
              <a:t>Thesis Research Plan – Doctoral Program in Electrical and Computers Engineering</a:t>
            </a:r>
          </a:p>
          <a:p>
            <a:r>
              <a:rPr lang="en-GB" dirty="0"/>
              <a:t>Zoom Meeting, January 12, 2023</a:t>
            </a:r>
          </a:p>
          <a:p>
            <a:endParaRPr lang="en-GB" dirty="0"/>
          </a:p>
          <a:p>
            <a:r>
              <a:rPr lang="en-GB" dirty="0"/>
              <a:t>Prof. António Paulo Moreira, PhD (Supervisor)</a:t>
            </a:r>
          </a:p>
          <a:p>
            <a:r>
              <a:rPr lang="en-GB" dirty="0" err="1"/>
              <a:t>Héber</a:t>
            </a:r>
            <a:r>
              <a:rPr lang="en-GB" dirty="0"/>
              <a:t> Miguel </a:t>
            </a:r>
            <a:r>
              <a:rPr lang="en-GB" dirty="0" err="1"/>
              <a:t>Sobreira</a:t>
            </a:r>
            <a:r>
              <a:rPr lang="en-GB" dirty="0"/>
              <a:t>, PhD (Second Supervisor)</a:t>
            </a:r>
          </a:p>
        </p:txBody>
      </p:sp>
    </p:spTree>
    <p:extLst>
      <p:ext uri="{BB962C8B-B14F-4D97-AF65-F5344CB8AC3E}">
        <p14:creationId xmlns:p14="http://schemas.microsoft.com/office/powerpoint/2010/main" val="1874139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87538-9363-A5D1-6263-C2BAA451A3E7}"/>
              </a:ext>
            </a:extLst>
          </p:cNvPr>
          <p:cNvSpPr>
            <a:spLocks noGrp="1"/>
          </p:cNvSpPr>
          <p:nvPr>
            <p:ph type="title"/>
          </p:nvPr>
        </p:nvSpPr>
        <p:spPr/>
        <p:txBody>
          <a:bodyPr/>
          <a:lstStyle/>
          <a:p>
            <a:r>
              <a:rPr lang="en-US" dirty="0"/>
              <a:t>References</a:t>
            </a:r>
            <a:endParaRPr lang="en-GB" dirty="0"/>
          </a:p>
        </p:txBody>
      </p:sp>
      <p:graphicFrame>
        <p:nvGraphicFramePr>
          <p:cNvPr id="4" name="Table 4">
            <a:extLst>
              <a:ext uri="{FF2B5EF4-FFF2-40B4-BE49-F238E27FC236}">
                <a16:creationId xmlns:a16="http://schemas.microsoft.com/office/drawing/2014/main" id="{E159B570-158A-F707-785E-0ED47D1D8731}"/>
              </a:ext>
            </a:extLst>
          </p:cNvPr>
          <p:cNvGraphicFramePr>
            <a:graphicFrameLocks noGrp="1"/>
          </p:cNvGraphicFramePr>
          <p:nvPr>
            <p:ph idx="1"/>
            <p:extLst>
              <p:ext uri="{D42A27DB-BD31-4B8C-83A1-F6EECF244321}">
                <p14:modId xmlns:p14="http://schemas.microsoft.com/office/powerpoint/2010/main" val="1415376677"/>
              </p:ext>
            </p:extLst>
          </p:nvPr>
        </p:nvGraphicFramePr>
        <p:xfrm>
          <a:off x="1260475" y="1349375"/>
          <a:ext cx="10752138" cy="3352800"/>
        </p:xfrm>
        <a:graphic>
          <a:graphicData uri="http://schemas.openxmlformats.org/drawingml/2006/table">
            <a:tbl>
              <a:tblPr firstRow="1" bandRow="1">
                <a:tableStyleId>{2D5ABB26-0587-4C30-8999-92F81FD0307C}</a:tableStyleId>
              </a:tblPr>
              <a:tblGrid>
                <a:gridCol w="406960">
                  <a:extLst>
                    <a:ext uri="{9D8B030D-6E8A-4147-A177-3AD203B41FA5}">
                      <a16:colId xmlns:a16="http://schemas.microsoft.com/office/drawing/2014/main" val="2569291936"/>
                    </a:ext>
                  </a:extLst>
                </a:gridCol>
                <a:gridCol w="10345178">
                  <a:extLst>
                    <a:ext uri="{9D8B030D-6E8A-4147-A177-3AD203B41FA5}">
                      <a16:colId xmlns:a16="http://schemas.microsoft.com/office/drawing/2014/main" val="3728648890"/>
                    </a:ext>
                  </a:extLst>
                </a:gridCol>
              </a:tblGrid>
              <a:tr h="0">
                <a:tc>
                  <a:txBody>
                    <a:bodyPr/>
                    <a:lstStyle/>
                    <a:p>
                      <a:r>
                        <a:rPr lang="en-US" sz="1000" dirty="0">
                          <a:latin typeface="Arial" panose="020B0604020202020204" pitchFamily="34" charset="0"/>
                          <a:cs typeface="Arial" panose="020B0604020202020204" pitchFamily="34" charset="0"/>
                        </a:rPr>
                        <a:t>[1]</a:t>
                      </a:r>
                      <a:endParaRPr lang="en-GB" sz="1000" dirty="0">
                        <a:latin typeface="Arial" panose="020B0604020202020204" pitchFamily="34" charset="0"/>
                        <a:cs typeface="Arial" panose="020B0604020202020204" pitchFamily="34" charset="0"/>
                      </a:endParaRPr>
                    </a:p>
                  </a:txBody>
                  <a:tcPr marL="45720" marR="45720"/>
                </a:tc>
                <a:tc>
                  <a:txBody>
                    <a:bodyPr/>
                    <a:lstStyle/>
                    <a:p>
                      <a:r>
                        <a:rPr lang="en-GB" sz="1000" dirty="0" err="1">
                          <a:latin typeface="Arial" panose="020B0604020202020204" pitchFamily="34" charset="0"/>
                          <a:cs typeface="Arial" panose="020B0604020202020204" pitchFamily="34" charset="0"/>
                        </a:rPr>
                        <a:t>AgileIntel</a:t>
                      </a:r>
                      <a:r>
                        <a:rPr lang="en-GB" sz="1000" dirty="0">
                          <a:latin typeface="Arial" panose="020B0604020202020204" pitchFamily="34" charset="0"/>
                          <a:cs typeface="Arial" panose="020B0604020202020204" pitchFamily="34" charset="0"/>
                        </a:rPr>
                        <a:t> Research. Global autonomous mobile robot market – trends, COVID-19 impact and growth forecasts to 2029. Tech. rep. </a:t>
                      </a:r>
                      <a:r>
                        <a:rPr lang="en-GB" sz="1000" dirty="0" err="1">
                          <a:latin typeface="Arial" panose="020B0604020202020204" pitchFamily="34" charset="0"/>
                          <a:cs typeface="Arial" panose="020B0604020202020204" pitchFamily="34" charset="0"/>
                        </a:rPr>
                        <a:t>AgileIntel</a:t>
                      </a:r>
                      <a:r>
                        <a:rPr lang="en-GB" sz="1000" dirty="0">
                          <a:latin typeface="Arial" panose="020B0604020202020204" pitchFamily="34" charset="0"/>
                          <a:cs typeface="Arial" panose="020B0604020202020204" pitchFamily="34" charset="0"/>
                        </a:rPr>
                        <a:t> Research, May 2022. URL: </a:t>
                      </a:r>
                      <a:r>
                        <a:rPr lang="en-GB" sz="1000" dirty="0">
                          <a:latin typeface="Arial" panose="020B0604020202020204" pitchFamily="34" charset="0"/>
                          <a:cs typeface="Arial" panose="020B0604020202020204" pitchFamily="34" charset="0"/>
                          <a:hlinkClick r:id="rId2"/>
                        </a:rPr>
                        <a:t>https://www.agileintelresearch.com/reportdetails/Global-Autonomous-Mobile-Robot-Market/43</a:t>
                      </a:r>
                      <a:r>
                        <a:rPr lang="en-GB" sz="1000" dirty="0">
                          <a:latin typeface="Arial" panose="020B0604020202020204" pitchFamily="34" charset="0"/>
                          <a:cs typeface="Arial" panose="020B0604020202020204" pitchFamily="34" charset="0"/>
                        </a:rPr>
                        <a:t>.</a:t>
                      </a:r>
                    </a:p>
                  </a:txBody>
                  <a:tcPr marL="45720" marR="45720"/>
                </a:tc>
                <a:extLst>
                  <a:ext uri="{0D108BD9-81ED-4DB2-BD59-A6C34878D82A}">
                    <a16:rowId xmlns:a16="http://schemas.microsoft.com/office/drawing/2014/main" val="4177311391"/>
                  </a:ext>
                </a:extLst>
              </a:tr>
              <a:tr h="0">
                <a:tc>
                  <a:txBody>
                    <a:bodyPr/>
                    <a:lstStyle/>
                    <a:p>
                      <a:r>
                        <a:rPr lang="en-US" sz="1000" dirty="0">
                          <a:latin typeface="Arial" panose="020B0604020202020204" pitchFamily="34" charset="0"/>
                          <a:cs typeface="Arial" panose="020B0604020202020204" pitchFamily="34" charset="0"/>
                        </a:rPr>
                        <a:t>[2]</a:t>
                      </a:r>
                      <a:endParaRPr lang="en-GB" sz="1000" dirty="0">
                        <a:latin typeface="Arial" panose="020B0604020202020204" pitchFamily="34" charset="0"/>
                        <a:cs typeface="Arial" panose="020B0604020202020204" pitchFamily="34" charset="0"/>
                      </a:endParaRPr>
                    </a:p>
                  </a:txBody>
                  <a:tcPr marL="45720" marR="45720"/>
                </a:tc>
                <a:tc>
                  <a:txBody>
                    <a:bodyPr/>
                    <a:lstStyle/>
                    <a:p>
                      <a:r>
                        <a:rPr lang="en-GB" sz="1000" dirty="0">
                          <a:latin typeface="Arial" panose="020B0604020202020204" pitchFamily="34" charset="0"/>
                          <a:cs typeface="Arial" panose="020B0604020202020204" pitchFamily="34" charset="0"/>
                        </a:rPr>
                        <a:t>Thomas Hahn, Morten Irgens, Bernd Liepert, Barry O’Sullivan, Arnold WM </a:t>
                      </a:r>
                      <a:r>
                        <a:rPr lang="en-GB" sz="1000" dirty="0" err="1">
                          <a:latin typeface="Arial" panose="020B0604020202020204" pitchFamily="34" charset="0"/>
                          <a:cs typeface="Arial" panose="020B0604020202020204" pitchFamily="34" charset="0"/>
                        </a:rPr>
                        <a:t>Smeulders</a:t>
                      </a:r>
                      <a:r>
                        <a:rPr lang="en-GB" sz="1000" dirty="0">
                          <a:latin typeface="Arial" panose="020B0604020202020204" pitchFamily="34" charset="0"/>
                          <a:cs typeface="Arial" panose="020B0604020202020204" pitchFamily="34" charset="0"/>
                        </a:rPr>
                        <a:t>, David Bisset, Edward Curry, Michela Milano, and Sonja </a:t>
                      </a:r>
                      <a:r>
                        <a:rPr lang="en-GB" sz="1000" dirty="0" err="1">
                          <a:latin typeface="Arial" panose="020B0604020202020204" pitchFamily="34" charset="0"/>
                          <a:cs typeface="Arial" panose="020B0604020202020204" pitchFamily="34" charset="0"/>
                        </a:rPr>
                        <a:t>Zillner</a:t>
                      </a:r>
                      <a:r>
                        <a:rPr lang="en-GB" sz="1000" dirty="0">
                          <a:latin typeface="Arial" panose="020B0604020202020204" pitchFamily="34" charset="0"/>
                          <a:cs typeface="Arial" panose="020B0604020202020204" pitchFamily="34" charset="0"/>
                        </a:rPr>
                        <a:t>. Strategic Research, Innovation and Deployment Agenda (SRIDA). Tech. rep. Big Data Value Association (BDVA), Confederation of Laboratories for Artificial Intelligence Research in Europe (CLAIRE), European Lab for Learning &amp; Intelligent Systems (ELLIS), European Association for Artificial Intelligence (</a:t>
                      </a:r>
                      <a:r>
                        <a:rPr lang="en-GB" sz="1000" dirty="0" err="1">
                          <a:latin typeface="Arial" panose="020B0604020202020204" pitchFamily="34" charset="0"/>
                          <a:cs typeface="Arial" panose="020B0604020202020204" pitchFamily="34" charset="0"/>
                        </a:rPr>
                        <a:t>EurAI</a:t>
                      </a:r>
                      <a:r>
                        <a:rPr lang="en-GB" sz="1000" dirty="0">
                          <a:latin typeface="Arial" panose="020B0604020202020204" pitchFamily="34" charset="0"/>
                          <a:cs typeface="Arial" panose="020B0604020202020204" pitchFamily="34" charset="0"/>
                        </a:rPr>
                        <a:t>), and </a:t>
                      </a:r>
                      <a:r>
                        <a:rPr lang="en-GB" sz="1000" dirty="0" err="1">
                          <a:latin typeface="Arial" panose="020B0604020202020204" pitchFamily="34" charset="0"/>
                          <a:cs typeface="Arial" panose="020B0604020202020204" pitchFamily="34" charset="0"/>
                        </a:rPr>
                        <a:t>euRobotics</a:t>
                      </a:r>
                      <a:r>
                        <a:rPr lang="en-GB" sz="1000" dirty="0">
                          <a:latin typeface="Arial" panose="020B0604020202020204" pitchFamily="34" charset="0"/>
                          <a:cs typeface="Arial" panose="020B0604020202020204" pitchFamily="34" charset="0"/>
                        </a:rPr>
                        <a:t>, Sept. 2020. URL: </a:t>
                      </a:r>
                      <a:r>
                        <a:rPr lang="en-GB" sz="1000" dirty="0">
                          <a:latin typeface="Arial" panose="020B0604020202020204" pitchFamily="34" charset="0"/>
                          <a:cs typeface="Arial" panose="020B0604020202020204" pitchFamily="34" charset="0"/>
                          <a:hlinkClick r:id="rId3"/>
                        </a:rPr>
                        <a:t>https://adr-association.eu/wp-content/uploads/2020/09/AI-Data-Robotics-Partnership-SRIDA-V3.0-1.pdf</a:t>
                      </a:r>
                      <a:r>
                        <a:rPr lang="en-GB" sz="1000" dirty="0">
                          <a:latin typeface="Arial" panose="020B0604020202020204" pitchFamily="34" charset="0"/>
                          <a:cs typeface="Arial" panose="020B0604020202020204" pitchFamily="34" charset="0"/>
                        </a:rPr>
                        <a:t>.</a:t>
                      </a:r>
                    </a:p>
                  </a:txBody>
                  <a:tcPr marL="45720" marR="45720"/>
                </a:tc>
                <a:extLst>
                  <a:ext uri="{0D108BD9-81ED-4DB2-BD59-A6C34878D82A}">
                    <a16:rowId xmlns:a16="http://schemas.microsoft.com/office/drawing/2014/main" val="1333255001"/>
                  </a:ext>
                </a:extLst>
              </a:tr>
              <a:tr h="0">
                <a:tc>
                  <a:txBody>
                    <a:bodyPr/>
                    <a:lstStyle/>
                    <a:p>
                      <a:r>
                        <a:rPr lang="en-US" sz="1000" dirty="0">
                          <a:latin typeface="Arial" panose="020B0604020202020204" pitchFamily="34" charset="0"/>
                          <a:cs typeface="Arial" panose="020B0604020202020204" pitchFamily="34" charset="0"/>
                        </a:rPr>
                        <a:t>[3]</a:t>
                      </a:r>
                      <a:endParaRPr lang="en-GB" sz="1000" dirty="0">
                        <a:latin typeface="Arial" panose="020B0604020202020204" pitchFamily="34" charset="0"/>
                        <a:cs typeface="Arial" panose="020B0604020202020204" pitchFamily="34" charset="0"/>
                      </a:endParaRPr>
                    </a:p>
                  </a:txBody>
                  <a:tcPr marL="45720" marR="45720"/>
                </a:tc>
                <a:tc>
                  <a:txBody>
                    <a:bodyPr/>
                    <a:lstStyle/>
                    <a:p>
                      <a:r>
                        <a:rPr lang="en-GB" sz="1000" dirty="0">
                          <a:latin typeface="Arial" panose="020B0604020202020204" pitchFamily="34" charset="0"/>
                          <a:cs typeface="Arial" panose="020B0604020202020204" pitchFamily="34" charset="0"/>
                        </a:rPr>
                        <a:t>United Nations. Transforming our world: the 2030 agenda for sustainable development. Last accessed on Oct. 17, 2022. Sept. 2015. URL: </a:t>
                      </a:r>
                      <a:r>
                        <a:rPr lang="en-GB" sz="1000" dirty="0">
                          <a:latin typeface="Arial" panose="020B0604020202020204" pitchFamily="34" charset="0"/>
                          <a:cs typeface="Arial" panose="020B0604020202020204" pitchFamily="34" charset="0"/>
                          <a:hlinkClick r:id="rId4"/>
                        </a:rPr>
                        <a:t>https://sdgs.un.org/publications/transforming-our-world-2030-agenda-sustainable-development-17981</a:t>
                      </a:r>
                      <a:r>
                        <a:rPr lang="en-GB" sz="1000" dirty="0">
                          <a:latin typeface="Arial" panose="020B0604020202020204" pitchFamily="34" charset="0"/>
                          <a:cs typeface="Arial" panose="020B0604020202020204" pitchFamily="34" charset="0"/>
                        </a:rPr>
                        <a:t>.</a:t>
                      </a:r>
                    </a:p>
                  </a:txBody>
                  <a:tcPr marL="45720" marR="45720"/>
                </a:tc>
                <a:extLst>
                  <a:ext uri="{0D108BD9-81ED-4DB2-BD59-A6C34878D82A}">
                    <a16:rowId xmlns:a16="http://schemas.microsoft.com/office/drawing/2014/main" val="2676362302"/>
                  </a:ext>
                </a:extLst>
              </a:tr>
              <a:tr h="0">
                <a:tc>
                  <a:txBody>
                    <a:bodyPr/>
                    <a:lstStyle/>
                    <a:p>
                      <a:r>
                        <a:rPr lang="en-US" sz="1000" dirty="0">
                          <a:latin typeface="Arial" panose="020B0604020202020204" pitchFamily="34" charset="0"/>
                          <a:cs typeface="Arial" panose="020B0604020202020204" pitchFamily="34" charset="0"/>
                        </a:rPr>
                        <a:t>[4]</a:t>
                      </a:r>
                      <a:endParaRPr lang="en-GB" sz="1000" dirty="0">
                        <a:latin typeface="Arial" panose="020B0604020202020204" pitchFamily="34" charset="0"/>
                        <a:cs typeface="Arial" panose="020B0604020202020204" pitchFamily="34" charset="0"/>
                      </a:endParaRPr>
                    </a:p>
                  </a:txBody>
                  <a:tcPr marL="45720" marR="45720"/>
                </a:tc>
                <a:tc>
                  <a:txBody>
                    <a:bodyPr/>
                    <a:lstStyle/>
                    <a:p>
                      <a:r>
                        <a:rPr lang="en-GB" sz="1000" dirty="0">
                          <a:latin typeface="Arial" panose="020B0604020202020204" pitchFamily="34" charset="0"/>
                          <a:cs typeface="Arial" panose="020B0604020202020204" pitchFamily="34" charset="0"/>
                        </a:rPr>
                        <a:t>S. </a:t>
                      </a:r>
                      <a:r>
                        <a:rPr lang="en-GB" sz="1000" dirty="0" err="1">
                          <a:latin typeface="Arial" panose="020B0604020202020204" pitchFamily="34" charset="0"/>
                          <a:cs typeface="Arial" panose="020B0604020202020204" pitchFamily="34" charset="0"/>
                        </a:rPr>
                        <a:t>Thrun</a:t>
                      </a:r>
                      <a:r>
                        <a:rPr lang="en-GB" sz="1000" dirty="0">
                          <a:latin typeface="Arial" panose="020B0604020202020204" pitchFamily="34" charset="0"/>
                          <a:cs typeface="Arial" panose="020B0604020202020204" pitchFamily="34" charset="0"/>
                        </a:rPr>
                        <a:t>, W. </a:t>
                      </a:r>
                      <a:r>
                        <a:rPr lang="en-GB" sz="1000" dirty="0" err="1">
                          <a:latin typeface="Arial" panose="020B0604020202020204" pitchFamily="34" charset="0"/>
                          <a:cs typeface="Arial" panose="020B0604020202020204" pitchFamily="34" charset="0"/>
                        </a:rPr>
                        <a:t>Burgard</a:t>
                      </a:r>
                      <a:r>
                        <a:rPr lang="en-GB" sz="1000" dirty="0">
                          <a:latin typeface="Arial" panose="020B0604020202020204" pitchFamily="34" charset="0"/>
                          <a:cs typeface="Arial" panose="020B0604020202020204" pitchFamily="34" charset="0"/>
                        </a:rPr>
                        <a:t>, and D. Fox. Probabilistic robotics. The MIT Press, 2005. ISBN: 978-0-262-20162-9.</a:t>
                      </a:r>
                    </a:p>
                  </a:txBody>
                  <a:tcPr marL="45720" marR="45720"/>
                </a:tc>
                <a:extLst>
                  <a:ext uri="{0D108BD9-81ED-4DB2-BD59-A6C34878D82A}">
                    <a16:rowId xmlns:a16="http://schemas.microsoft.com/office/drawing/2014/main" val="1970251356"/>
                  </a:ext>
                </a:extLst>
              </a:tr>
              <a:tr h="0">
                <a:tc>
                  <a:txBody>
                    <a:bodyPr/>
                    <a:lstStyle/>
                    <a:p>
                      <a:r>
                        <a:rPr lang="en-GB" sz="1000" dirty="0">
                          <a:latin typeface="Arial" panose="020B0604020202020204" pitchFamily="34" charset="0"/>
                          <a:cs typeface="Arial" panose="020B0604020202020204" pitchFamily="34" charset="0"/>
                        </a:rPr>
                        <a:t>[5]</a:t>
                      </a:r>
                    </a:p>
                  </a:txBody>
                  <a:tcPr marL="45720" marR="45720"/>
                </a:tc>
                <a:tc>
                  <a:txBody>
                    <a:bodyPr/>
                    <a:lstStyle/>
                    <a:p>
                      <a:r>
                        <a:rPr lang="en-GB" sz="1000" dirty="0">
                          <a:latin typeface="Arial" panose="020B0604020202020204" pitchFamily="34" charset="0"/>
                          <a:cs typeface="Arial" panose="020B0604020202020204" pitchFamily="34" charset="0"/>
                        </a:rPr>
                        <a:t>Ken </a:t>
                      </a:r>
                      <a:r>
                        <a:rPr lang="en-GB" sz="1000" dirty="0" err="1">
                          <a:latin typeface="Arial" panose="020B0604020202020204" pitchFamily="34" charset="0"/>
                          <a:cs typeface="Arial" panose="020B0604020202020204" pitchFamily="34" charset="0"/>
                        </a:rPr>
                        <a:t>Peffers</a:t>
                      </a:r>
                      <a:r>
                        <a:rPr lang="en-GB" sz="1000" dirty="0">
                          <a:latin typeface="Arial" panose="020B0604020202020204" pitchFamily="34" charset="0"/>
                          <a:cs typeface="Arial" panose="020B0604020202020204" pitchFamily="34" charset="0"/>
                        </a:rPr>
                        <a:t>, </a:t>
                      </a:r>
                      <a:r>
                        <a:rPr lang="en-GB" sz="1000" dirty="0" err="1">
                          <a:latin typeface="Arial" panose="020B0604020202020204" pitchFamily="34" charset="0"/>
                          <a:cs typeface="Arial" panose="020B0604020202020204" pitchFamily="34" charset="0"/>
                        </a:rPr>
                        <a:t>Tuure</a:t>
                      </a:r>
                      <a:r>
                        <a:rPr lang="en-GB" sz="1000" dirty="0">
                          <a:latin typeface="Arial" panose="020B0604020202020204" pitchFamily="34" charset="0"/>
                          <a:cs typeface="Arial" panose="020B0604020202020204" pitchFamily="34" charset="0"/>
                        </a:rPr>
                        <a:t> </a:t>
                      </a:r>
                      <a:r>
                        <a:rPr lang="en-GB" sz="1000" dirty="0" err="1">
                          <a:latin typeface="Arial" panose="020B0604020202020204" pitchFamily="34" charset="0"/>
                          <a:cs typeface="Arial" panose="020B0604020202020204" pitchFamily="34" charset="0"/>
                        </a:rPr>
                        <a:t>Tuunanen</a:t>
                      </a:r>
                      <a:r>
                        <a:rPr lang="en-GB" sz="1000" dirty="0">
                          <a:latin typeface="Arial" panose="020B0604020202020204" pitchFamily="34" charset="0"/>
                          <a:cs typeface="Arial" panose="020B0604020202020204" pitchFamily="34" charset="0"/>
                        </a:rPr>
                        <a:t>, Marcus A. </a:t>
                      </a:r>
                      <a:r>
                        <a:rPr lang="en-GB" sz="1000" dirty="0" err="1">
                          <a:latin typeface="Arial" panose="020B0604020202020204" pitchFamily="34" charset="0"/>
                          <a:cs typeface="Arial" panose="020B0604020202020204" pitchFamily="34" charset="0"/>
                        </a:rPr>
                        <a:t>Rothenberger</a:t>
                      </a:r>
                      <a:r>
                        <a:rPr lang="en-GB" sz="1000" dirty="0">
                          <a:latin typeface="Arial" panose="020B0604020202020204" pitchFamily="34" charset="0"/>
                          <a:cs typeface="Arial" panose="020B0604020202020204" pitchFamily="34" charset="0"/>
                        </a:rPr>
                        <a:t>, and Samir Chatterjee. “A design science research methodology for information systems research”. In: Journal of Management Information </a:t>
                      </a:r>
                      <a:r>
                        <a:rPr lang="en-GB" sz="1000" dirty="0" err="1">
                          <a:latin typeface="Arial" panose="020B0604020202020204" pitchFamily="34" charset="0"/>
                          <a:cs typeface="Arial" panose="020B0604020202020204" pitchFamily="34" charset="0"/>
                        </a:rPr>
                        <a:t>Systems</a:t>
                      </a:r>
                      <a:r>
                        <a:rPr lang="en-GB" sz="1000" dirty="0">
                          <a:latin typeface="Arial" panose="020B0604020202020204" pitchFamily="34" charset="0"/>
                          <a:cs typeface="Arial" panose="020B0604020202020204" pitchFamily="34" charset="0"/>
                        </a:rPr>
                        <a:t> 24.3 (2007), pp. 45–77. DOI: 10.2753/MIS0742-1222240302.</a:t>
                      </a:r>
                    </a:p>
                  </a:txBody>
                  <a:tcPr marL="45720" marR="45720"/>
                </a:tc>
                <a:extLst>
                  <a:ext uri="{0D108BD9-81ED-4DB2-BD59-A6C34878D82A}">
                    <a16:rowId xmlns:a16="http://schemas.microsoft.com/office/drawing/2014/main" val="622459301"/>
                  </a:ext>
                </a:extLst>
              </a:tr>
              <a:tr h="0">
                <a:tc>
                  <a:txBody>
                    <a:bodyPr/>
                    <a:lstStyle/>
                    <a:p>
                      <a:endParaRPr lang="en-GB" sz="1000">
                        <a:latin typeface="Arial" panose="020B0604020202020204" pitchFamily="34" charset="0"/>
                        <a:cs typeface="Arial" panose="020B0604020202020204" pitchFamily="34" charset="0"/>
                      </a:endParaRPr>
                    </a:p>
                  </a:txBody>
                  <a:tcPr marL="45720" marR="45720"/>
                </a:tc>
                <a:tc>
                  <a:txBody>
                    <a:bodyPr/>
                    <a:lstStyle/>
                    <a:p>
                      <a:endParaRPr lang="en-GB" sz="1000">
                        <a:latin typeface="Arial" panose="020B0604020202020204" pitchFamily="34" charset="0"/>
                        <a:cs typeface="Arial" panose="020B0604020202020204" pitchFamily="34" charset="0"/>
                      </a:endParaRPr>
                    </a:p>
                  </a:txBody>
                  <a:tcPr marL="45720" marR="45720"/>
                </a:tc>
                <a:extLst>
                  <a:ext uri="{0D108BD9-81ED-4DB2-BD59-A6C34878D82A}">
                    <a16:rowId xmlns:a16="http://schemas.microsoft.com/office/drawing/2014/main" val="1217367813"/>
                  </a:ext>
                </a:extLst>
              </a:tr>
              <a:tr h="0">
                <a:tc>
                  <a:txBody>
                    <a:bodyPr/>
                    <a:lstStyle/>
                    <a:p>
                      <a:endParaRPr lang="en-GB" sz="1000">
                        <a:latin typeface="Arial" panose="020B0604020202020204" pitchFamily="34" charset="0"/>
                        <a:cs typeface="Arial" panose="020B0604020202020204" pitchFamily="34" charset="0"/>
                      </a:endParaRPr>
                    </a:p>
                  </a:txBody>
                  <a:tcPr marL="45720" marR="45720"/>
                </a:tc>
                <a:tc>
                  <a:txBody>
                    <a:bodyPr/>
                    <a:lstStyle/>
                    <a:p>
                      <a:endParaRPr lang="en-GB" sz="1000">
                        <a:latin typeface="Arial" panose="020B0604020202020204" pitchFamily="34" charset="0"/>
                        <a:cs typeface="Arial" panose="020B0604020202020204" pitchFamily="34" charset="0"/>
                      </a:endParaRPr>
                    </a:p>
                  </a:txBody>
                  <a:tcPr marL="45720" marR="45720"/>
                </a:tc>
                <a:extLst>
                  <a:ext uri="{0D108BD9-81ED-4DB2-BD59-A6C34878D82A}">
                    <a16:rowId xmlns:a16="http://schemas.microsoft.com/office/drawing/2014/main" val="1825625169"/>
                  </a:ext>
                </a:extLst>
              </a:tr>
              <a:tr h="0">
                <a:tc>
                  <a:txBody>
                    <a:bodyPr/>
                    <a:lstStyle/>
                    <a:p>
                      <a:endParaRPr lang="en-GB" sz="1000">
                        <a:latin typeface="Arial" panose="020B0604020202020204" pitchFamily="34" charset="0"/>
                        <a:cs typeface="Arial" panose="020B0604020202020204" pitchFamily="34" charset="0"/>
                      </a:endParaRPr>
                    </a:p>
                  </a:txBody>
                  <a:tcPr marL="45720" marR="45720"/>
                </a:tc>
                <a:tc>
                  <a:txBody>
                    <a:bodyPr/>
                    <a:lstStyle/>
                    <a:p>
                      <a:endParaRPr lang="en-GB" sz="1000">
                        <a:latin typeface="Arial" panose="020B0604020202020204" pitchFamily="34" charset="0"/>
                        <a:cs typeface="Arial" panose="020B0604020202020204" pitchFamily="34" charset="0"/>
                      </a:endParaRPr>
                    </a:p>
                  </a:txBody>
                  <a:tcPr marL="45720" marR="45720"/>
                </a:tc>
                <a:extLst>
                  <a:ext uri="{0D108BD9-81ED-4DB2-BD59-A6C34878D82A}">
                    <a16:rowId xmlns:a16="http://schemas.microsoft.com/office/drawing/2014/main" val="2212688556"/>
                  </a:ext>
                </a:extLst>
              </a:tr>
              <a:tr h="0">
                <a:tc>
                  <a:txBody>
                    <a:bodyPr/>
                    <a:lstStyle/>
                    <a:p>
                      <a:endParaRPr lang="en-GB" sz="1000">
                        <a:latin typeface="Arial" panose="020B0604020202020204" pitchFamily="34" charset="0"/>
                        <a:cs typeface="Arial" panose="020B0604020202020204" pitchFamily="34" charset="0"/>
                      </a:endParaRPr>
                    </a:p>
                  </a:txBody>
                  <a:tcPr marL="45720" marR="45720"/>
                </a:tc>
                <a:tc>
                  <a:txBody>
                    <a:bodyPr/>
                    <a:lstStyle/>
                    <a:p>
                      <a:endParaRPr lang="en-GB" sz="1000">
                        <a:latin typeface="Arial" panose="020B0604020202020204" pitchFamily="34" charset="0"/>
                        <a:cs typeface="Arial" panose="020B0604020202020204" pitchFamily="34" charset="0"/>
                      </a:endParaRPr>
                    </a:p>
                  </a:txBody>
                  <a:tcPr marL="45720" marR="45720"/>
                </a:tc>
                <a:extLst>
                  <a:ext uri="{0D108BD9-81ED-4DB2-BD59-A6C34878D82A}">
                    <a16:rowId xmlns:a16="http://schemas.microsoft.com/office/drawing/2014/main" val="3278905457"/>
                  </a:ext>
                </a:extLst>
              </a:tr>
              <a:tr h="0">
                <a:tc>
                  <a:txBody>
                    <a:bodyPr/>
                    <a:lstStyle/>
                    <a:p>
                      <a:endParaRPr lang="en-GB" sz="1000">
                        <a:latin typeface="Arial" panose="020B0604020202020204" pitchFamily="34" charset="0"/>
                        <a:cs typeface="Arial" panose="020B0604020202020204" pitchFamily="34" charset="0"/>
                      </a:endParaRPr>
                    </a:p>
                  </a:txBody>
                  <a:tcPr marL="45720" marR="45720"/>
                </a:tc>
                <a:tc>
                  <a:txBody>
                    <a:bodyPr/>
                    <a:lstStyle/>
                    <a:p>
                      <a:endParaRPr lang="en-GB" sz="1000" dirty="0">
                        <a:latin typeface="Arial" panose="020B0604020202020204" pitchFamily="34" charset="0"/>
                        <a:cs typeface="Arial" panose="020B0604020202020204" pitchFamily="34" charset="0"/>
                      </a:endParaRPr>
                    </a:p>
                  </a:txBody>
                  <a:tcPr marL="45720" marR="45720"/>
                </a:tc>
                <a:extLst>
                  <a:ext uri="{0D108BD9-81ED-4DB2-BD59-A6C34878D82A}">
                    <a16:rowId xmlns:a16="http://schemas.microsoft.com/office/drawing/2014/main" val="2561565311"/>
                  </a:ext>
                </a:extLst>
              </a:tr>
            </a:tbl>
          </a:graphicData>
        </a:graphic>
      </p:graphicFrame>
      <p:sp>
        <p:nvSpPr>
          <p:cNvPr id="5" name="Footer Placeholder 4">
            <a:extLst>
              <a:ext uri="{FF2B5EF4-FFF2-40B4-BE49-F238E27FC236}">
                <a16:creationId xmlns:a16="http://schemas.microsoft.com/office/drawing/2014/main" id="{12C1E2C1-9F55-A752-1C97-37AB2479B824}"/>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082CA2C-6F6C-2092-B057-AEA41065269D}"/>
              </a:ext>
            </a:extLst>
          </p:cNvPr>
          <p:cNvSpPr>
            <a:spLocks noGrp="1"/>
          </p:cNvSpPr>
          <p:nvPr>
            <p:ph type="sldNum" sz="quarter" idx="12"/>
          </p:nvPr>
        </p:nvSpPr>
        <p:spPr/>
        <p:txBody>
          <a:bodyPr/>
          <a:lstStyle/>
          <a:p>
            <a:fld id="{72A7675B-5860-4B91-B017-4834F6F27D81}" type="slidenum">
              <a:rPr lang="en-GB" smtClean="0"/>
              <a:pPr/>
              <a:t>46</a:t>
            </a:fld>
            <a:endParaRPr lang="en-GB"/>
          </a:p>
        </p:txBody>
      </p:sp>
      <p:sp>
        <p:nvSpPr>
          <p:cNvPr id="7" name="Date Placeholder 6">
            <a:extLst>
              <a:ext uri="{FF2B5EF4-FFF2-40B4-BE49-F238E27FC236}">
                <a16:creationId xmlns:a16="http://schemas.microsoft.com/office/drawing/2014/main" id="{F2443F20-2676-9C4F-339B-4B1D188AE9ED}"/>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764843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8422-835B-0A1A-B814-0DF93E65E597}"/>
              </a:ext>
            </a:extLst>
          </p:cNvPr>
          <p:cNvSpPr>
            <a:spLocks noGrp="1"/>
          </p:cNvSpPr>
          <p:nvPr>
            <p:ph type="title"/>
          </p:nvPr>
        </p:nvSpPr>
        <p:spPr/>
        <p:txBody>
          <a:bodyPr/>
          <a:lstStyle/>
          <a:p>
            <a:r>
              <a:rPr lang="en-GB" dirty="0"/>
              <a:t>Introduction: Goals</a:t>
            </a:r>
          </a:p>
        </p:txBody>
      </p:sp>
      <p:sp>
        <p:nvSpPr>
          <p:cNvPr id="3" name="Content Placeholder 2">
            <a:extLst>
              <a:ext uri="{FF2B5EF4-FFF2-40B4-BE49-F238E27FC236}">
                <a16:creationId xmlns:a16="http://schemas.microsoft.com/office/drawing/2014/main" id="{71BF261A-9BAB-AD47-AD02-5CF1C36ADF55}"/>
              </a:ext>
            </a:extLst>
          </p:cNvPr>
          <p:cNvSpPr>
            <a:spLocks noGrp="1"/>
          </p:cNvSpPr>
          <p:nvPr>
            <p:ph idx="1"/>
          </p:nvPr>
        </p:nvSpPr>
        <p:spPr/>
        <p:txBody>
          <a:bodyPr/>
          <a:lstStyle/>
          <a:p>
            <a:r>
              <a:rPr lang="en-US" dirty="0"/>
              <a:t>2030 Agenda for Sustainable Development by the United Nations (UN) [3]</a:t>
            </a:r>
          </a:p>
        </p:txBody>
      </p:sp>
      <p:sp>
        <p:nvSpPr>
          <p:cNvPr id="4" name="Footer Placeholder 3">
            <a:extLst>
              <a:ext uri="{FF2B5EF4-FFF2-40B4-BE49-F238E27FC236}">
                <a16:creationId xmlns:a16="http://schemas.microsoft.com/office/drawing/2014/main" id="{BA07EA47-A93F-8DDD-623A-5D8D7DB538E9}"/>
              </a:ext>
            </a:extLst>
          </p:cNvPr>
          <p:cNvSpPr>
            <a:spLocks noGrp="1"/>
          </p:cNvSpPr>
          <p:nvPr>
            <p:ph type="ftr" sz="quarter" idx="11"/>
          </p:nvPr>
        </p:nvSpPr>
        <p:spPr/>
        <p:txBody>
          <a:bodyPr/>
          <a:lstStyle/>
          <a:p>
            <a:r>
              <a:rPr lang="en-US" dirty="0" err="1"/>
              <a:t>RicoSLAM</a:t>
            </a:r>
            <a:r>
              <a:rPr lang="en-GB" dirty="0"/>
              <a:t>: Long-Term Localization and Mapping in Dynamic Environments (TRP Presentation and Discussion)</a:t>
            </a:r>
          </a:p>
        </p:txBody>
      </p:sp>
      <p:grpSp>
        <p:nvGrpSpPr>
          <p:cNvPr id="9" name="Group 8">
            <a:extLst>
              <a:ext uri="{FF2B5EF4-FFF2-40B4-BE49-F238E27FC236}">
                <a16:creationId xmlns:a16="http://schemas.microsoft.com/office/drawing/2014/main" id="{F7D890BC-D851-FA8A-F410-572AC08B7636}"/>
              </a:ext>
            </a:extLst>
          </p:cNvPr>
          <p:cNvGrpSpPr/>
          <p:nvPr/>
        </p:nvGrpSpPr>
        <p:grpSpPr>
          <a:xfrm>
            <a:off x="3035523" y="2529000"/>
            <a:ext cx="7200953" cy="1800000"/>
            <a:chOff x="3035523" y="2529000"/>
            <a:chExt cx="7200953" cy="1800000"/>
          </a:xfrm>
        </p:grpSpPr>
        <p:pic>
          <p:nvPicPr>
            <p:cNvPr id="1028" name="Picture 4" descr="Goal 8 | Department of Economic and Social Affairs">
              <a:extLst>
                <a:ext uri="{FF2B5EF4-FFF2-40B4-BE49-F238E27FC236}">
                  <a16:creationId xmlns:a16="http://schemas.microsoft.com/office/drawing/2014/main" id="{AC034E42-FEFD-26E7-4160-B0BF9EAE5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5523" y="2529000"/>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ustainable Development Goal 9 - Wikipedia">
              <a:extLst>
                <a:ext uri="{FF2B5EF4-FFF2-40B4-BE49-F238E27FC236}">
                  <a16:creationId xmlns:a16="http://schemas.microsoft.com/office/drawing/2014/main" id="{AEB7C371-5769-6AF8-CBD4-12437B2352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5523" y="2529000"/>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2030 SDG | CESOP Local">
              <a:extLst>
                <a:ext uri="{FF2B5EF4-FFF2-40B4-BE49-F238E27FC236}">
                  <a16:creationId xmlns:a16="http://schemas.microsoft.com/office/drawing/2014/main" id="{7B6CA8E8-10D9-5567-9151-DE85DEE64E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36476" y="2529000"/>
              <a:ext cx="1800000" cy="1800000"/>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Date Placeholder 9">
            <a:extLst>
              <a:ext uri="{FF2B5EF4-FFF2-40B4-BE49-F238E27FC236}">
                <a16:creationId xmlns:a16="http://schemas.microsoft.com/office/drawing/2014/main" id="{A6304218-25AA-F8E7-3410-95B702A5F938}"/>
              </a:ext>
            </a:extLst>
          </p:cNvPr>
          <p:cNvSpPr>
            <a:spLocks noGrp="1"/>
          </p:cNvSpPr>
          <p:nvPr>
            <p:ph type="dt" sz="half" idx="10"/>
          </p:nvPr>
        </p:nvSpPr>
        <p:spPr/>
        <p:txBody>
          <a:bodyPr/>
          <a:lstStyle/>
          <a:p>
            <a:r>
              <a:rPr lang="en-GB"/>
              <a:t>12/01/2023</a:t>
            </a:r>
            <a:endParaRPr lang="en-GB" dirty="0"/>
          </a:p>
        </p:txBody>
      </p:sp>
      <p:sp>
        <p:nvSpPr>
          <p:cNvPr id="6" name="Slide Number Placeholder 5">
            <a:extLst>
              <a:ext uri="{FF2B5EF4-FFF2-40B4-BE49-F238E27FC236}">
                <a16:creationId xmlns:a16="http://schemas.microsoft.com/office/drawing/2014/main" id="{35380DC0-9E08-C9EC-2146-B330D6A84561}"/>
              </a:ext>
            </a:extLst>
          </p:cNvPr>
          <p:cNvSpPr>
            <a:spLocks noGrp="1"/>
          </p:cNvSpPr>
          <p:nvPr>
            <p:ph type="sldNum" sz="quarter" idx="12"/>
          </p:nvPr>
        </p:nvSpPr>
        <p:spPr>
          <a:xfrm>
            <a:off x="180000" y="6400375"/>
            <a:ext cx="720000" cy="365125"/>
          </a:xfrm>
        </p:spPr>
        <p:txBody>
          <a:bodyPr/>
          <a:lstStyle/>
          <a:p>
            <a:fld id="{72A7675B-5860-4B91-B017-4834F6F27D81}" type="slidenum">
              <a:rPr lang="en-GB" smtClean="0"/>
              <a:pPr/>
              <a:t>47</a:t>
            </a:fld>
            <a:endParaRPr lang="en-GB" dirty="0"/>
          </a:p>
        </p:txBody>
      </p:sp>
    </p:spTree>
    <p:extLst>
      <p:ext uri="{BB962C8B-B14F-4D97-AF65-F5344CB8AC3E}">
        <p14:creationId xmlns:p14="http://schemas.microsoft.com/office/powerpoint/2010/main" val="567623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A095-ED6A-CA1E-7314-0C356FE807F4}"/>
              </a:ext>
            </a:extLst>
          </p:cNvPr>
          <p:cNvSpPr>
            <a:spLocks noGrp="1"/>
          </p:cNvSpPr>
          <p:nvPr>
            <p:ph type="title"/>
          </p:nvPr>
        </p:nvSpPr>
        <p:spPr/>
        <p:txBody>
          <a:bodyPr/>
          <a:lstStyle/>
          <a:p>
            <a:r>
              <a:rPr lang="en-GB" dirty="0"/>
              <a:t>Introduction: Research Methodology</a:t>
            </a:r>
          </a:p>
        </p:txBody>
      </p:sp>
      <p:pic>
        <p:nvPicPr>
          <p:cNvPr id="10" name="Content Placeholder 9">
            <a:extLst>
              <a:ext uri="{FF2B5EF4-FFF2-40B4-BE49-F238E27FC236}">
                <a16:creationId xmlns:a16="http://schemas.microsoft.com/office/drawing/2014/main" id="{86512729-1F5E-1750-7E1E-692EBA5603C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87553" y="1350000"/>
            <a:ext cx="10696894" cy="4363131"/>
          </a:xfrm>
        </p:spPr>
      </p:pic>
      <p:sp>
        <p:nvSpPr>
          <p:cNvPr id="4" name="Date Placeholder 3">
            <a:extLst>
              <a:ext uri="{FF2B5EF4-FFF2-40B4-BE49-F238E27FC236}">
                <a16:creationId xmlns:a16="http://schemas.microsoft.com/office/drawing/2014/main" id="{91E3B2F3-19A8-27E7-F3A6-60BBA2BFAAB3}"/>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8754B8A4-577D-AC5F-DF37-0B3CA97C119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F640ED72-0041-0058-9BE4-01DB498E3283}"/>
              </a:ext>
            </a:extLst>
          </p:cNvPr>
          <p:cNvSpPr>
            <a:spLocks noGrp="1"/>
          </p:cNvSpPr>
          <p:nvPr>
            <p:ph type="sldNum" sz="quarter" idx="12"/>
          </p:nvPr>
        </p:nvSpPr>
        <p:spPr/>
        <p:txBody>
          <a:bodyPr/>
          <a:lstStyle/>
          <a:p>
            <a:fld id="{72A7675B-5860-4B91-B017-4834F6F27D81}" type="slidenum">
              <a:rPr lang="en-GB" smtClean="0"/>
              <a:pPr/>
              <a:t>48</a:t>
            </a:fld>
            <a:endParaRPr lang="en-GB"/>
          </a:p>
        </p:txBody>
      </p:sp>
      <p:sp>
        <p:nvSpPr>
          <p:cNvPr id="8" name="Text Placeholder 7">
            <a:extLst>
              <a:ext uri="{FF2B5EF4-FFF2-40B4-BE49-F238E27FC236}">
                <a16:creationId xmlns:a16="http://schemas.microsoft.com/office/drawing/2014/main" id="{5E6160FF-1774-0C23-CA3F-FC07F7B7CD66}"/>
              </a:ext>
            </a:extLst>
          </p:cNvPr>
          <p:cNvSpPr>
            <a:spLocks noGrp="1"/>
          </p:cNvSpPr>
          <p:nvPr>
            <p:ph type="body" sz="half" idx="2"/>
          </p:nvPr>
        </p:nvSpPr>
        <p:spPr/>
        <p:txBody>
          <a:bodyPr/>
          <a:lstStyle/>
          <a:p>
            <a:r>
              <a:rPr lang="en-GB" dirty="0"/>
              <a:t>Fig.: Process model of the Design Science Research Methodology (DSRM) [5]</a:t>
            </a:r>
          </a:p>
        </p:txBody>
      </p:sp>
    </p:spTree>
    <p:extLst>
      <p:ext uri="{BB962C8B-B14F-4D97-AF65-F5344CB8AC3E}">
        <p14:creationId xmlns:p14="http://schemas.microsoft.com/office/powerpoint/2010/main" val="3632450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C449-CB95-8593-57A6-F773FA8D5C40}"/>
              </a:ext>
            </a:extLst>
          </p:cNvPr>
          <p:cNvSpPr>
            <a:spLocks noGrp="1"/>
          </p:cNvSpPr>
          <p:nvPr>
            <p:ph type="title"/>
          </p:nvPr>
        </p:nvSpPr>
        <p:spPr/>
        <p:txBody>
          <a:bodyPr/>
          <a:lstStyle/>
          <a:p>
            <a:r>
              <a:rPr lang="en-US" dirty="0"/>
              <a:t>Outline (main topics)</a:t>
            </a:r>
            <a:endParaRPr lang="en-GB" dirty="0"/>
          </a:p>
        </p:txBody>
      </p:sp>
      <p:sp>
        <p:nvSpPr>
          <p:cNvPr id="3" name="Content Placeholder 2">
            <a:extLst>
              <a:ext uri="{FF2B5EF4-FFF2-40B4-BE49-F238E27FC236}">
                <a16:creationId xmlns:a16="http://schemas.microsoft.com/office/drawing/2014/main" id="{DFFF3D84-0242-13F9-CF9C-0FBEC2AE4179}"/>
              </a:ext>
            </a:extLst>
          </p:cNvPr>
          <p:cNvSpPr>
            <a:spLocks noGrp="1"/>
          </p:cNvSpPr>
          <p:nvPr>
            <p:ph idx="1"/>
          </p:nvPr>
        </p:nvSpPr>
        <p:spPr/>
        <p:txBody>
          <a:bodyPr/>
          <a:lstStyle/>
          <a:p>
            <a:r>
              <a:rPr lang="en-US" dirty="0">
                <a:solidFill>
                  <a:schemeClr val="bg1">
                    <a:lumMod val="50000"/>
                  </a:schemeClr>
                </a:solidFill>
              </a:rPr>
              <a:t>Introduction</a:t>
            </a:r>
          </a:p>
          <a:p>
            <a:r>
              <a:rPr lang="en-US" dirty="0">
                <a:solidFill>
                  <a:schemeClr val="bg1">
                    <a:lumMod val="50000"/>
                  </a:schemeClr>
                </a:solidFill>
              </a:rPr>
              <a:t>Literature Review</a:t>
            </a:r>
          </a:p>
          <a:p>
            <a:r>
              <a:rPr lang="en-US" dirty="0">
                <a:solidFill>
                  <a:schemeClr val="bg1">
                    <a:lumMod val="50000"/>
                  </a:schemeClr>
                </a:solidFill>
              </a:rPr>
              <a:t>Thesis Statement</a:t>
            </a:r>
          </a:p>
          <a:p>
            <a:r>
              <a:rPr lang="en-US" dirty="0">
                <a:solidFill>
                  <a:schemeClr val="bg1">
                    <a:lumMod val="50000"/>
                  </a:schemeClr>
                </a:solidFill>
              </a:rPr>
              <a:t>Preliminary Developments</a:t>
            </a:r>
          </a:p>
          <a:p>
            <a:r>
              <a:rPr lang="en-US" dirty="0">
                <a:solidFill>
                  <a:schemeClr val="bg1">
                    <a:lumMod val="50000"/>
                  </a:schemeClr>
                </a:solidFill>
              </a:rPr>
              <a:t>Research Plan</a:t>
            </a:r>
          </a:p>
        </p:txBody>
      </p:sp>
      <p:sp>
        <p:nvSpPr>
          <p:cNvPr id="4" name="Date Placeholder 3">
            <a:extLst>
              <a:ext uri="{FF2B5EF4-FFF2-40B4-BE49-F238E27FC236}">
                <a16:creationId xmlns:a16="http://schemas.microsoft.com/office/drawing/2014/main" id="{96A04479-9568-894D-B288-8D6ECD96AFA7}"/>
              </a:ext>
            </a:extLst>
          </p:cNvPr>
          <p:cNvSpPr>
            <a:spLocks noGrp="1"/>
          </p:cNvSpPr>
          <p:nvPr>
            <p:ph type="dt" sz="half" idx="10"/>
          </p:nvPr>
        </p:nvSpPr>
        <p:spPr/>
        <p:txBody>
          <a:bodyPr/>
          <a:lstStyle/>
          <a:p>
            <a:r>
              <a:rPr lang="en-GB"/>
              <a:t>12/01/2023</a:t>
            </a:r>
            <a:endParaRPr lang="en-GB" dirty="0"/>
          </a:p>
        </p:txBody>
      </p:sp>
      <p:sp>
        <p:nvSpPr>
          <p:cNvPr id="5" name="Footer Placeholder 4">
            <a:extLst>
              <a:ext uri="{FF2B5EF4-FFF2-40B4-BE49-F238E27FC236}">
                <a16:creationId xmlns:a16="http://schemas.microsoft.com/office/drawing/2014/main" id="{9F3DEF40-019F-1683-BDB7-8428A3D7C75C}"/>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6" name="Slide Number Placeholder 5">
            <a:extLst>
              <a:ext uri="{FF2B5EF4-FFF2-40B4-BE49-F238E27FC236}">
                <a16:creationId xmlns:a16="http://schemas.microsoft.com/office/drawing/2014/main" id="{B108D4B9-6BB0-D2C0-D920-E1FF16775EE4}"/>
              </a:ext>
            </a:extLst>
          </p:cNvPr>
          <p:cNvSpPr>
            <a:spLocks noGrp="1"/>
          </p:cNvSpPr>
          <p:nvPr>
            <p:ph type="sldNum" sz="quarter" idx="12"/>
          </p:nvPr>
        </p:nvSpPr>
        <p:spPr/>
        <p:txBody>
          <a:bodyPr/>
          <a:lstStyle/>
          <a:p>
            <a:fld id="{72A7675B-5860-4B91-B017-4834F6F27D81}" type="slidenum">
              <a:rPr lang="en-GB" smtClean="0"/>
              <a:pPr/>
              <a:t>49</a:t>
            </a:fld>
            <a:endParaRPr lang="en-GB" dirty="0"/>
          </a:p>
        </p:txBody>
      </p:sp>
    </p:spTree>
    <p:extLst>
      <p:ext uri="{BB962C8B-B14F-4D97-AF65-F5344CB8AC3E}">
        <p14:creationId xmlns:p14="http://schemas.microsoft.com/office/powerpoint/2010/main" val="3728313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CE826-8EB3-F6BC-4002-9462AE9061E6}"/>
              </a:ext>
            </a:extLst>
          </p:cNvPr>
          <p:cNvSpPr>
            <a:spLocks noGrp="1"/>
          </p:cNvSpPr>
          <p:nvPr>
            <p:ph type="title"/>
          </p:nvPr>
        </p:nvSpPr>
        <p:spPr/>
        <p:txBody>
          <a:bodyPr/>
          <a:lstStyle/>
          <a:p>
            <a:r>
              <a:rPr lang="en-GB" dirty="0"/>
              <a:t>Outline (estimated times per topic)</a:t>
            </a:r>
          </a:p>
        </p:txBody>
      </p:sp>
      <p:sp>
        <p:nvSpPr>
          <p:cNvPr id="3" name="Content Placeholder 2">
            <a:extLst>
              <a:ext uri="{FF2B5EF4-FFF2-40B4-BE49-F238E27FC236}">
                <a16:creationId xmlns:a16="http://schemas.microsoft.com/office/drawing/2014/main" id="{9D6CD88C-77E6-0A40-9AB1-B2E9778EC2FD}"/>
              </a:ext>
            </a:extLst>
          </p:cNvPr>
          <p:cNvSpPr>
            <a:spLocks noGrp="1"/>
          </p:cNvSpPr>
          <p:nvPr>
            <p:ph idx="1"/>
          </p:nvPr>
        </p:nvSpPr>
        <p:spPr/>
        <p:txBody>
          <a:bodyPr/>
          <a:lstStyle/>
          <a:p>
            <a:r>
              <a:rPr lang="en-GB" dirty="0"/>
              <a:t>Introduction (~3min)</a:t>
            </a:r>
          </a:p>
          <a:p>
            <a:pPr lvl="1"/>
            <a:r>
              <a:rPr lang="en-GB" dirty="0"/>
              <a:t>Context (1.5min)</a:t>
            </a:r>
          </a:p>
          <a:p>
            <a:pPr lvl="1"/>
            <a:r>
              <a:rPr lang="en-GB" dirty="0"/>
              <a:t>Motivation (1min)</a:t>
            </a:r>
          </a:p>
          <a:p>
            <a:pPr lvl="1"/>
            <a:r>
              <a:rPr lang="en-GB" dirty="0"/>
              <a:t>Goals (0.5min)</a:t>
            </a:r>
          </a:p>
          <a:p>
            <a:r>
              <a:rPr lang="en-GB" dirty="0"/>
              <a:t>Literature Review (~6min)</a:t>
            </a:r>
          </a:p>
          <a:p>
            <a:pPr lvl="1"/>
            <a:r>
              <a:rPr lang="en-GB" dirty="0"/>
              <a:t>Methodology (1.5min)</a:t>
            </a:r>
          </a:p>
          <a:p>
            <a:pPr lvl="1"/>
            <a:r>
              <a:rPr lang="en-GB" dirty="0"/>
              <a:t>SLAM (1min)</a:t>
            </a:r>
          </a:p>
          <a:p>
            <a:pPr lvl="1"/>
            <a:r>
              <a:rPr lang="en-GB" dirty="0"/>
              <a:t>Long-term SLAM in Dynamic Environments (3.5min)</a:t>
            </a:r>
          </a:p>
          <a:p>
            <a:r>
              <a:rPr lang="en-GB" dirty="0"/>
              <a:t>Thesis Statement (~3min)</a:t>
            </a:r>
          </a:p>
          <a:p>
            <a:pPr lvl="1"/>
            <a:r>
              <a:rPr lang="en-GB" dirty="0"/>
              <a:t>Statement (1min)</a:t>
            </a:r>
          </a:p>
          <a:p>
            <a:pPr lvl="1"/>
            <a:r>
              <a:rPr lang="en-GB" dirty="0"/>
              <a:t>Q+H (2min)</a:t>
            </a:r>
          </a:p>
        </p:txBody>
      </p:sp>
      <p:sp>
        <p:nvSpPr>
          <p:cNvPr id="4" name="Footer Placeholder 3">
            <a:extLst>
              <a:ext uri="{FF2B5EF4-FFF2-40B4-BE49-F238E27FC236}">
                <a16:creationId xmlns:a16="http://schemas.microsoft.com/office/drawing/2014/main" id="{FECA910B-544E-4AD6-337F-64CF7B1AD0BD}"/>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94386287-5D11-FD2B-BF6D-61480066AD37}"/>
              </a:ext>
            </a:extLst>
          </p:cNvPr>
          <p:cNvSpPr>
            <a:spLocks noGrp="1"/>
          </p:cNvSpPr>
          <p:nvPr>
            <p:ph type="sldNum" sz="quarter" idx="12"/>
          </p:nvPr>
        </p:nvSpPr>
        <p:spPr/>
        <p:txBody>
          <a:bodyPr/>
          <a:lstStyle/>
          <a:p>
            <a:fld id="{72A7675B-5860-4B91-B017-4834F6F27D81}" type="slidenum">
              <a:rPr lang="en-GB" smtClean="0"/>
              <a:pPr/>
              <a:t>50</a:t>
            </a:fld>
            <a:endParaRPr lang="en-GB"/>
          </a:p>
        </p:txBody>
      </p:sp>
      <p:sp>
        <p:nvSpPr>
          <p:cNvPr id="6" name="Date Placeholder 5">
            <a:extLst>
              <a:ext uri="{FF2B5EF4-FFF2-40B4-BE49-F238E27FC236}">
                <a16:creationId xmlns:a16="http://schemas.microsoft.com/office/drawing/2014/main" id="{B062BF99-A88F-4432-7167-92416CAD5CC6}"/>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439659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1B88C-5C0F-3EC8-0694-DDE6967C46DA}"/>
              </a:ext>
            </a:extLst>
          </p:cNvPr>
          <p:cNvSpPr>
            <a:spLocks noGrp="1"/>
          </p:cNvSpPr>
          <p:nvPr>
            <p:ph type="title"/>
          </p:nvPr>
        </p:nvSpPr>
        <p:spPr/>
        <p:txBody>
          <a:bodyPr/>
          <a:lstStyle/>
          <a:p>
            <a:r>
              <a:rPr lang="en-GB" dirty="0"/>
              <a:t>Outline (estimated times per topic)</a:t>
            </a:r>
          </a:p>
        </p:txBody>
      </p:sp>
      <p:sp>
        <p:nvSpPr>
          <p:cNvPr id="3" name="Content Placeholder 2">
            <a:extLst>
              <a:ext uri="{FF2B5EF4-FFF2-40B4-BE49-F238E27FC236}">
                <a16:creationId xmlns:a16="http://schemas.microsoft.com/office/drawing/2014/main" id="{1A79EBBC-9B90-C5C5-972D-0F63045241F5}"/>
              </a:ext>
            </a:extLst>
          </p:cNvPr>
          <p:cNvSpPr>
            <a:spLocks noGrp="1"/>
          </p:cNvSpPr>
          <p:nvPr>
            <p:ph idx="1"/>
          </p:nvPr>
        </p:nvSpPr>
        <p:spPr/>
        <p:txBody>
          <a:bodyPr/>
          <a:lstStyle/>
          <a:p>
            <a:r>
              <a:rPr lang="en-GB" dirty="0"/>
              <a:t>Preliminary Developments (~1min)</a:t>
            </a:r>
          </a:p>
          <a:p>
            <a:r>
              <a:rPr lang="en-GB" dirty="0"/>
              <a:t>Research Plan (~2min)</a:t>
            </a:r>
          </a:p>
          <a:p>
            <a:pPr lvl="1"/>
            <a:r>
              <a:rPr lang="en-GB" dirty="0"/>
              <a:t>Tasks</a:t>
            </a:r>
          </a:p>
          <a:p>
            <a:pPr lvl="1"/>
            <a:r>
              <a:rPr lang="en-GB" dirty="0"/>
              <a:t>Milestones</a:t>
            </a:r>
          </a:p>
          <a:p>
            <a:pPr lvl="1"/>
            <a:r>
              <a:rPr lang="en-GB" dirty="0"/>
              <a:t>Publications</a:t>
            </a:r>
          </a:p>
        </p:txBody>
      </p:sp>
      <p:sp>
        <p:nvSpPr>
          <p:cNvPr id="4" name="Footer Placeholder 3">
            <a:extLst>
              <a:ext uri="{FF2B5EF4-FFF2-40B4-BE49-F238E27FC236}">
                <a16:creationId xmlns:a16="http://schemas.microsoft.com/office/drawing/2014/main" id="{62D99B27-49E1-659C-B58D-CE9C3375C6A8}"/>
              </a:ext>
            </a:extLst>
          </p:cNvPr>
          <p:cNvSpPr>
            <a:spLocks noGrp="1"/>
          </p:cNvSpPr>
          <p:nvPr>
            <p:ph type="ftr" sz="quarter" idx="11"/>
          </p:nvPr>
        </p:nvSpPr>
        <p:spPr/>
        <p:txBody>
          <a:bodyPr/>
          <a:lstStyle/>
          <a:p>
            <a:r>
              <a:rPr lang="en-GB"/>
              <a:t>RicoSLAM: Long-Term Localization and Mapping in Dynamic Environments (TRP Presentation and Discussion)</a:t>
            </a:r>
          </a:p>
        </p:txBody>
      </p:sp>
      <p:sp>
        <p:nvSpPr>
          <p:cNvPr id="5" name="Slide Number Placeholder 4">
            <a:extLst>
              <a:ext uri="{FF2B5EF4-FFF2-40B4-BE49-F238E27FC236}">
                <a16:creationId xmlns:a16="http://schemas.microsoft.com/office/drawing/2014/main" id="{DA07D18E-97F6-5A52-9F91-366C8E93A0D5}"/>
              </a:ext>
            </a:extLst>
          </p:cNvPr>
          <p:cNvSpPr>
            <a:spLocks noGrp="1"/>
          </p:cNvSpPr>
          <p:nvPr>
            <p:ph type="sldNum" sz="quarter" idx="12"/>
          </p:nvPr>
        </p:nvSpPr>
        <p:spPr/>
        <p:txBody>
          <a:bodyPr/>
          <a:lstStyle/>
          <a:p>
            <a:fld id="{72A7675B-5860-4B91-B017-4834F6F27D81}" type="slidenum">
              <a:rPr lang="en-GB" smtClean="0"/>
              <a:pPr/>
              <a:t>51</a:t>
            </a:fld>
            <a:endParaRPr lang="en-GB"/>
          </a:p>
        </p:txBody>
      </p:sp>
      <p:sp>
        <p:nvSpPr>
          <p:cNvPr id="6" name="Date Placeholder 5">
            <a:extLst>
              <a:ext uri="{FF2B5EF4-FFF2-40B4-BE49-F238E27FC236}">
                <a16:creationId xmlns:a16="http://schemas.microsoft.com/office/drawing/2014/main" id="{7583E74D-39DF-EC6A-2CD1-A4E16603DA3C}"/>
              </a:ext>
            </a:extLst>
          </p:cNvPr>
          <p:cNvSpPr>
            <a:spLocks noGrp="1"/>
          </p:cNvSpPr>
          <p:nvPr>
            <p:ph type="dt" sz="half" idx="10"/>
          </p:nvPr>
        </p:nvSpPr>
        <p:spPr/>
        <p:txBody>
          <a:bodyPr/>
          <a:lstStyle/>
          <a:p>
            <a:r>
              <a:rPr lang="en-GB"/>
              <a:t>12/01/2023</a:t>
            </a:r>
            <a:endParaRPr lang="en-GB" dirty="0"/>
          </a:p>
        </p:txBody>
      </p:sp>
    </p:spTree>
    <p:extLst>
      <p:ext uri="{BB962C8B-B14F-4D97-AF65-F5344CB8AC3E}">
        <p14:creationId xmlns:p14="http://schemas.microsoft.com/office/powerpoint/2010/main" val="1933212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potx" id="{1CC0BC0F-9E2E-4154-9D15-284CCA39421E}" vid="{966FD90C-428A-41CD-A0CE-1328B98426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363</TotalTime>
  <Words>4698</Words>
  <Application>Microsoft Office PowerPoint</Application>
  <PresentationFormat>Widescreen</PresentationFormat>
  <Paragraphs>605</Paragraphs>
  <Slides>51</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Cambria Math</vt:lpstr>
      <vt:lpstr>Consolas</vt:lpstr>
      <vt:lpstr>Office Theme</vt:lpstr>
      <vt:lpstr>RicoSLAM: Long-Term Localization and Mapping in Dynamic Environments</vt:lpstr>
      <vt:lpstr>Outline</vt:lpstr>
      <vt:lpstr>Outline</vt:lpstr>
      <vt:lpstr>Introduction: Context</vt:lpstr>
      <vt:lpstr>Context</vt:lpstr>
      <vt:lpstr>Context</vt:lpstr>
      <vt:lpstr>Context</vt:lpstr>
      <vt:lpstr>Motivation</vt:lpstr>
      <vt:lpstr>Motivation</vt:lpstr>
      <vt:lpstr>Motivation</vt:lpstr>
      <vt:lpstr>Goals</vt:lpstr>
      <vt:lpstr>Outline</vt:lpstr>
      <vt:lpstr>Literature Review: Methodology</vt:lpstr>
      <vt:lpstr>Literature Review: Methodology</vt:lpstr>
      <vt:lpstr>SLAM</vt:lpstr>
      <vt:lpstr>SLAM</vt:lpstr>
      <vt:lpstr>SLAM</vt:lpstr>
      <vt:lpstr>Long-term SLAM in Dynamic Environments</vt:lpstr>
      <vt:lpstr>Long-term SLAM in Dynamic Environments</vt:lpstr>
      <vt:lpstr>Long-term SLAM in Dynamic Environments</vt:lpstr>
      <vt:lpstr>Long-term SLAM in Dynamic Environments</vt:lpstr>
      <vt:lpstr>Long-term SLAM in Dynamic Environments</vt:lpstr>
      <vt:lpstr>Long-term SLAM in Dynamic Environments</vt:lpstr>
      <vt:lpstr>Long-term SLAM in Dynamic Environments</vt:lpstr>
      <vt:lpstr>Open Challenges</vt:lpstr>
      <vt:lpstr>Outline</vt:lpstr>
      <vt:lpstr>Thesis Statement: Problem Statement</vt:lpstr>
      <vt:lpstr>Thesis Statement: Problem Statement</vt:lpstr>
      <vt:lpstr>Research Questions (RQ) and Hypotheses (H)</vt:lpstr>
      <vt:lpstr>Research Questions (RQ) and Hypotheses (H)</vt:lpstr>
      <vt:lpstr>Research Questions (RQ) and Hypotheses (H)</vt:lpstr>
      <vt:lpstr>Outline</vt:lpstr>
      <vt:lpstr>Preliminary Developments</vt:lpstr>
      <vt:lpstr>Outline</vt:lpstr>
      <vt:lpstr>Research Plan</vt:lpstr>
      <vt:lpstr>Research Plan</vt:lpstr>
      <vt:lpstr>Research Plan</vt:lpstr>
      <vt:lpstr>Research Plan</vt:lpstr>
      <vt:lpstr>Research Plan</vt:lpstr>
      <vt:lpstr>Research Plan</vt:lpstr>
      <vt:lpstr>Research Plan</vt:lpstr>
      <vt:lpstr>Research Plan</vt:lpstr>
      <vt:lpstr>Research Plan</vt:lpstr>
      <vt:lpstr>Any questions?</vt:lpstr>
      <vt:lpstr>RicoSLAM: Long-Term Localization and Mapping in Dynamic Environments</vt:lpstr>
      <vt:lpstr>References</vt:lpstr>
      <vt:lpstr>Introduction: Goals</vt:lpstr>
      <vt:lpstr>Introduction: Research Methodology</vt:lpstr>
      <vt:lpstr>Outline (main topics)</vt:lpstr>
      <vt:lpstr>Outline (estimated times per topic)</vt:lpstr>
      <vt:lpstr>Outline (estimated times per topic)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RicoSLAM: Long-Term Localization and Mapping in Dynamic Environments</dc:title>
  <dc:creator>Ricardo Barbosa Sousa</dc:creator>
  <cp:lastModifiedBy>Ricardo Barbosa Sousa</cp:lastModifiedBy>
  <cp:revision>233</cp:revision>
  <dcterms:created xsi:type="dcterms:W3CDTF">2023-01-06T20:14:33Z</dcterms:created>
  <dcterms:modified xsi:type="dcterms:W3CDTF">2023-01-11T19:25:34Z</dcterms:modified>
</cp:coreProperties>
</file>